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
  </p:notesMasterIdLst>
  <p:sldIdLst>
    <p:sldId id="272" r:id="rId2"/>
    <p:sldId id="273" r:id="rId3"/>
    <p:sldId id="257" r:id="rId4"/>
    <p:sldId id="261" r:id="rId5"/>
    <p:sldId id="274" r:id="rId6"/>
    <p:sldId id="276" r:id="rId7"/>
    <p:sldId id="258" r:id="rId8"/>
    <p:sldId id="277" r:id="rId9"/>
    <p:sldId id="275" r:id="rId10"/>
    <p:sldId id="278" r:id="rId11"/>
    <p:sldId id="279" r:id="rId12"/>
    <p:sldId id="264" r:id="rId13"/>
    <p:sldId id="269" r:id="rId14"/>
    <p:sldId id="280" r:id="rId15"/>
    <p:sldId id="270" r:id="rId16"/>
  </p:sldIdLst>
  <p:sldSz cx="18288000" cy="10287000"/>
  <p:notesSz cx="6858000" cy="9144000"/>
  <p:embeddedFontLst>
    <p:embeddedFont>
      <p:font typeface="Anton" pitchFamily="2" charset="0"/>
      <p:regular r:id="rId18"/>
    </p:embeddedFont>
    <p:embeddedFont>
      <p:font typeface="Archivo Black" panose="020B0604020202020204" charset="0"/>
      <p:regular r:id="rId19"/>
    </p:embeddedFont>
    <p:embeddedFont>
      <p:font typeface="HK Grotesk" panose="020B0604020202020204" charset="0"/>
      <p:regular r:id="rId20"/>
    </p:embeddedFont>
    <p:embeddedFont>
      <p:font typeface="Poppins" panose="00000500000000000000" pitchFamily="2" charset="0"/>
      <p:regular r:id="rId21"/>
      <p:bold r:id="rId22"/>
      <p:italic r:id="rId23"/>
      <p:boldItalic r:id="rId24"/>
    </p:embeddedFont>
    <p:embeddedFont>
      <p:font typeface="Poppins Bold" panose="00000800000000000000" charset="0"/>
      <p:bold r:id="rId25"/>
    </p:embeddedFont>
    <p:embeddedFont>
      <p:font typeface="Raleway" pitchFamily="2" charset="0"/>
      <p:regular r:id="rId26"/>
      <p:bold r:id="rId27"/>
      <p:italic r:id="rId28"/>
      <p:boldItalic r:id="rId29"/>
    </p:embeddedFont>
    <p:embeddedFont>
      <p:font typeface="Raleway Bold" charset="0"/>
      <p:regular r:id="rId30"/>
    </p:embeddedFont>
    <p:embeddedFont>
      <p:font typeface="Raleway Heavy" panose="020B0604020202020204" charset="0"/>
      <p:regular r:id="rId31"/>
    </p:embeddedFont>
    <p:embeddedFont>
      <p:font typeface="Red Hat Display" panose="020B0604020202020204" charset="0"/>
      <p:regular r:id="rId32"/>
    </p:embeddedFont>
    <p:embeddedFont>
      <p:font typeface="Red Hat Display Bold" panose="020B0604020202020204" charset="0"/>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0221"/>
    <a:srgbClr val="4A1850"/>
    <a:srgbClr val="050004"/>
    <a:srgbClr val="140113"/>
    <a:srgbClr val="BB3DAE"/>
    <a:srgbClr val="660066"/>
    <a:srgbClr val="1B0C2B"/>
    <a:srgbClr val="2D91EC"/>
    <a:srgbClr val="180321"/>
    <a:srgbClr val="B4219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5" d="100"/>
          <a:sy n="55" d="100"/>
        </p:scale>
        <p:origin x="658" y="3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21" Type="http://schemas.openxmlformats.org/officeDocument/2006/relationships/font" Target="fonts/font4.fntdata"/><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font" Target="fonts/font16.fntdata"/><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font" Target="fonts/font15.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liet Fafali Kukuia" userId="c86976d2-dea7-45af-ac9c-39e1532e2643" providerId="ADAL" clId="{BCB24629-A22B-458B-92DA-164FE5C06895}"/>
    <pc:docChg chg="modSld">
      <pc:chgData name="Juliet Fafali Kukuia" userId="c86976d2-dea7-45af-ac9c-39e1532e2643" providerId="ADAL" clId="{BCB24629-A22B-458B-92DA-164FE5C06895}" dt="2025-08-25T10:07:20.833" v="0" actId="207"/>
      <pc:docMkLst>
        <pc:docMk/>
      </pc:docMkLst>
      <pc:sldChg chg="modSp">
        <pc:chgData name="Juliet Fafali Kukuia" userId="c86976d2-dea7-45af-ac9c-39e1532e2643" providerId="ADAL" clId="{BCB24629-A22B-458B-92DA-164FE5C06895}" dt="2025-08-25T10:07:20.833" v="0" actId="207"/>
        <pc:sldMkLst>
          <pc:docMk/>
          <pc:sldMk cId="4072878019" sldId="277"/>
        </pc:sldMkLst>
        <pc:graphicFrameChg chg="mod">
          <ac:chgData name="Juliet Fafali Kukuia" userId="c86976d2-dea7-45af-ac9c-39e1532e2643" providerId="ADAL" clId="{BCB24629-A22B-458B-92DA-164FE5C06895}" dt="2025-08-25T10:07:20.833" v="0" actId="207"/>
          <ac:graphicFrameMkLst>
            <pc:docMk/>
            <pc:sldMk cId="4072878019" sldId="277"/>
            <ac:graphicFrameMk id="28" creationId="{B144A102-1486-4AFF-DEDE-D6B99DFF43E5}"/>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autoTitleDeleted val="1"/>
    <c:plotArea>
      <c:layout/>
      <c:barChart>
        <c:barDir val="col"/>
        <c:grouping val="clustered"/>
        <c:varyColors val="0"/>
        <c:ser>
          <c:idx val="0"/>
          <c:order val="0"/>
          <c:tx>
            <c:strRef>
              <c:f>Sheet1!$B$1</c:f>
              <c:strCache>
                <c:ptCount val="1"/>
                <c:pt idx="0">
                  <c:v>Series 1</c:v>
                </c:pt>
              </c:strCache>
            </c:strRef>
          </c:tx>
          <c:spPr>
            <a:gradFill rotWithShape="1">
              <a:gsLst>
                <a:gs pos="0">
                  <a:srgbClr val="000000">
                    <a:alpha val="100000"/>
                  </a:srgbClr>
                </a:gs>
                <a:gs pos="0">
                  <a:srgbClr val="32032F">
                    <a:alpha val="100000"/>
                  </a:srgbClr>
                </a:gs>
                <a:gs pos="100000">
                  <a:srgbClr val="002060"/>
                </a:gs>
              </a:gsLst>
              <a:lin ang="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invertIfNegative val="0"/>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Sheet1!$A$2:$A$6</c:f>
              <c:strCache>
                <c:ptCount val="5"/>
                <c:pt idx="0">
                  <c:v>May</c:v>
                </c:pt>
                <c:pt idx="1">
                  <c:v>June</c:v>
                </c:pt>
                <c:pt idx="2">
                  <c:v>July</c:v>
                </c:pt>
                <c:pt idx="3">
                  <c:v>August</c:v>
                </c:pt>
                <c:pt idx="4">
                  <c:v>September</c:v>
                </c:pt>
              </c:strCache>
            </c:strRef>
          </c:cat>
          <c:val>
            <c:numRef>
              <c:f>Sheet1!$B$2:$B$6</c:f>
              <c:numCache>
                <c:formatCode>#,##0</c:formatCode>
                <c:ptCount val="5"/>
                <c:pt idx="0">
                  <c:v>300841</c:v>
                </c:pt>
                <c:pt idx="1">
                  <c:v>306301</c:v>
                </c:pt>
                <c:pt idx="2">
                  <c:v>368540</c:v>
                </c:pt>
                <c:pt idx="3">
                  <c:v>303942</c:v>
                </c:pt>
                <c:pt idx="4">
                  <c:v>170354</c:v>
                </c:pt>
              </c:numCache>
            </c:numRef>
          </c:val>
          <c:extLst>
            <c:ext xmlns:c16="http://schemas.microsoft.com/office/drawing/2014/chart" uri="{C3380CC4-5D6E-409C-BE32-E72D297353CC}">
              <c16:uniqueId val="{00000000-03C4-4236-A682-64F2458E8BAB}"/>
            </c:ext>
          </c:extLst>
        </c:ser>
        <c:dLbls>
          <c:showLegendKey val="0"/>
          <c:showVal val="1"/>
          <c:showCatName val="0"/>
          <c:showSerName val="0"/>
          <c:showPercent val="0"/>
          <c:showBubbleSize val="0"/>
        </c:dLbls>
        <c:gapWidth val="100"/>
        <c:overlap val="-24"/>
        <c:axId val="1148082559"/>
        <c:axId val="1148083519"/>
        <c:extLst>
          <c:ext xmlns:c15="http://schemas.microsoft.com/office/drawing/2012/chart" uri="{02D57815-91ED-43cb-92C2-25804820EDAC}">
            <c15:filteredBarSeries>
              <c15:ser>
                <c:idx val="1"/>
                <c:order val="1"/>
                <c:tx>
                  <c:strRef>
                    <c:extLst>
                      <c:ext uri="{02D57815-91ED-43cb-92C2-25804820EDAC}">
                        <c15:formulaRef>
                          <c15:sqref>Sheet1!$C$1</c15:sqref>
                        </c15:formulaRef>
                      </c:ext>
                    </c:extLst>
                    <c:strCache>
                      <c:ptCount val="1"/>
                      <c:pt idx="0">
                        <c:v>Column2</c:v>
                      </c:pt>
                    </c:strCache>
                  </c:strRef>
                </c:tx>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uri="{CE6537A1-D6FC-4f65-9D91-7224C49458BB}">
                      <c15:showLeaderLines val="1"/>
                      <c15:leaderLines>
                        <c:spPr>
                          <a:ln w="9525">
                            <a:solidFill>
                              <a:schemeClr val="lt1">
                                <a:lumMod val="95000"/>
                                <a:alpha val="54000"/>
                              </a:schemeClr>
                            </a:solidFill>
                          </a:ln>
                          <a:effectLst/>
                        </c:spPr>
                      </c15:leaderLines>
                    </c:ext>
                  </c:extLst>
                </c:dLbls>
                <c:cat>
                  <c:strRef>
                    <c:extLst>
                      <c:ext uri="{02D57815-91ED-43cb-92C2-25804820EDAC}">
                        <c15:formulaRef>
                          <c15:sqref>Sheet1!$A$2:$A$6</c15:sqref>
                        </c15:formulaRef>
                      </c:ext>
                    </c:extLst>
                    <c:strCache>
                      <c:ptCount val="5"/>
                      <c:pt idx="0">
                        <c:v>May</c:v>
                      </c:pt>
                      <c:pt idx="1">
                        <c:v>June</c:v>
                      </c:pt>
                      <c:pt idx="2">
                        <c:v>July</c:v>
                      </c:pt>
                      <c:pt idx="3">
                        <c:v>August</c:v>
                      </c:pt>
                      <c:pt idx="4">
                        <c:v>September</c:v>
                      </c:pt>
                    </c:strCache>
                  </c:strRef>
                </c:cat>
                <c:val>
                  <c:numRef>
                    <c:extLst>
                      <c:ext uri="{02D57815-91ED-43cb-92C2-25804820EDAC}">
                        <c15:formulaRef>
                          <c15:sqref>Sheet1!$C$2:$C$6</c15:sqref>
                        </c15:formulaRef>
                      </c:ext>
                    </c:extLst>
                    <c:numCache>
                      <c:formatCode>General</c:formatCode>
                      <c:ptCount val="5"/>
                    </c:numCache>
                  </c:numRef>
                </c:val>
                <c:extLst>
                  <c:ext xmlns:c16="http://schemas.microsoft.com/office/drawing/2014/chart" uri="{C3380CC4-5D6E-409C-BE32-E72D297353CC}">
                    <c16:uniqueId val="{00000001-03C4-4236-A682-64F2458E8BAB}"/>
                  </c:ext>
                </c:extLst>
              </c15:ser>
            </c15:filteredBarSeries>
            <c15:filteredBarSeries>
              <c15:ser>
                <c:idx val="2"/>
                <c:order val="2"/>
                <c:tx>
                  <c:strRef>
                    <c:extLst xmlns:c15="http://schemas.microsoft.com/office/drawing/2012/chart">
                      <c:ext xmlns:c15="http://schemas.microsoft.com/office/drawing/2012/chart" uri="{02D57815-91ED-43cb-92C2-25804820EDAC}">
                        <c15:formulaRef>
                          <c15:sqref>Sheet1!$D$1</c15:sqref>
                        </c15:formulaRef>
                      </c:ext>
                    </c:extLst>
                    <c:strCache>
                      <c:ptCount val="1"/>
                      <c:pt idx="0">
                        <c:v>Column1</c:v>
                      </c:pt>
                    </c:strCache>
                  </c:strRef>
                </c:tx>
                <c:spPr>
                  <a:gradFill rotWithShape="1">
                    <a:gsLst>
                      <a:gs pos="0">
                        <a:schemeClr val="accent4">
                          <a:tint val="65000"/>
                          <a:shade val="51000"/>
                          <a:satMod val="130000"/>
                        </a:schemeClr>
                      </a:gs>
                      <a:gs pos="80000">
                        <a:schemeClr val="accent4">
                          <a:tint val="65000"/>
                          <a:shade val="93000"/>
                          <a:satMod val="130000"/>
                        </a:schemeClr>
                      </a:gs>
                      <a:gs pos="100000">
                        <a:schemeClr val="accent4">
                          <a:tint val="6500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extLst xmlns:c15="http://schemas.microsoft.com/office/drawing/2012/chart">
                      <c:ext xmlns:c15="http://schemas.microsoft.com/office/drawing/2012/chart" uri="{02D57815-91ED-43cb-92C2-25804820EDAC}">
                        <c15:formulaRef>
                          <c15:sqref>Sheet1!$A$2:$A$6</c15:sqref>
                        </c15:formulaRef>
                      </c:ext>
                    </c:extLst>
                    <c:strCache>
                      <c:ptCount val="5"/>
                      <c:pt idx="0">
                        <c:v>May</c:v>
                      </c:pt>
                      <c:pt idx="1">
                        <c:v>June</c:v>
                      </c:pt>
                      <c:pt idx="2">
                        <c:v>July</c:v>
                      </c:pt>
                      <c:pt idx="3">
                        <c:v>August</c:v>
                      </c:pt>
                      <c:pt idx="4">
                        <c:v>September</c:v>
                      </c:pt>
                    </c:strCache>
                  </c:strRef>
                </c:cat>
                <c:val>
                  <c:numRef>
                    <c:extLst xmlns:c15="http://schemas.microsoft.com/office/drawing/2012/chart">
                      <c:ext xmlns:c15="http://schemas.microsoft.com/office/drawing/2012/chart" uri="{02D57815-91ED-43cb-92C2-25804820EDAC}">
                        <c15:formulaRef>
                          <c15:sqref>Sheet1!$D$2:$D$6</c15:sqref>
                        </c15:formulaRef>
                      </c:ext>
                    </c:extLst>
                    <c:numCache>
                      <c:formatCode>General</c:formatCode>
                      <c:ptCount val="5"/>
                    </c:numCache>
                  </c:numRef>
                </c:val>
                <c:extLst xmlns:c15="http://schemas.microsoft.com/office/drawing/2012/chart">
                  <c:ext xmlns:c16="http://schemas.microsoft.com/office/drawing/2014/chart" uri="{C3380CC4-5D6E-409C-BE32-E72D297353CC}">
                    <c16:uniqueId val="{00000002-03C4-4236-A682-64F2458E8BAB}"/>
                  </c:ext>
                </c:extLst>
              </c15:ser>
            </c15:filteredBarSeries>
          </c:ext>
        </c:extLst>
      </c:barChart>
      <c:catAx>
        <c:axId val="1148082559"/>
        <c:scaling>
          <c:orientation val="minMax"/>
        </c:scaling>
        <c:delete val="0"/>
        <c:axPos val="b"/>
        <c:numFmt formatCode="General" sourceLinked="1"/>
        <c:majorTickMark val="out"/>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600" b="1" i="0" u="none" strike="noStrike" kern="1200" baseline="0">
                <a:solidFill>
                  <a:schemeClr val="lt1">
                    <a:lumMod val="85000"/>
                  </a:schemeClr>
                </a:solidFill>
                <a:latin typeface="+mn-lt"/>
                <a:ea typeface="+mn-ea"/>
                <a:cs typeface="+mn-cs"/>
              </a:defRPr>
            </a:pPr>
            <a:endParaRPr lang="en-US"/>
          </a:p>
        </c:txPr>
        <c:crossAx val="1148083519"/>
        <c:crosses val="autoZero"/>
        <c:auto val="1"/>
        <c:lblAlgn val="ctr"/>
        <c:lblOffset val="100"/>
        <c:noMultiLvlLbl val="0"/>
      </c:catAx>
      <c:valAx>
        <c:axId val="1148083519"/>
        <c:scaling>
          <c:orientation val="minMax"/>
        </c:scaling>
        <c:delete val="1"/>
        <c:axPos val="l"/>
        <c:numFmt formatCode="#,##0" sourceLinked="1"/>
        <c:majorTickMark val="none"/>
        <c:minorTickMark val="none"/>
        <c:tickLblPos val="nextTo"/>
        <c:crossAx val="114808255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76000">
          <a:srgbClr val="4A1850"/>
        </a:gs>
        <a:gs pos="28000">
          <a:srgbClr val="050004"/>
        </a:gs>
        <a:gs pos="100000">
          <a:schemeClr val="accent4">
            <a:lumMod val="60000"/>
            <a:lumOff val="40000"/>
          </a:schemeClr>
        </a:gs>
      </a:gsLst>
      <a:lin ang="0" scaled="0"/>
      <a:tileRect/>
    </a:gradFill>
    <a:ln w="28575">
      <a:solidFill>
        <a:schemeClr val="bg1"/>
      </a:solid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autoTitleDeleted val="1"/>
    <c:plotArea>
      <c:layout/>
      <c:pieChart>
        <c:varyColors val="1"/>
        <c:ser>
          <c:idx val="0"/>
          <c:order val="0"/>
          <c:tx>
            <c:strRef>
              <c:f>Sheet1!$B$1</c:f>
              <c:strCache>
                <c:ptCount val="1"/>
                <c:pt idx="0">
                  <c:v>Transaction</c:v>
                </c:pt>
              </c:strCache>
            </c:strRef>
          </c:tx>
          <c:spPr>
            <a:gradFill>
              <a:gsLst>
                <a:gs pos="0">
                  <a:srgbClr val="000000">
                    <a:alpha val="100000"/>
                  </a:srgbClr>
                </a:gs>
                <a:gs pos="0">
                  <a:srgbClr val="32032F">
                    <a:alpha val="100000"/>
                  </a:srgbClr>
                </a:gs>
                <a:gs pos="100000">
                  <a:srgbClr val="002060"/>
                </a:gs>
              </a:gsLst>
              <a:lin ang="0"/>
            </a:gradFill>
          </c:spPr>
          <c:dPt>
            <c:idx val="0"/>
            <c:bubble3D val="0"/>
            <c:spPr>
              <a:gradFill rotWithShape="1">
                <a:gsLst>
                  <a:gs pos="0">
                    <a:srgbClr val="000000">
                      <a:alpha val="100000"/>
                    </a:srgbClr>
                  </a:gs>
                  <a:gs pos="0">
                    <a:srgbClr val="32032F">
                      <a:alpha val="100000"/>
                    </a:srgbClr>
                  </a:gs>
                  <a:gs pos="100000">
                    <a:srgbClr val="002060"/>
                  </a:gs>
                </a:gsLst>
                <a:lin ang="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0-9CF8-4402-8870-1653B26CF237}"/>
              </c:ext>
            </c:extLst>
          </c:dPt>
          <c:dPt>
            <c:idx val="1"/>
            <c:bubble3D val="0"/>
            <c:spPr>
              <a:gradFill rotWithShape="1">
                <a:gsLst>
                  <a:gs pos="5000">
                    <a:srgbClr val="000000">
                      <a:alpha val="100000"/>
                    </a:srgbClr>
                  </a:gs>
                  <a:gs pos="100000">
                    <a:srgbClr val="002060"/>
                  </a:gs>
                </a:gsLst>
                <a:lin ang="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3-9CF8-4402-8870-1653B26CF237}"/>
              </c:ext>
            </c:extLst>
          </c:dPt>
          <c:dPt>
            <c:idx val="2"/>
            <c:bubble3D val="0"/>
            <c:spPr>
              <a:solidFill>
                <a:schemeClr val="accent4">
                  <a:lumMod val="75000"/>
                </a:scheme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4-9CF8-4402-8870-1653B26CF237}"/>
              </c:ext>
            </c:extLst>
          </c:dPt>
          <c:dLbls>
            <c:spPr>
              <a:noFill/>
              <a:ln>
                <a:noFill/>
              </a:ln>
              <a:effectLst/>
            </c:spPr>
            <c:txPr>
              <a:bodyPr rot="0" spcFirstLastPara="1" vertOverflow="ellipsis" vert="horz" wrap="square" anchor="ctr" anchorCtr="1"/>
              <a:lstStyle/>
              <a:p>
                <a:pPr>
                  <a:defRPr sz="2800" b="0" i="0" u="none" strike="noStrike" kern="1200" baseline="0">
                    <a:solidFill>
                      <a:schemeClr val="lt1">
                        <a:lumMod val="85000"/>
                      </a:schemeClr>
                    </a:solidFill>
                    <a:latin typeface="+mn-lt"/>
                    <a:ea typeface="+mn-ea"/>
                    <a:cs typeface="+mn-cs"/>
                  </a:defRPr>
                </a:pPr>
                <a:endParaRPr lang="en-US"/>
              </a:p>
            </c:txPr>
            <c:dLblPos val="ctr"/>
            <c:showLegendKey val="0"/>
            <c:showVal val="1"/>
            <c:showCatName val="1"/>
            <c:showSerName val="0"/>
            <c:showPercent val="0"/>
            <c:showBubbleSize val="0"/>
            <c:showLeaderLines val="0"/>
            <c:extLst>
              <c:ext xmlns:c15="http://schemas.microsoft.com/office/drawing/2012/chart" uri="{CE6537A1-D6FC-4f65-9D91-7224C49458BB}"/>
            </c:extLst>
          </c:dLbls>
          <c:cat>
            <c:strRef>
              <c:f>Sheet1!$A$2:$A$4</c:f>
              <c:strCache>
                <c:ptCount val="3"/>
                <c:pt idx="0">
                  <c:v>Transaction</c:v>
                </c:pt>
                <c:pt idx="1">
                  <c:v>View</c:v>
                </c:pt>
                <c:pt idx="2">
                  <c:v>Add to Cart</c:v>
                </c:pt>
              </c:strCache>
              <c:extLst/>
            </c:strRef>
          </c:cat>
          <c:val>
            <c:numRef>
              <c:f>Sheet1!$B$2:$B$4</c:f>
              <c:numCache>
                <c:formatCode>General</c:formatCode>
                <c:ptCount val="3"/>
                <c:pt idx="0">
                  <c:v>452</c:v>
                </c:pt>
                <c:pt idx="1">
                  <c:v>350</c:v>
                </c:pt>
                <c:pt idx="2">
                  <c:v>420</c:v>
                </c:pt>
              </c:numCache>
              <c:extLst/>
            </c:numRef>
          </c:val>
          <c:extLst>
            <c:ext xmlns:c16="http://schemas.microsoft.com/office/drawing/2014/chart" uri="{C3380CC4-5D6E-409C-BE32-E72D297353CC}">
              <c16:uniqueId val="{00000000-03C4-4236-A682-64F2458E8BAB}"/>
            </c:ext>
          </c:extLst>
        </c:ser>
        <c:dLbls>
          <c:dLblPos val="ctr"/>
          <c:showLegendKey val="0"/>
          <c:showVal val="1"/>
          <c:showCatName val="0"/>
          <c:showSerName val="0"/>
          <c:showPercent val="0"/>
          <c:showBubbleSize val="0"/>
          <c:showLeaderLines val="0"/>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52000">
          <a:srgbClr val="4A1850"/>
        </a:gs>
        <a:gs pos="16000">
          <a:srgbClr val="230221"/>
        </a:gs>
        <a:gs pos="100000">
          <a:srgbClr val="002060"/>
        </a:gs>
      </a:gsLst>
      <a:lin ang="0" scaled="0"/>
      <a:tileRect/>
    </a:gradFill>
    <a:ln w="28575">
      <a:solidFill>
        <a:schemeClr val="bg1"/>
      </a:solidFill>
    </a:ln>
    <a:effectLst/>
  </c:spPr>
  <c:txPr>
    <a:bodyPr/>
    <a:lstStyle/>
    <a:p>
      <a:pPr>
        <a:defRPr sz="2800"/>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autoTitleDeleted val="1"/>
    <c:plotArea>
      <c:layout/>
      <c:barChart>
        <c:barDir val="col"/>
        <c:grouping val="percentStacked"/>
        <c:varyColors val="0"/>
        <c:ser>
          <c:idx val="0"/>
          <c:order val="0"/>
          <c:tx>
            <c:strRef>
              <c:f>Sheet1!$B$1</c:f>
              <c:strCache>
                <c:ptCount val="1"/>
                <c:pt idx="0">
                  <c:v>View</c:v>
                </c:pt>
              </c:strCache>
            </c:strRef>
          </c:tx>
          <c:spPr>
            <a:gradFill rotWithShape="1">
              <a:gsLst>
                <a:gs pos="0">
                  <a:srgbClr val="000000">
                    <a:alpha val="100000"/>
                  </a:srgbClr>
                </a:gs>
                <a:gs pos="0">
                  <a:srgbClr val="32032F">
                    <a:alpha val="100000"/>
                  </a:srgbClr>
                </a:gs>
                <a:gs pos="53800">
                  <a:srgbClr val="001134"/>
                </a:gs>
                <a:gs pos="100000">
                  <a:srgbClr val="4A1850"/>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invertIfNegative val="0"/>
          <c:dLbls>
            <c:spPr>
              <a:noFill/>
              <a:ln>
                <a:noFill/>
              </a:ln>
              <a:effectLst/>
            </c:spPr>
            <c:txPr>
              <a:bodyPr rot="0" spcFirstLastPara="1" vertOverflow="ellipsis" vert="horz" wrap="square" anchor="ctr" anchorCtr="1"/>
              <a:lstStyle/>
              <a:p>
                <a:pPr>
                  <a:defRPr sz="16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numRef>
              <c:f>Sheet1!$A$2:$A$11</c:f>
              <c:numCache>
                <c:formatCode>General</c:formatCode>
                <c:ptCount val="10"/>
                <c:pt idx="0">
                  <c:v>250</c:v>
                </c:pt>
                <c:pt idx="1">
                  <c:v>1</c:v>
                </c:pt>
                <c:pt idx="2">
                  <c:v>679</c:v>
                </c:pt>
                <c:pt idx="3">
                  <c:v>312</c:v>
                </c:pt>
                <c:pt idx="4">
                  <c:v>620</c:v>
                </c:pt>
                <c:pt idx="5">
                  <c:v>561</c:v>
                </c:pt>
                <c:pt idx="6">
                  <c:v>1606</c:v>
                </c:pt>
                <c:pt idx="7">
                  <c:v>113</c:v>
                </c:pt>
                <c:pt idx="8">
                  <c:v>955</c:v>
                </c:pt>
                <c:pt idx="9">
                  <c:v>500</c:v>
                </c:pt>
              </c:numCache>
            </c:numRef>
          </c:cat>
          <c:val>
            <c:numRef>
              <c:f>Sheet1!$B$2:$B$11</c:f>
              <c:numCache>
                <c:formatCode>#,##0</c:formatCode>
                <c:ptCount val="10"/>
                <c:pt idx="0">
                  <c:v>606494</c:v>
                </c:pt>
                <c:pt idx="1">
                  <c:v>245785</c:v>
                </c:pt>
                <c:pt idx="2">
                  <c:v>160367</c:v>
                </c:pt>
                <c:pt idx="3">
                  <c:v>138537</c:v>
                </c:pt>
                <c:pt idx="4">
                  <c:v>124673</c:v>
                </c:pt>
                <c:pt idx="5">
                  <c:v>105561</c:v>
                </c:pt>
                <c:pt idx="6">
                  <c:v>99527</c:v>
                </c:pt>
                <c:pt idx="7">
                  <c:v>93149</c:v>
                </c:pt>
                <c:pt idx="8">
                  <c:v>90127</c:v>
                </c:pt>
                <c:pt idx="9">
                  <c:v>89550</c:v>
                </c:pt>
              </c:numCache>
            </c:numRef>
          </c:val>
          <c:extLst>
            <c:ext xmlns:c16="http://schemas.microsoft.com/office/drawing/2014/chart" uri="{C3380CC4-5D6E-409C-BE32-E72D297353CC}">
              <c16:uniqueId val="{00000000-03C4-4236-A682-64F2458E8BAB}"/>
            </c:ext>
          </c:extLst>
        </c:ser>
        <c:ser>
          <c:idx val="1"/>
          <c:order val="1"/>
          <c:tx>
            <c:strRef>
              <c:f>Sheet1!$C$1</c:f>
              <c:strCache>
                <c:ptCount val="1"/>
                <c:pt idx="0">
                  <c:v>Add to cart</c:v>
                </c:pt>
              </c:strCache>
            </c:strRef>
          </c:tx>
          <c:spPr>
            <a:gradFill rotWithShape="1">
              <a:gsLst>
                <a:gs pos="0">
                  <a:schemeClr val="accent4">
                    <a:shade val="51000"/>
                    <a:satMod val="130000"/>
                  </a:schemeClr>
                </a:gs>
                <a:gs pos="80000">
                  <a:schemeClr val="accent4">
                    <a:shade val="93000"/>
                    <a:satMod val="130000"/>
                  </a:schemeClr>
                </a:gs>
                <a:gs pos="100000">
                  <a:srgbClr val="230221"/>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invertIfNegative val="0"/>
          <c:dLbls>
            <c:spPr>
              <a:noFill/>
              <a:ln>
                <a:noFill/>
              </a:ln>
              <a:effectLst/>
            </c:spPr>
            <c:txPr>
              <a:bodyPr rot="0" spcFirstLastPara="1" vertOverflow="ellipsis" vert="horz" wrap="square" anchor="ctr" anchorCtr="1"/>
              <a:lstStyle/>
              <a:p>
                <a:pPr>
                  <a:defRPr sz="16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numRef>
              <c:f>Sheet1!$A$2:$A$11</c:f>
              <c:numCache>
                <c:formatCode>General</c:formatCode>
                <c:ptCount val="10"/>
                <c:pt idx="0">
                  <c:v>250</c:v>
                </c:pt>
                <c:pt idx="1">
                  <c:v>1</c:v>
                </c:pt>
                <c:pt idx="2">
                  <c:v>679</c:v>
                </c:pt>
                <c:pt idx="3">
                  <c:v>312</c:v>
                </c:pt>
                <c:pt idx="4">
                  <c:v>620</c:v>
                </c:pt>
                <c:pt idx="5">
                  <c:v>561</c:v>
                </c:pt>
                <c:pt idx="6">
                  <c:v>1606</c:v>
                </c:pt>
                <c:pt idx="7">
                  <c:v>113</c:v>
                </c:pt>
                <c:pt idx="8">
                  <c:v>955</c:v>
                </c:pt>
                <c:pt idx="9">
                  <c:v>500</c:v>
                </c:pt>
              </c:numCache>
            </c:numRef>
          </c:cat>
          <c:val>
            <c:numRef>
              <c:f>Sheet1!$C$2:$C$11</c:f>
              <c:numCache>
                <c:formatCode>General</c:formatCode>
                <c:ptCount val="10"/>
                <c:pt idx="0" formatCode="#,##0">
                  <c:v>6435</c:v>
                </c:pt>
                <c:pt idx="1">
                  <c:v>615</c:v>
                </c:pt>
                <c:pt idx="2" formatCode="#,##0">
                  <c:v>2382</c:v>
                </c:pt>
                <c:pt idx="3" formatCode="#,##0">
                  <c:v>3281</c:v>
                </c:pt>
                <c:pt idx="4" formatCode="#,##0">
                  <c:v>3227</c:v>
                </c:pt>
                <c:pt idx="5" formatCode="#,##0">
                  <c:v>2218</c:v>
                </c:pt>
                <c:pt idx="6" formatCode="#,##0">
                  <c:v>1993</c:v>
                </c:pt>
                <c:pt idx="7" formatCode="#,##0">
                  <c:v>1356</c:v>
                </c:pt>
                <c:pt idx="8" formatCode="#,##0">
                  <c:v>1827</c:v>
                </c:pt>
                <c:pt idx="9" formatCode="#,##0">
                  <c:v>2008</c:v>
                </c:pt>
              </c:numCache>
            </c:numRef>
          </c:val>
          <c:extLst xmlns:c15="http://schemas.microsoft.com/office/drawing/2012/chart">
            <c:ext xmlns:c16="http://schemas.microsoft.com/office/drawing/2014/chart" uri="{C3380CC4-5D6E-409C-BE32-E72D297353CC}">
              <c16:uniqueId val="{00000001-03C4-4236-A682-64F2458E8BAB}"/>
            </c:ext>
          </c:extLst>
        </c:ser>
        <c:ser>
          <c:idx val="2"/>
          <c:order val="2"/>
          <c:tx>
            <c:strRef>
              <c:f>Sheet1!$D$1</c:f>
              <c:strCache>
                <c:ptCount val="1"/>
                <c:pt idx="0">
                  <c:v>Transaction</c:v>
                </c:pt>
              </c:strCache>
            </c:strRef>
          </c:tx>
          <c:spPr>
            <a:gradFill rotWithShape="1">
              <a:gsLst>
                <a:gs pos="43000">
                  <a:srgbClr val="4A1850"/>
                </a:gs>
                <a:gs pos="0">
                  <a:srgbClr val="230221"/>
                </a:gs>
                <a:gs pos="79000">
                  <a:srgbClr val="4A1850"/>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invertIfNegative val="0"/>
          <c:dLbls>
            <c:spPr>
              <a:noFill/>
              <a:ln>
                <a:noFill/>
              </a:ln>
              <a:effectLst/>
            </c:spPr>
            <c:txPr>
              <a:bodyPr rot="0" spcFirstLastPara="1" vertOverflow="ellipsis" vert="horz" wrap="square" anchor="ctr" anchorCtr="1"/>
              <a:lstStyle/>
              <a:p>
                <a:pPr>
                  <a:defRPr sz="16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numRef>
              <c:f>Sheet1!$A$2:$A$11</c:f>
              <c:numCache>
                <c:formatCode>General</c:formatCode>
                <c:ptCount val="10"/>
                <c:pt idx="0">
                  <c:v>250</c:v>
                </c:pt>
                <c:pt idx="1">
                  <c:v>1</c:v>
                </c:pt>
                <c:pt idx="2">
                  <c:v>679</c:v>
                </c:pt>
                <c:pt idx="3">
                  <c:v>312</c:v>
                </c:pt>
                <c:pt idx="4">
                  <c:v>620</c:v>
                </c:pt>
                <c:pt idx="5">
                  <c:v>561</c:v>
                </c:pt>
                <c:pt idx="6">
                  <c:v>1606</c:v>
                </c:pt>
                <c:pt idx="7">
                  <c:v>113</c:v>
                </c:pt>
                <c:pt idx="8">
                  <c:v>955</c:v>
                </c:pt>
                <c:pt idx="9">
                  <c:v>500</c:v>
                </c:pt>
              </c:numCache>
            </c:numRef>
          </c:cat>
          <c:val>
            <c:numRef>
              <c:f>Sheet1!$D$2:$D$11</c:f>
              <c:numCache>
                <c:formatCode>General</c:formatCode>
                <c:ptCount val="10"/>
                <c:pt idx="0">
                  <c:v>274</c:v>
                </c:pt>
                <c:pt idx="1">
                  <c:v>269</c:v>
                </c:pt>
                <c:pt idx="2">
                  <c:v>336</c:v>
                </c:pt>
                <c:pt idx="3">
                  <c:v>655</c:v>
                </c:pt>
                <c:pt idx="4" formatCode="#,##0">
                  <c:v>1049</c:v>
                </c:pt>
                <c:pt idx="5">
                  <c:v>574</c:v>
                </c:pt>
                <c:pt idx="6">
                  <c:v>299</c:v>
                </c:pt>
                <c:pt idx="7">
                  <c:v>420</c:v>
                </c:pt>
                <c:pt idx="8">
                  <c:v>350</c:v>
                </c:pt>
                <c:pt idx="9">
                  <c:v>452</c:v>
                </c:pt>
              </c:numCache>
            </c:numRef>
          </c:val>
          <c:extLst xmlns:c15="http://schemas.microsoft.com/office/drawing/2012/chart">
            <c:ext xmlns:c16="http://schemas.microsoft.com/office/drawing/2014/chart" uri="{C3380CC4-5D6E-409C-BE32-E72D297353CC}">
              <c16:uniqueId val="{00000002-03C4-4236-A682-64F2458E8BAB}"/>
            </c:ext>
          </c:extLst>
        </c:ser>
        <c:dLbls>
          <c:showLegendKey val="0"/>
          <c:showVal val="1"/>
          <c:showCatName val="0"/>
          <c:showSerName val="0"/>
          <c:showPercent val="0"/>
          <c:showBubbleSize val="0"/>
        </c:dLbls>
        <c:gapWidth val="100"/>
        <c:overlap val="100"/>
        <c:axId val="1148082559"/>
        <c:axId val="1148083519"/>
        <c:extLst/>
      </c:barChart>
      <c:catAx>
        <c:axId val="1148082559"/>
        <c:scaling>
          <c:orientation val="minMax"/>
        </c:scaling>
        <c:delete val="0"/>
        <c:axPos val="b"/>
        <c:numFmt formatCode="General" sourceLinked="1"/>
        <c:majorTickMark val="out"/>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600" b="0" i="0" u="none" strike="noStrike" kern="1200" baseline="0">
                <a:solidFill>
                  <a:schemeClr val="lt1">
                    <a:lumMod val="85000"/>
                  </a:schemeClr>
                </a:solidFill>
                <a:latin typeface="+mn-lt"/>
                <a:ea typeface="+mn-ea"/>
                <a:cs typeface="+mn-cs"/>
              </a:defRPr>
            </a:pPr>
            <a:endParaRPr lang="en-US"/>
          </a:p>
        </c:txPr>
        <c:crossAx val="1148083519"/>
        <c:crosses val="autoZero"/>
        <c:auto val="1"/>
        <c:lblAlgn val="ctr"/>
        <c:lblOffset val="100"/>
        <c:noMultiLvlLbl val="0"/>
      </c:catAx>
      <c:valAx>
        <c:axId val="1148083519"/>
        <c:scaling>
          <c:orientation val="minMax"/>
        </c:scaling>
        <c:delete val="1"/>
        <c:axPos val="l"/>
        <c:numFmt formatCode="0%" sourceLinked="1"/>
        <c:majorTickMark val="none"/>
        <c:minorTickMark val="none"/>
        <c:tickLblPos val="nextTo"/>
        <c:crossAx val="114808255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6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76000">
          <a:srgbClr val="4A1850"/>
        </a:gs>
        <a:gs pos="28000">
          <a:srgbClr val="050004"/>
        </a:gs>
        <a:gs pos="100000">
          <a:schemeClr val="accent4">
            <a:lumMod val="60000"/>
            <a:lumOff val="40000"/>
          </a:schemeClr>
        </a:gs>
      </a:gsLst>
      <a:lin ang="0" scaled="0"/>
      <a:tileRect/>
    </a:gradFill>
    <a:ln w="28575">
      <a:solidFill>
        <a:schemeClr val="bg1"/>
      </a:solidFill>
    </a:ln>
    <a:effectLst/>
  </c:spPr>
  <c:txPr>
    <a:bodyPr/>
    <a:lstStyle/>
    <a:p>
      <a:pPr>
        <a:defRPr sz="1600"/>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 id="17">
  <a:schemeClr val="accent4"/>
</cs:colorStyle>
</file>

<file path=ppt/charts/colors2.xml><?xml version="1.0" encoding="utf-8"?>
<cs:colorStyle xmlns:cs="http://schemas.microsoft.com/office/drawing/2012/chartStyle" xmlns:a="http://schemas.openxmlformats.org/drawingml/2006/main" meth="withinLinear" id="17">
  <a:schemeClr val="accent4"/>
</cs:colorStyle>
</file>

<file path=ppt/charts/colors3.xml><?xml version="1.0" encoding="utf-8"?>
<cs:colorStyle xmlns:cs="http://schemas.microsoft.com/office/drawing/2012/chartStyle" xmlns:a="http://schemas.openxmlformats.org/drawingml/2006/main" meth="withinLinear" id="17">
  <a:schemeClr val="accent4"/>
</cs:colorStyle>
</file>

<file path=ppt/charts/style1.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lt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4695C-A4DF-4021-A1C9-91F8F8341FF1}" type="datetimeFigureOut">
              <a:rPr lang="en-US" smtClean="0"/>
              <a:t>8/25/2025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2EEE41-BA50-4D59-8632-D1ADE416F540}" type="slidenum">
              <a:rPr lang="en-US" smtClean="0"/>
              <a:t>‹#›</a:t>
            </a:fld>
            <a:endParaRPr lang="en-US"/>
          </a:p>
        </p:txBody>
      </p:sp>
    </p:spTree>
    <p:extLst>
      <p:ext uri="{BB962C8B-B14F-4D97-AF65-F5344CB8AC3E}">
        <p14:creationId xmlns:p14="http://schemas.microsoft.com/office/powerpoint/2010/main" val="29913017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2EEE41-BA50-4D59-8632-D1ADE416F540}" type="slidenum">
              <a:rPr lang="en-US" smtClean="0"/>
              <a:t>3</a:t>
            </a:fld>
            <a:endParaRPr lang="en-US"/>
          </a:p>
        </p:txBody>
      </p:sp>
    </p:spTree>
    <p:extLst>
      <p:ext uri="{BB962C8B-B14F-4D97-AF65-F5344CB8AC3E}">
        <p14:creationId xmlns:p14="http://schemas.microsoft.com/office/powerpoint/2010/main" val="3509091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2EEE41-BA50-4D59-8632-D1ADE416F540}" type="slidenum">
              <a:rPr lang="en-US" smtClean="0"/>
              <a:t>5</a:t>
            </a:fld>
            <a:endParaRPr lang="en-US"/>
          </a:p>
        </p:txBody>
      </p:sp>
    </p:spTree>
    <p:extLst>
      <p:ext uri="{BB962C8B-B14F-4D97-AF65-F5344CB8AC3E}">
        <p14:creationId xmlns:p14="http://schemas.microsoft.com/office/powerpoint/2010/main" val="3635337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EA807-0031-B115-45F8-4AAC755BAA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512732-5189-21EC-63B5-480411719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CCD6A6-7F84-891B-524E-F0184E9024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D68DCE-D3AF-4167-2485-72CFBF04B4E2}"/>
              </a:ext>
            </a:extLst>
          </p:cNvPr>
          <p:cNvSpPr>
            <a:spLocks noGrp="1"/>
          </p:cNvSpPr>
          <p:nvPr>
            <p:ph type="sldNum" sz="quarter" idx="5"/>
          </p:nvPr>
        </p:nvSpPr>
        <p:spPr/>
        <p:txBody>
          <a:bodyPr/>
          <a:lstStyle/>
          <a:p>
            <a:fld id="{942EEE41-BA50-4D59-8632-D1ADE416F540}" type="slidenum">
              <a:rPr lang="en-US" smtClean="0"/>
              <a:t>6</a:t>
            </a:fld>
            <a:endParaRPr lang="en-US"/>
          </a:p>
        </p:txBody>
      </p:sp>
    </p:spTree>
    <p:extLst>
      <p:ext uri="{BB962C8B-B14F-4D97-AF65-F5344CB8AC3E}">
        <p14:creationId xmlns:p14="http://schemas.microsoft.com/office/powerpoint/2010/main" val="25446783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2EEE41-BA50-4D59-8632-D1ADE416F540}" type="slidenum">
              <a:rPr lang="en-US" smtClean="0"/>
              <a:t>11</a:t>
            </a:fld>
            <a:endParaRPr lang="en-US"/>
          </a:p>
        </p:txBody>
      </p:sp>
    </p:spTree>
    <p:extLst>
      <p:ext uri="{BB962C8B-B14F-4D97-AF65-F5344CB8AC3E}">
        <p14:creationId xmlns:p14="http://schemas.microsoft.com/office/powerpoint/2010/main" val="24608672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hyperlink" Target="https://recommendation-system-project-c8cgulvvsynvm77sfiyfwb.streamlit.app/"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jpeg"/></Relationships>
</file>

<file path=ppt/slides/_rels/slide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12.png"/><Relationship Id="rId7" Type="http://schemas.openxmlformats.org/officeDocument/2006/relationships/image" Target="../media/image9.png"/><Relationship Id="rId2" Type="http://schemas.openxmlformats.org/officeDocument/2006/relationships/image" Target="../media/image11.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3.svg"/></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1.jpeg"/><Relationship Id="rId7" Type="http://schemas.openxmlformats.org/officeDocument/2006/relationships/image" Target="../media/image17.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10.svg"/><Relationship Id="rId5" Type="http://schemas.openxmlformats.org/officeDocument/2006/relationships/image" Target="../media/image15.svg"/><Relationship Id="rId10" Type="http://schemas.openxmlformats.org/officeDocument/2006/relationships/image" Target="../media/image9.png"/><Relationship Id="rId4" Type="http://schemas.openxmlformats.org/officeDocument/2006/relationships/image" Target="../media/image14.png"/><Relationship Id="rId9" Type="http://schemas.openxmlformats.org/officeDocument/2006/relationships/image" Target="../media/image7.svg"/></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7" Type="http://schemas.openxmlformats.org/officeDocument/2006/relationships/image" Target="../media/image10.sv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7.sv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hart" Target="../charts/chart1.xml"/><Relationship Id="rId1" Type="http://schemas.openxmlformats.org/officeDocument/2006/relationships/slideLayout" Target="../slideLayouts/slideLayout7.xml"/><Relationship Id="rId4" Type="http://schemas.openxmlformats.org/officeDocument/2006/relationships/image" Target="../media/image10.sv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hart" Target="../charts/chart2.xml"/><Relationship Id="rId1" Type="http://schemas.openxmlformats.org/officeDocument/2006/relationships/slideLayout" Target="../slideLayouts/slideLayout7.xml"/><Relationship Id="rId4" Type="http://schemas.openxmlformats.org/officeDocument/2006/relationships/image" Target="../media/image10.sv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hart" Target="../charts/chart3.xml"/><Relationship Id="rId1" Type="http://schemas.openxmlformats.org/officeDocument/2006/relationships/slideLayout" Target="../slideLayouts/slideLayout7.xml"/><Relationship Id="rId4" Type="http://schemas.openxmlformats.org/officeDocument/2006/relationships/image" Target="../media/image10.svg"/></Relationships>
</file>

<file path=ppt/slides/_rels/slide1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18.jpeg"/><Relationship Id="rId7" Type="http://schemas.openxmlformats.org/officeDocument/2006/relationships/image" Target="../media/image9.png"/><Relationship Id="rId12" Type="http://schemas.openxmlformats.org/officeDocument/2006/relationships/image" Target="../media/image24.sv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hyperlink" Target="https://recommendation-system-project-c8cgulvvsynvm77sfiyfwb.streamlit.app/" TargetMode="External"/><Relationship Id="rId11" Type="http://schemas.openxmlformats.org/officeDocument/2006/relationships/image" Target="../media/image23.png"/><Relationship Id="rId5" Type="http://schemas.openxmlformats.org/officeDocument/2006/relationships/image" Target="../media/image20.svg"/><Relationship Id="rId10" Type="http://schemas.openxmlformats.org/officeDocument/2006/relationships/image" Target="../media/image22.svg"/><Relationship Id="rId4" Type="http://schemas.openxmlformats.org/officeDocument/2006/relationships/image" Target="../media/image19.png"/><Relationship Id="rId9"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5.png"/><Relationship Id="rId1" Type="http://schemas.openxmlformats.org/officeDocument/2006/relationships/slideLayout" Target="../slideLayouts/slideLayout7.xml"/><Relationship Id="rId5" Type="http://schemas.openxmlformats.org/officeDocument/2006/relationships/image" Target="../media/image26.jpeg"/><Relationship Id="rId4" Type="http://schemas.openxmlformats.org/officeDocument/2006/relationships/image" Target="../media/image10.sv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10.svg"/></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julietkukuia/Recommendation-System-Project/tree/main" TargetMode="External"/><Relationship Id="rId2" Type="http://schemas.openxmlformats.org/officeDocument/2006/relationships/hyperlink" Target="https://recommendation-system-project-c8cgulvvsynvm77sfiyfwb.streamlit.app/" TargetMode="External"/><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0C2B"/>
        </a:solidFill>
        <a:effectLst/>
      </p:bgPr>
    </p:bg>
    <p:spTree>
      <p:nvGrpSpPr>
        <p:cNvPr id="1" name=""/>
        <p:cNvGrpSpPr/>
        <p:nvPr/>
      </p:nvGrpSpPr>
      <p:grpSpPr>
        <a:xfrm>
          <a:off x="0" y="0"/>
          <a:ext cx="0" cy="0"/>
          <a:chOff x="0" y="0"/>
          <a:chExt cx="0" cy="0"/>
        </a:xfrm>
      </p:grpSpPr>
      <p:grpSp>
        <p:nvGrpSpPr>
          <p:cNvPr id="50" name="Group 49">
            <a:extLst>
              <a:ext uri="{FF2B5EF4-FFF2-40B4-BE49-F238E27FC236}">
                <a16:creationId xmlns:a16="http://schemas.microsoft.com/office/drawing/2014/main" id="{BB18112F-4258-D3E0-90D1-2764189D1498}"/>
              </a:ext>
            </a:extLst>
          </p:cNvPr>
          <p:cNvGrpSpPr/>
          <p:nvPr/>
        </p:nvGrpSpPr>
        <p:grpSpPr>
          <a:xfrm>
            <a:off x="7969224" y="6896779"/>
            <a:ext cx="3781413" cy="925531"/>
            <a:chOff x="7969224" y="6896779"/>
            <a:chExt cx="3781413" cy="925531"/>
          </a:xfrm>
        </p:grpSpPr>
        <p:sp>
          <p:nvSpPr>
            <p:cNvPr id="3" name="Freeform 3">
              <a:hlinkClick r:id="" action="ppaction://hlinkshowjump?jump=firstslide"/>
            </p:cNvPr>
            <p:cNvSpPr/>
            <p:nvPr/>
          </p:nvSpPr>
          <p:spPr>
            <a:xfrm>
              <a:off x="8932117" y="7127986"/>
              <a:ext cx="2818520" cy="694324"/>
            </a:xfrm>
            <a:custGeom>
              <a:avLst/>
              <a:gdLst/>
              <a:ahLst/>
              <a:cxnLst/>
              <a:rect l="l" t="t" r="r" b="b"/>
              <a:pathLst>
                <a:path w="812800" h="200228">
                  <a:moveTo>
                    <a:pt x="68670" y="0"/>
                  </a:moveTo>
                  <a:lnTo>
                    <a:pt x="744130" y="0"/>
                  </a:lnTo>
                  <a:cubicBezTo>
                    <a:pt x="782055" y="0"/>
                    <a:pt x="812800" y="30745"/>
                    <a:pt x="812800" y="68670"/>
                  </a:cubicBezTo>
                  <a:lnTo>
                    <a:pt x="812800" y="131558"/>
                  </a:lnTo>
                  <a:cubicBezTo>
                    <a:pt x="812800" y="169483"/>
                    <a:pt x="782055" y="200228"/>
                    <a:pt x="744130" y="200228"/>
                  </a:cubicBezTo>
                  <a:lnTo>
                    <a:pt x="68670" y="200228"/>
                  </a:lnTo>
                  <a:cubicBezTo>
                    <a:pt x="30745" y="200228"/>
                    <a:pt x="0" y="169483"/>
                    <a:pt x="0" y="131558"/>
                  </a:cubicBezTo>
                  <a:lnTo>
                    <a:pt x="0" y="68670"/>
                  </a:lnTo>
                  <a:cubicBezTo>
                    <a:pt x="0" y="30745"/>
                    <a:pt x="30745" y="0"/>
                    <a:pt x="68670" y="0"/>
                  </a:cubicBezTo>
                  <a:close/>
                </a:path>
              </a:pathLst>
            </a:custGeom>
            <a:gradFill rotWithShape="1">
              <a:gsLst>
                <a:gs pos="0">
                  <a:srgbClr val="B42192"/>
                </a:gs>
                <a:gs pos="100000">
                  <a:srgbClr val="3099FA">
                    <a:alpha val="100000"/>
                  </a:srgbClr>
                </a:gs>
              </a:gsLst>
              <a:lin ang="0"/>
            </a:gradFill>
          </p:spPr>
          <p:txBody>
            <a:bodyPr/>
            <a:lstStyle/>
            <a:p>
              <a:endParaRPr lang="en-US" dirty="0"/>
            </a:p>
          </p:txBody>
        </p:sp>
        <p:sp>
          <p:nvSpPr>
            <p:cNvPr id="4" name="TextBox 4"/>
            <p:cNvSpPr txBox="1"/>
            <p:nvPr/>
          </p:nvSpPr>
          <p:spPr>
            <a:xfrm>
              <a:off x="7969224" y="6896779"/>
              <a:ext cx="2818520" cy="925531"/>
            </a:xfrm>
            <a:prstGeom prst="rect">
              <a:avLst/>
            </a:prstGeom>
          </p:spPr>
          <p:txBody>
            <a:bodyPr lIns="50800" tIns="50800" rIns="50800" bIns="50800" rtlCol="0" anchor="ctr"/>
            <a:lstStyle/>
            <a:p>
              <a:pPr algn="ctr">
                <a:lnSpc>
                  <a:spcPts val="2800"/>
                </a:lnSpc>
              </a:pPr>
              <a:endParaRPr/>
            </a:p>
          </p:txBody>
        </p:sp>
      </p:grpSp>
      <p:sp>
        <p:nvSpPr>
          <p:cNvPr id="6" name="Freeform 6"/>
          <p:cNvSpPr/>
          <p:nvPr/>
        </p:nvSpPr>
        <p:spPr>
          <a:xfrm>
            <a:off x="12345280" y="7127986"/>
            <a:ext cx="2818520" cy="694324"/>
          </a:xfrm>
          <a:custGeom>
            <a:avLst/>
            <a:gdLst/>
            <a:ahLst/>
            <a:cxnLst/>
            <a:rect l="l" t="t" r="r" b="b"/>
            <a:pathLst>
              <a:path w="812800" h="200228">
                <a:moveTo>
                  <a:pt x="68670" y="0"/>
                </a:moveTo>
                <a:lnTo>
                  <a:pt x="744130" y="0"/>
                </a:lnTo>
                <a:cubicBezTo>
                  <a:pt x="782055" y="0"/>
                  <a:pt x="812800" y="30745"/>
                  <a:pt x="812800" y="68670"/>
                </a:cubicBezTo>
                <a:lnTo>
                  <a:pt x="812800" y="131558"/>
                </a:lnTo>
                <a:cubicBezTo>
                  <a:pt x="812800" y="169483"/>
                  <a:pt x="782055" y="200228"/>
                  <a:pt x="744130" y="200228"/>
                </a:cubicBezTo>
                <a:lnTo>
                  <a:pt x="68670" y="200228"/>
                </a:lnTo>
                <a:cubicBezTo>
                  <a:pt x="30745" y="200228"/>
                  <a:pt x="0" y="169483"/>
                  <a:pt x="0" y="131558"/>
                </a:cubicBezTo>
                <a:lnTo>
                  <a:pt x="0" y="68670"/>
                </a:lnTo>
                <a:cubicBezTo>
                  <a:pt x="0" y="30745"/>
                  <a:pt x="30745" y="0"/>
                  <a:pt x="68670" y="0"/>
                </a:cubicBezTo>
                <a:close/>
              </a:path>
            </a:pathLst>
          </a:custGeom>
          <a:solidFill>
            <a:srgbClr val="000000">
              <a:alpha val="0"/>
            </a:srgbClr>
          </a:solidFill>
          <a:ln w="19050" cap="rnd">
            <a:gradFill>
              <a:gsLst>
                <a:gs pos="0">
                  <a:srgbClr val="164876">
                    <a:alpha val="100000"/>
                  </a:srgbClr>
                </a:gs>
                <a:gs pos="100000">
                  <a:srgbClr val="3099FA">
                    <a:alpha val="100000"/>
                  </a:srgbClr>
                </a:gs>
              </a:gsLst>
              <a:lin ang="0"/>
            </a:gradFill>
            <a:prstDash val="solid"/>
            <a:round/>
          </a:ln>
        </p:spPr>
      </p:sp>
      <p:sp>
        <p:nvSpPr>
          <p:cNvPr id="7" name="TextBox 7"/>
          <p:cNvSpPr txBox="1"/>
          <p:nvPr/>
        </p:nvSpPr>
        <p:spPr>
          <a:xfrm>
            <a:off x="11382387" y="6896779"/>
            <a:ext cx="2818520" cy="925531"/>
          </a:xfrm>
          <a:prstGeom prst="rect">
            <a:avLst/>
          </a:prstGeom>
        </p:spPr>
        <p:txBody>
          <a:bodyPr lIns="50800" tIns="50800" rIns="50800" bIns="50800" rtlCol="0" anchor="ctr"/>
          <a:lstStyle/>
          <a:p>
            <a:pPr algn="ctr">
              <a:lnSpc>
                <a:spcPts val="2800"/>
              </a:lnSpc>
            </a:pPr>
            <a:endParaRPr/>
          </a:p>
        </p:txBody>
      </p:sp>
      <p:sp>
        <p:nvSpPr>
          <p:cNvPr id="8" name="Freeform 8"/>
          <p:cNvSpPr/>
          <p:nvPr/>
        </p:nvSpPr>
        <p:spPr>
          <a:xfrm>
            <a:off x="14598705" y="7287850"/>
            <a:ext cx="374595" cy="374595"/>
          </a:xfrm>
          <a:custGeom>
            <a:avLst/>
            <a:gdLst/>
            <a:ahLst/>
            <a:cxnLst/>
            <a:rect l="l" t="t" r="r" b="b"/>
            <a:pathLst>
              <a:path w="374595" h="374595">
                <a:moveTo>
                  <a:pt x="0" y="0"/>
                </a:moveTo>
                <a:lnTo>
                  <a:pt x="374595" y="0"/>
                </a:lnTo>
                <a:lnTo>
                  <a:pt x="374595" y="374596"/>
                </a:lnTo>
                <a:lnTo>
                  <a:pt x="0" y="37459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1" name="Freeform 21"/>
          <p:cNvSpPr/>
          <p:nvPr/>
        </p:nvSpPr>
        <p:spPr>
          <a:xfrm>
            <a:off x="16829506" y="914552"/>
            <a:ext cx="478751" cy="473042"/>
          </a:xfrm>
          <a:custGeom>
            <a:avLst/>
            <a:gdLst/>
            <a:ahLst/>
            <a:cxnLst/>
            <a:rect l="l" t="t" r="r" b="b"/>
            <a:pathLst>
              <a:path w="233122" h="233122">
                <a:moveTo>
                  <a:pt x="0" y="0"/>
                </a:moveTo>
                <a:lnTo>
                  <a:pt x="233122" y="0"/>
                </a:lnTo>
                <a:lnTo>
                  <a:pt x="233122" y="233122"/>
                </a:lnTo>
                <a:lnTo>
                  <a:pt x="0" y="2331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dirty="0"/>
          </a:p>
        </p:txBody>
      </p:sp>
      <p:grpSp>
        <p:nvGrpSpPr>
          <p:cNvPr id="23" name="Group 23"/>
          <p:cNvGrpSpPr/>
          <p:nvPr/>
        </p:nvGrpSpPr>
        <p:grpSpPr>
          <a:xfrm>
            <a:off x="1483103" y="2946039"/>
            <a:ext cx="5028625" cy="5028625"/>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gradFill>
                <a:gsLst>
                  <a:gs pos="0">
                    <a:srgbClr val="164876">
                      <a:alpha val="100000"/>
                    </a:srgbClr>
                  </a:gs>
                  <a:gs pos="100000">
                    <a:srgbClr val="3099FA">
                      <a:alpha val="100000"/>
                    </a:srgbClr>
                  </a:gs>
                </a:gsLst>
                <a:lin ang="0"/>
              </a:gradFill>
              <a:prstDash val="solid"/>
              <a:miter/>
            </a:ln>
          </p:spPr>
        </p:sp>
        <p:sp>
          <p:nvSpPr>
            <p:cNvPr id="25" name="TextBox 25"/>
            <p:cNvSpPr txBox="1"/>
            <p:nvPr/>
          </p:nvSpPr>
          <p:spPr>
            <a:xfrm>
              <a:off x="76200" y="9525"/>
              <a:ext cx="660400" cy="727075"/>
            </a:xfrm>
            <a:prstGeom prst="rect">
              <a:avLst/>
            </a:prstGeom>
          </p:spPr>
          <p:txBody>
            <a:bodyPr lIns="50800" tIns="50800" rIns="50800" bIns="50800" rtlCol="0" anchor="ctr"/>
            <a:lstStyle/>
            <a:p>
              <a:pPr algn="ctr">
                <a:lnSpc>
                  <a:spcPts val="2800"/>
                </a:lnSpc>
              </a:pPr>
              <a:endParaRPr/>
            </a:p>
          </p:txBody>
        </p:sp>
      </p:grpSp>
      <p:grpSp>
        <p:nvGrpSpPr>
          <p:cNvPr id="26" name="Group 26"/>
          <p:cNvGrpSpPr/>
          <p:nvPr/>
        </p:nvGrpSpPr>
        <p:grpSpPr>
          <a:xfrm>
            <a:off x="1778095" y="3241031"/>
            <a:ext cx="4438643" cy="4438643"/>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BB3DAE"/>
                </a:gs>
                <a:gs pos="100000">
                  <a:srgbClr val="3099FA">
                    <a:alpha val="100000"/>
                  </a:srgbClr>
                </a:gs>
              </a:gsLst>
              <a:lin ang="0"/>
            </a:gradFill>
          </p:spPr>
        </p:sp>
        <p:sp>
          <p:nvSpPr>
            <p:cNvPr id="28" name="TextBox 28"/>
            <p:cNvSpPr txBox="1"/>
            <p:nvPr/>
          </p:nvSpPr>
          <p:spPr>
            <a:xfrm>
              <a:off x="76200" y="9525"/>
              <a:ext cx="660400" cy="727075"/>
            </a:xfrm>
            <a:prstGeom prst="rect">
              <a:avLst/>
            </a:prstGeom>
          </p:spPr>
          <p:txBody>
            <a:bodyPr lIns="50800" tIns="50800" rIns="50800" bIns="50800" rtlCol="0" anchor="ctr"/>
            <a:lstStyle/>
            <a:p>
              <a:pPr algn="ctr">
                <a:lnSpc>
                  <a:spcPts val="2800"/>
                </a:lnSpc>
              </a:pPr>
              <a:endParaRPr/>
            </a:p>
          </p:txBody>
        </p:sp>
      </p:grpSp>
      <p:sp>
        <p:nvSpPr>
          <p:cNvPr id="29" name="TextBox 29"/>
          <p:cNvSpPr txBox="1"/>
          <p:nvPr/>
        </p:nvSpPr>
        <p:spPr>
          <a:xfrm>
            <a:off x="7994831" y="3519760"/>
            <a:ext cx="9074051" cy="2215991"/>
          </a:xfrm>
          <a:prstGeom prst="rect">
            <a:avLst/>
          </a:prstGeom>
        </p:spPr>
        <p:txBody>
          <a:bodyPr lIns="0" tIns="0" rIns="0" bIns="0" rtlCol="0" anchor="t">
            <a:spAutoFit/>
          </a:bodyPr>
          <a:lstStyle/>
          <a:p>
            <a:pPr algn="l"/>
            <a:r>
              <a:rPr lang="en-US" sz="7200" b="1" dirty="0">
                <a:solidFill>
                  <a:srgbClr val="FFFFFF"/>
                </a:solidFill>
                <a:latin typeface="Poppins Bold"/>
                <a:ea typeface="Poppins Bold"/>
                <a:cs typeface="Poppins Bold"/>
                <a:sym typeface="Poppins Bold"/>
              </a:rPr>
              <a:t>Recommendation System Project</a:t>
            </a:r>
          </a:p>
        </p:txBody>
      </p:sp>
      <p:sp>
        <p:nvSpPr>
          <p:cNvPr id="30" name="Freeform 30"/>
          <p:cNvSpPr/>
          <p:nvPr/>
        </p:nvSpPr>
        <p:spPr>
          <a:xfrm>
            <a:off x="-2698141" y="4064615"/>
            <a:ext cx="9272016" cy="8229600"/>
          </a:xfrm>
          <a:custGeom>
            <a:avLst/>
            <a:gdLst/>
            <a:ahLst/>
            <a:cxnLst/>
            <a:rect l="l" t="t" r="r" b="b"/>
            <a:pathLst>
              <a:path w="9272016" h="8229600">
                <a:moveTo>
                  <a:pt x="0" y="0"/>
                </a:moveTo>
                <a:lnTo>
                  <a:pt x="9272016" y="0"/>
                </a:lnTo>
                <a:lnTo>
                  <a:pt x="9272016" y="8229600"/>
                </a:lnTo>
                <a:lnTo>
                  <a:pt x="0" y="8229600"/>
                </a:lnTo>
                <a:lnTo>
                  <a:pt x="0" y="0"/>
                </a:lnTo>
                <a:close/>
              </a:path>
            </a:pathLst>
          </a:custGeom>
          <a:blipFill>
            <a:blip r:embed="rId6"/>
            <a:stretch>
              <a:fillRect/>
            </a:stretch>
          </a:blipFill>
        </p:spPr>
      </p:sp>
      <p:sp>
        <p:nvSpPr>
          <p:cNvPr id="31" name="Freeform 31"/>
          <p:cNvSpPr/>
          <p:nvPr/>
        </p:nvSpPr>
        <p:spPr>
          <a:xfrm>
            <a:off x="5479503" y="7662446"/>
            <a:ext cx="2232546" cy="2232546"/>
          </a:xfrm>
          <a:custGeom>
            <a:avLst/>
            <a:gdLst/>
            <a:ahLst/>
            <a:cxnLst/>
            <a:rect l="l" t="t" r="r" b="b"/>
            <a:pathLst>
              <a:path w="2232546" h="2232546">
                <a:moveTo>
                  <a:pt x="0" y="0"/>
                </a:moveTo>
                <a:lnTo>
                  <a:pt x="2232546" y="0"/>
                </a:lnTo>
                <a:lnTo>
                  <a:pt x="2232546" y="2232545"/>
                </a:lnTo>
                <a:lnTo>
                  <a:pt x="0" y="223254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32" name="TextBox 32"/>
          <p:cNvSpPr txBox="1"/>
          <p:nvPr/>
        </p:nvSpPr>
        <p:spPr>
          <a:xfrm>
            <a:off x="9079472" y="7232650"/>
            <a:ext cx="2466661" cy="425450"/>
          </a:xfrm>
          <a:prstGeom prst="rect">
            <a:avLst/>
          </a:prstGeom>
        </p:spPr>
        <p:txBody>
          <a:bodyPr lIns="0" tIns="0" rIns="0" bIns="0" rtlCol="0" anchor="t">
            <a:spAutoFit/>
          </a:bodyPr>
          <a:lstStyle/>
          <a:p>
            <a:pPr algn="ctr">
              <a:lnSpc>
                <a:spcPts val="3400"/>
              </a:lnSpc>
            </a:pPr>
            <a:r>
              <a:rPr lang="en-US" sz="2000" dirty="0">
                <a:solidFill>
                  <a:srgbClr val="FFFFFF"/>
                </a:solidFill>
                <a:latin typeface="Poppins"/>
                <a:ea typeface="Poppins"/>
                <a:cs typeface="Poppins"/>
                <a:sym typeface="Poppins"/>
              </a:rPr>
              <a:t>Start Slide</a:t>
            </a:r>
          </a:p>
        </p:txBody>
      </p:sp>
      <p:sp>
        <p:nvSpPr>
          <p:cNvPr id="33" name="TextBox 33"/>
          <p:cNvSpPr txBox="1"/>
          <p:nvPr/>
        </p:nvSpPr>
        <p:spPr>
          <a:xfrm>
            <a:off x="12820335" y="7203578"/>
            <a:ext cx="1825995" cy="398827"/>
          </a:xfrm>
          <a:prstGeom prst="rect">
            <a:avLst/>
          </a:prstGeom>
        </p:spPr>
        <p:txBody>
          <a:bodyPr lIns="0" tIns="0" rIns="0" bIns="0" rtlCol="0" anchor="t">
            <a:spAutoFit/>
          </a:bodyPr>
          <a:lstStyle/>
          <a:p>
            <a:pPr>
              <a:lnSpc>
                <a:spcPts val="3400"/>
              </a:lnSpc>
            </a:pPr>
            <a:r>
              <a:rPr lang="en-US" sz="2000" dirty="0">
                <a:solidFill>
                  <a:schemeClr val="bg1"/>
                </a:solidFill>
                <a:latin typeface="Poppins"/>
                <a:ea typeface="Poppins"/>
                <a:cs typeface="Poppins"/>
                <a:sym typeface="Poppins"/>
                <a:hlinkClick r:id="rId9">
                  <a:extLst>
                    <a:ext uri="{A12FA001-AC4F-418D-AE19-62706E023703}">
                      <ahyp:hlinkClr xmlns:ahyp="http://schemas.microsoft.com/office/drawing/2018/hyperlinkcolor" val="tx"/>
                    </a:ext>
                  </a:extLst>
                </a:hlinkClick>
              </a:rPr>
              <a:t>Live Demo</a:t>
            </a:r>
            <a:endParaRPr lang="en-US" sz="2000" dirty="0">
              <a:solidFill>
                <a:schemeClr val="bg1"/>
              </a:solidFill>
              <a:latin typeface="Poppins"/>
              <a:ea typeface="Poppins"/>
              <a:cs typeface="Poppins"/>
              <a:sym typeface="Poppins"/>
            </a:endParaRPr>
          </a:p>
        </p:txBody>
      </p:sp>
      <p:sp>
        <p:nvSpPr>
          <p:cNvPr id="34" name="TextBox 34"/>
          <p:cNvSpPr txBox="1"/>
          <p:nvPr/>
        </p:nvSpPr>
        <p:spPr>
          <a:xfrm>
            <a:off x="7969224" y="6369194"/>
            <a:ext cx="9840715" cy="473042"/>
          </a:xfrm>
          <a:prstGeom prst="rect">
            <a:avLst/>
          </a:prstGeom>
        </p:spPr>
        <p:txBody>
          <a:bodyPr lIns="0" tIns="0" rIns="0" bIns="0" rtlCol="0" anchor="t">
            <a:spAutoFit/>
          </a:bodyPr>
          <a:lstStyle/>
          <a:p>
            <a:pPr algn="l">
              <a:lnSpc>
                <a:spcPts val="3910"/>
              </a:lnSpc>
            </a:pPr>
            <a:r>
              <a:rPr lang="en-US" sz="2300" spc="699" dirty="0">
                <a:solidFill>
                  <a:srgbClr val="FFFFFF"/>
                </a:solidFill>
                <a:latin typeface="Poppins"/>
                <a:ea typeface="Poppins"/>
                <a:cs typeface="Poppins"/>
                <a:sym typeface="Poppins"/>
              </a:rPr>
              <a:t>JULIET FAFALI KUKUIA | DATA ANALYST</a:t>
            </a:r>
          </a:p>
        </p:txBody>
      </p:sp>
      <p:sp>
        <p:nvSpPr>
          <p:cNvPr id="39" name="Freeform 39"/>
          <p:cNvSpPr/>
          <p:nvPr/>
        </p:nvSpPr>
        <p:spPr>
          <a:xfrm>
            <a:off x="14895984" y="2708968"/>
            <a:ext cx="994760" cy="994760"/>
          </a:xfrm>
          <a:custGeom>
            <a:avLst/>
            <a:gdLst/>
            <a:ahLst/>
            <a:cxnLst/>
            <a:rect l="l" t="t" r="r" b="b"/>
            <a:pathLst>
              <a:path w="994760" h="994760">
                <a:moveTo>
                  <a:pt x="0" y="0"/>
                </a:moveTo>
                <a:lnTo>
                  <a:pt x="994760" y="0"/>
                </a:lnTo>
                <a:lnTo>
                  <a:pt x="994760" y="994761"/>
                </a:lnTo>
                <a:lnTo>
                  <a:pt x="0" y="99476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40" name="Freeform 40"/>
          <p:cNvSpPr/>
          <p:nvPr/>
        </p:nvSpPr>
        <p:spPr>
          <a:xfrm>
            <a:off x="488342" y="2405681"/>
            <a:ext cx="540358" cy="540358"/>
          </a:xfrm>
          <a:custGeom>
            <a:avLst/>
            <a:gdLst/>
            <a:ahLst/>
            <a:cxnLst/>
            <a:rect l="l" t="t" r="r" b="b"/>
            <a:pathLst>
              <a:path w="540358" h="540358">
                <a:moveTo>
                  <a:pt x="0" y="0"/>
                </a:moveTo>
                <a:lnTo>
                  <a:pt x="540358" y="0"/>
                </a:lnTo>
                <a:lnTo>
                  <a:pt x="540358" y="540358"/>
                </a:lnTo>
                <a:lnTo>
                  <a:pt x="0" y="54035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44" name="TextBox 5">
            <a:extLst>
              <a:ext uri="{FF2B5EF4-FFF2-40B4-BE49-F238E27FC236}">
                <a16:creationId xmlns:a16="http://schemas.microsoft.com/office/drawing/2014/main" id="{D86178AF-A922-EBBD-227E-A4B29DFD0252}"/>
              </a:ext>
            </a:extLst>
          </p:cNvPr>
          <p:cNvSpPr txBox="1"/>
          <p:nvPr/>
        </p:nvSpPr>
        <p:spPr>
          <a:xfrm>
            <a:off x="0" y="-251407"/>
            <a:ext cx="18288000" cy="11567107"/>
          </a:xfrm>
          <a:prstGeom prst="rect">
            <a:avLst/>
          </a:prstGeom>
        </p:spPr>
        <p:txBody>
          <a:bodyPr lIns="50800" tIns="50800" rIns="50800" bIns="50800" rtlCol="0" anchor="ctr"/>
          <a:lstStyle/>
          <a:p>
            <a:pPr algn="ctr">
              <a:lnSpc>
                <a:spcPts val="2083"/>
              </a:lnSpc>
            </a:pPr>
            <a:endParaRPr/>
          </a:p>
        </p:txBody>
      </p:sp>
      <p:grpSp>
        <p:nvGrpSpPr>
          <p:cNvPr id="46" name="Group 20">
            <a:extLst>
              <a:ext uri="{FF2B5EF4-FFF2-40B4-BE49-F238E27FC236}">
                <a16:creationId xmlns:a16="http://schemas.microsoft.com/office/drawing/2014/main" id="{CFA1CE22-B438-350E-7AD3-6ACC7FF3D81D}"/>
              </a:ext>
            </a:extLst>
          </p:cNvPr>
          <p:cNvGrpSpPr/>
          <p:nvPr/>
        </p:nvGrpSpPr>
        <p:grpSpPr>
          <a:xfrm>
            <a:off x="8048170" y="2708968"/>
            <a:ext cx="2924629" cy="584077"/>
            <a:chOff x="0" y="0"/>
            <a:chExt cx="481371" cy="210437"/>
          </a:xfrm>
          <a:gradFill>
            <a:gsLst>
              <a:gs pos="0">
                <a:srgbClr val="BE2499"/>
              </a:gs>
              <a:gs pos="100000">
                <a:srgbClr val="3099FA">
                  <a:alpha val="100000"/>
                </a:srgbClr>
              </a:gs>
            </a:gsLst>
            <a:lin ang="0" scaled="0"/>
          </a:gradFill>
        </p:grpSpPr>
        <p:sp>
          <p:nvSpPr>
            <p:cNvPr id="47" name="Freeform 21">
              <a:extLst>
                <a:ext uri="{FF2B5EF4-FFF2-40B4-BE49-F238E27FC236}">
                  <a16:creationId xmlns:a16="http://schemas.microsoft.com/office/drawing/2014/main" id="{0E50D586-D339-2FDC-DBA7-E953FCE860D4}"/>
                </a:ext>
              </a:extLst>
            </p:cNvPr>
            <p:cNvSpPr/>
            <p:nvPr/>
          </p:nvSpPr>
          <p:spPr>
            <a:xfrm>
              <a:off x="0" y="0"/>
              <a:ext cx="481371" cy="210437"/>
            </a:xfrm>
            <a:custGeom>
              <a:avLst/>
              <a:gdLst/>
              <a:ahLst/>
              <a:cxnLst/>
              <a:rect l="l" t="t" r="r" b="b"/>
              <a:pathLst>
                <a:path w="481371" h="210437">
                  <a:moveTo>
                    <a:pt x="0" y="0"/>
                  </a:moveTo>
                  <a:lnTo>
                    <a:pt x="481371" y="0"/>
                  </a:lnTo>
                  <a:lnTo>
                    <a:pt x="481371" y="210437"/>
                  </a:lnTo>
                  <a:lnTo>
                    <a:pt x="0" y="210437"/>
                  </a:lnTo>
                  <a:close/>
                </a:path>
              </a:pathLst>
            </a:custGeom>
            <a:grpFill/>
          </p:spPr>
        </p:sp>
        <p:sp>
          <p:nvSpPr>
            <p:cNvPr id="48" name="TextBox 22">
              <a:extLst>
                <a:ext uri="{FF2B5EF4-FFF2-40B4-BE49-F238E27FC236}">
                  <a16:creationId xmlns:a16="http://schemas.microsoft.com/office/drawing/2014/main" id="{A0C413A5-2F7E-CF68-2BCF-84E143145E35}"/>
                </a:ext>
              </a:extLst>
            </p:cNvPr>
            <p:cNvSpPr txBox="1"/>
            <p:nvPr/>
          </p:nvSpPr>
          <p:spPr>
            <a:xfrm>
              <a:off x="0" y="28575"/>
              <a:ext cx="481371" cy="181862"/>
            </a:xfrm>
            <a:prstGeom prst="rect">
              <a:avLst/>
            </a:prstGeom>
            <a:grpFill/>
          </p:spPr>
          <p:txBody>
            <a:bodyPr lIns="50800" tIns="50800" rIns="50800" bIns="50800" rtlCol="0" anchor="ctr"/>
            <a:lstStyle/>
            <a:p>
              <a:pPr algn="ctr">
                <a:lnSpc>
                  <a:spcPts val="2661"/>
                </a:lnSpc>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B0C2B"/>
        </a:solidFill>
        <a:effectLst/>
      </p:bgPr>
    </p:bg>
    <p:spTree>
      <p:nvGrpSpPr>
        <p:cNvPr id="1" name="">
          <a:extLst>
            <a:ext uri="{FF2B5EF4-FFF2-40B4-BE49-F238E27FC236}">
              <a16:creationId xmlns:a16="http://schemas.microsoft.com/office/drawing/2014/main" id="{4DFAC5D1-2DF3-2D16-9F7C-0BF5134C922E}"/>
            </a:ext>
          </a:extLst>
        </p:cNvPr>
        <p:cNvGrpSpPr/>
        <p:nvPr/>
      </p:nvGrpSpPr>
      <p:grpSpPr>
        <a:xfrm>
          <a:off x="0" y="0"/>
          <a:ext cx="0" cy="0"/>
          <a:chOff x="0" y="0"/>
          <a:chExt cx="0" cy="0"/>
        </a:xfrm>
      </p:grpSpPr>
      <p:sp>
        <p:nvSpPr>
          <p:cNvPr id="31" name="Freeform 31">
            <a:extLst>
              <a:ext uri="{FF2B5EF4-FFF2-40B4-BE49-F238E27FC236}">
                <a16:creationId xmlns:a16="http://schemas.microsoft.com/office/drawing/2014/main" id="{E52CE8E9-A723-9FDD-445B-EFDB5D6BBE1F}"/>
              </a:ext>
            </a:extLst>
          </p:cNvPr>
          <p:cNvSpPr/>
          <p:nvPr/>
        </p:nvSpPr>
        <p:spPr>
          <a:xfrm>
            <a:off x="363621" y="7744550"/>
            <a:ext cx="2232546" cy="2232546"/>
          </a:xfrm>
          <a:custGeom>
            <a:avLst/>
            <a:gdLst/>
            <a:ahLst/>
            <a:cxnLst/>
            <a:rect l="l" t="t" r="r" b="b"/>
            <a:pathLst>
              <a:path w="2232546" h="2232546">
                <a:moveTo>
                  <a:pt x="0" y="0"/>
                </a:moveTo>
                <a:lnTo>
                  <a:pt x="2232546" y="0"/>
                </a:lnTo>
                <a:lnTo>
                  <a:pt x="2232546" y="2232545"/>
                </a:lnTo>
                <a:lnTo>
                  <a:pt x="0" y="223254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9" name="Freeform 39">
            <a:extLst>
              <a:ext uri="{FF2B5EF4-FFF2-40B4-BE49-F238E27FC236}">
                <a16:creationId xmlns:a16="http://schemas.microsoft.com/office/drawing/2014/main" id="{EEE92C9B-CC8E-5584-2833-0ABABF16FCD1}"/>
              </a:ext>
            </a:extLst>
          </p:cNvPr>
          <p:cNvSpPr/>
          <p:nvPr/>
        </p:nvSpPr>
        <p:spPr>
          <a:xfrm>
            <a:off x="17103914" y="-1814"/>
            <a:ext cx="994760" cy="994760"/>
          </a:xfrm>
          <a:custGeom>
            <a:avLst/>
            <a:gdLst/>
            <a:ahLst/>
            <a:cxnLst/>
            <a:rect l="l" t="t" r="r" b="b"/>
            <a:pathLst>
              <a:path w="994760" h="994760">
                <a:moveTo>
                  <a:pt x="0" y="0"/>
                </a:moveTo>
                <a:lnTo>
                  <a:pt x="994760" y="0"/>
                </a:lnTo>
                <a:lnTo>
                  <a:pt x="994760" y="994761"/>
                </a:lnTo>
                <a:lnTo>
                  <a:pt x="0" y="99476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0" name="Freeform 40">
            <a:extLst>
              <a:ext uri="{FF2B5EF4-FFF2-40B4-BE49-F238E27FC236}">
                <a16:creationId xmlns:a16="http://schemas.microsoft.com/office/drawing/2014/main" id="{FC6F55A3-38DA-6EFB-EC0B-ADF80D3AAC90}"/>
              </a:ext>
            </a:extLst>
          </p:cNvPr>
          <p:cNvSpPr/>
          <p:nvPr/>
        </p:nvSpPr>
        <p:spPr>
          <a:xfrm>
            <a:off x="7712049" y="2528766"/>
            <a:ext cx="540358" cy="540358"/>
          </a:xfrm>
          <a:custGeom>
            <a:avLst/>
            <a:gdLst/>
            <a:ahLst/>
            <a:cxnLst/>
            <a:rect l="l" t="t" r="r" b="b"/>
            <a:pathLst>
              <a:path w="540358" h="540358">
                <a:moveTo>
                  <a:pt x="0" y="0"/>
                </a:moveTo>
                <a:lnTo>
                  <a:pt x="540358" y="0"/>
                </a:lnTo>
                <a:lnTo>
                  <a:pt x="540358" y="540358"/>
                </a:lnTo>
                <a:lnTo>
                  <a:pt x="0" y="54035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44" name="TextBox 5">
            <a:extLst>
              <a:ext uri="{FF2B5EF4-FFF2-40B4-BE49-F238E27FC236}">
                <a16:creationId xmlns:a16="http://schemas.microsoft.com/office/drawing/2014/main" id="{CEFC7933-F182-561C-C19F-ABC59ECAF273}"/>
              </a:ext>
            </a:extLst>
          </p:cNvPr>
          <p:cNvSpPr txBox="1"/>
          <p:nvPr/>
        </p:nvSpPr>
        <p:spPr>
          <a:xfrm>
            <a:off x="0" y="-251407"/>
            <a:ext cx="18288000" cy="11567107"/>
          </a:xfrm>
          <a:prstGeom prst="rect">
            <a:avLst/>
          </a:prstGeom>
        </p:spPr>
        <p:txBody>
          <a:bodyPr lIns="50800" tIns="50800" rIns="50800" bIns="50800" rtlCol="0" anchor="ctr"/>
          <a:lstStyle/>
          <a:p>
            <a:pPr algn="ctr">
              <a:lnSpc>
                <a:spcPts val="2083"/>
              </a:lnSpc>
            </a:pPr>
            <a:endParaRPr/>
          </a:p>
        </p:txBody>
      </p:sp>
      <p:sp>
        <p:nvSpPr>
          <p:cNvPr id="12" name="TextBox 4">
            <a:extLst>
              <a:ext uri="{FF2B5EF4-FFF2-40B4-BE49-F238E27FC236}">
                <a16:creationId xmlns:a16="http://schemas.microsoft.com/office/drawing/2014/main" id="{A8C8AE70-7D10-95CB-5008-2696B61CD8D1}"/>
              </a:ext>
            </a:extLst>
          </p:cNvPr>
          <p:cNvSpPr txBox="1"/>
          <p:nvPr/>
        </p:nvSpPr>
        <p:spPr>
          <a:xfrm>
            <a:off x="8426123" y="3653652"/>
            <a:ext cx="9424630" cy="4160691"/>
          </a:xfrm>
          <a:prstGeom prst="rect">
            <a:avLst/>
          </a:prstGeom>
        </p:spPr>
        <p:txBody>
          <a:bodyPr wrap="square" lIns="0" tIns="0" rIns="0" bIns="0" rtlCol="0" anchor="t">
            <a:spAutoFit/>
          </a:bodyPr>
          <a:lstStyle/>
          <a:p>
            <a:pPr>
              <a:lnSpc>
                <a:spcPts val="4100"/>
              </a:lnSpc>
            </a:pPr>
            <a:r>
              <a:rPr lang="en-US" sz="2800" dirty="0">
                <a:solidFill>
                  <a:srgbClr val="FFFFFF"/>
                </a:solidFill>
                <a:latin typeface="Raleway" pitchFamily="2" charset="0"/>
                <a:ea typeface="Poppins"/>
                <a:cs typeface="Poppins"/>
                <a:sym typeface="Poppins"/>
              </a:rPr>
              <a:t>Focus: </a:t>
            </a:r>
          </a:p>
          <a:p>
            <a:pPr marL="914400" lvl="1" indent="-457200">
              <a:lnSpc>
                <a:spcPts val="4100"/>
              </a:lnSpc>
              <a:buFont typeface="Arial" panose="020B0604020202020204" pitchFamily="34" charset="0"/>
              <a:buChar char="•"/>
            </a:pPr>
            <a:r>
              <a:rPr lang="en-US" sz="2800" dirty="0">
                <a:solidFill>
                  <a:srgbClr val="FFFFFF"/>
                </a:solidFill>
                <a:latin typeface="Raleway" pitchFamily="2" charset="0"/>
                <a:ea typeface="Poppins"/>
                <a:cs typeface="Poppins"/>
                <a:sym typeface="Poppins"/>
              </a:rPr>
              <a:t>Building a Recommendation System that delivers </a:t>
            </a:r>
            <a:r>
              <a:rPr lang="en-US" sz="2800" dirty="0" err="1">
                <a:solidFill>
                  <a:srgbClr val="FFFFFF"/>
                </a:solidFill>
                <a:latin typeface="Raleway" pitchFamily="2" charset="0"/>
                <a:ea typeface="Poppins"/>
                <a:cs typeface="Poppins"/>
                <a:sym typeface="Poppins"/>
              </a:rPr>
              <a:t>personalised</a:t>
            </a:r>
            <a:r>
              <a:rPr lang="en-US" sz="2800" dirty="0">
                <a:solidFill>
                  <a:srgbClr val="FFFFFF"/>
                </a:solidFill>
                <a:latin typeface="Raleway" pitchFamily="2" charset="0"/>
                <a:ea typeface="Poppins"/>
                <a:cs typeface="Poppins"/>
                <a:sym typeface="Poppins"/>
              </a:rPr>
              <a:t> suggestions based on historical user data, such as past interactions, preferences, and behaviours. </a:t>
            </a:r>
          </a:p>
          <a:p>
            <a:pPr>
              <a:lnSpc>
                <a:spcPts val="4100"/>
              </a:lnSpc>
            </a:pPr>
            <a:r>
              <a:rPr lang="en-US" sz="2800" dirty="0">
                <a:solidFill>
                  <a:srgbClr val="FFFFFF"/>
                </a:solidFill>
                <a:latin typeface="Raleway" pitchFamily="2" charset="0"/>
                <a:ea typeface="Poppins"/>
                <a:cs typeface="Poppins"/>
                <a:sym typeface="Poppins"/>
              </a:rPr>
              <a:t>Aim:</a:t>
            </a:r>
          </a:p>
          <a:p>
            <a:pPr marL="914400" lvl="1" indent="-457200">
              <a:lnSpc>
                <a:spcPts val="4100"/>
              </a:lnSpc>
              <a:buFont typeface="Arial" panose="020B0604020202020204" pitchFamily="34" charset="0"/>
              <a:buChar char="•"/>
            </a:pPr>
            <a:r>
              <a:rPr lang="en-US" sz="2800" dirty="0">
                <a:solidFill>
                  <a:srgbClr val="FFFFFF"/>
                </a:solidFill>
                <a:latin typeface="Raleway" pitchFamily="2" charset="0"/>
                <a:ea typeface="Poppins"/>
                <a:cs typeface="Poppins"/>
                <a:sym typeface="Poppins"/>
              </a:rPr>
              <a:t> to enhance user satisfaction, engagement, and retention by offering relevant product. </a:t>
            </a:r>
          </a:p>
        </p:txBody>
      </p:sp>
      <p:sp>
        <p:nvSpPr>
          <p:cNvPr id="13" name="TextBox 3">
            <a:extLst>
              <a:ext uri="{FF2B5EF4-FFF2-40B4-BE49-F238E27FC236}">
                <a16:creationId xmlns:a16="http://schemas.microsoft.com/office/drawing/2014/main" id="{529EA327-F057-0CA2-378B-33884FDB7322}"/>
              </a:ext>
            </a:extLst>
          </p:cNvPr>
          <p:cNvSpPr txBox="1"/>
          <p:nvPr/>
        </p:nvSpPr>
        <p:spPr>
          <a:xfrm>
            <a:off x="7902490" y="1415462"/>
            <a:ext cx="9769403" cy="1899238"/>
          </a:xfrm>
          <a:prstGeom prst="rect">
            <a:avLst/>
          </a:prstGeom>
        </p:spPr>
        <p:txBody>
          <a:bodyPr wrap="square" lIns="0" tIns="0" rIns="0" bIns="0" rtlCol="0" anchor="t">
            <a:spAutoFit/>
          </a:bodyPr>
          <a:lstStyle/>
          <a:p>
            <a:pPr algn="r">
              <a:lnSpc>
                <a:spcPts val="7183"/>
              </a:lnSpc>
            </a:pPr>
            <a:r>
              <a:rPr lang="en-US" sz="8000" b="1" dirty="0">
                <a:solidFill>
                  <a:srgbClr val="FFFFFF"/>
                </a:solidFill>
                <a:ea typeface="Poppins Bold"/>
                <a:cs typeface="Poppins Bold"/>
                <a:sym typeface="Poppins Bold"/>
              </a:rPr>
              <a:t>Project</a:t>
            </a:r>
            <a:br>
              <a:rPr lang="en-US" sz="8000" b="1" dirty="0">
                <a:solidFill>
                  <a:srgbClr val="FFFFFF"/>
                </a:solidFill>
                <a:ea typeface="Poppins Bold"/>
                <a:cs typeface="Poppins Bold"/>
                <a:sym typeface="Poppins Bold"/>
              </a:rPr>
            </a:br>
            <a:r>
              <a:rPr lang="en-US" sz="8000" b="1" dirty="0">
                <a:solidFill>
                  <a:srgbClr val="FFFFFF"/>
                </a:solidFill>
                <a:ea typeface="Poppins Bold"/>
                <a:cs typeface="Poppins Bold"/>
                <a:sym typeface="Poppins Bold"/>
              </a:rPr>
              <a:t>Summary</a:t>
            </a:r>
          </a:p>
        </p:txBody>
      </p:sp>
      <p:grpSp>
        <p:nvGrpSpPr>
          <p:cNvPr id="17" name="Group 10">
            <a:extLst>
              <a:ext uri="{FF2B5EF4-FFF2-40B4-BE49-F238E27FC236}">
                <a16:creationId xmlns:a16="http://schemas.microsoft.com/office/drawing/2014/main" id="{A22AA499-2AE0-B253-C469-4C64239EF93F}"/>
              </a:ext>
            </a:extLst>
          </p:cNvPr>
          <p:cNvGrpSpPr/>
          <p:nvPr/>
        </p:nvGrpSpPr>
        <p:grpSpPr>
          <a:xfrm>
            <a:off x="1384779" y="3848101"/>
            <a:ext cx="6020186" cy="4038600"/>
            <a:chOff x="0" y="0"/>
            <a:chExt cx="812800" cy="435028"/>
          </a:xfrm>
        </p:grpSpPr>
        <p:sp>
          <p:nvSpPr>
            <p:cNvPr id="18" name="Freeform 11">
              <a:extLst>
                <a:ext uri="{FF2B5EF4-FFF2-40B4-BE49-F238E27FC236}">
                  <a16:creationId xmlns:a16="http://schemas.microsoft.com/office/drawing/2014/main" id="{BE4AA749-50A4-B5A9-AC23-1B7D6FA661A2}"/>
                </a:ext>
              </a:extLst>
            </p:cNvPr>
            <p:cNvSpPr/>
            <p:nvPr/>
          </p:nvSpPr>
          <p:spPr>
            <a:xfrm>
              <a:off x="0" y="0"/>
              <a:ext cx="812800" cy="435028"/>
            </a:xfrm>
            <a:custGeom>
              <a:avLst/>
              <a:gdLst/>
              <a:ahLst/>
              <a:cxnLst/>
              <a:rect l="l" t="t" r="r" b="b"/>
              <a:pathLst>
                <a:path w="812800" h="435028">
                  <a:moveTo>
                    <a:pt x="33940" y="0"/>
                  </a:moveTo>
                  <a:lnTo>
                    <a:pt x="778860" y="0"/>
                  </a:lnTo>
                  <a:cubicBezTo>
                    <a:pt x="797604" y="0"/>
                    <a:pt x="812800" y="15196"/>
                    <a:pt x="812800" y="33940"/>
                  </a:cubicBezTo>
                  <a:lnTo>
                    <a:pt x="812800" y="401088"/>
                  </a:lnTo>
                  <a:cubicBezTo>
                    <a:pt x="812800" y="419832"/>
                    <a:pt x="797604" y="435028"/>
                    <a:pt x="778860" y="435028"/>
                  </a:cubicBezTo>
                  <a:lnTo>
                    <a:pt x="33940" y="435028"/>
                  </a:lnTo>
                  <a:cubicBezTo>
                    <a:pt x="15196" y="435028"/>
                    <a:pt x="0" y="419832"/>
                    <a:pt x="0" y="401088"/>
                  </a:cubicBezTo>
                  <a:lnTo>
                    <a:pt x="0" y="33940"/>
                  </a:lnTo>
                  <a:cubicBezTo>
                    <a:pt x="0" y="15196"/>
                    <a:pt x="15196" y="0"/>
                    <a:pt x="33940" y="0"/>
                  </a:cubicBezTo>
                  <a:close/>
                </a:path>
              </a:pathLst>
            </a:custGeom>
            <a:blipFill>
              <a:blip r:embed="rId4"/>
              <a:stretch>
                <a:fillRect t="-12240" b="-12240"/>
              </a:stretch>
            </a:blipFill>
            <a:ln w="47625" cap="rnd">
              <a:gradFill>
                <a:gsLst>
                  <a:gs pos="0">
                    <a:srgbClr val="C6269E">
                      <a:alpha val="100000"/>
                    </a:srgbClr>
                  </a:gs>
                  <a:gs pos="100000">
                    <a:srgbClr val="DDBAFF">
                      <a:alpha val="12000"/>
                    </a:srgbClr>
                  </a:gs>
                </a:gsLst>
                <a:lin ang="0"/>
              </a:gradFill>
              <a:prstDash val="solid"/>
              <a:round/>
            </a:ln>
          </p:spPr>
        </p:sp>
      </p:grpSp>
      <p:grpSp>
        <p:nvGrpSpPr>
          <p:cNvPr id="19" name="Group 20">
            <a:extLst>
              <a:ext uri="{FF2B5EF4-FFF2-40B4-BE49-F238E27FC236}">
                <a16:creationId xmlns:a16="http://schemas.microsoft.com/office/drawing/2014/main" id="{07DC1115-C0B0-9D2A-A3B5-5CB3245DB461}"/>
              </a:ext>
            </a:extLst>
          </p:cNvPr>
          <p:cNvGrpSpPr/>
          <p:nvPr/>
        </p:nvGrpSpPr>
        <p:grpSpPr>
          <a:xfrm>
            <a:off x="363621" y="4307931"/>
            <a:ext cx="1827704" cy="799004"/>
            <a:chOff x="0" y="0"/>
            <a:chExt cx="481371" cy="210437"/>
          </a:xfrm>
        </p:grpSpPr>
        <p:sp>
          <p:nvSpPr>
            <p:cNvPr id="20" name="Freeform 21">
              <a:extLst>
                <a:ext uri="{FF2B5EF4-FFF2-40B4-BE49-F238E27FC236}">
                  <a16:creationId xmlns:a16="http://schemas.microsoft.com/office/drawing/2014/main" id="{C96CCC99-1C90-9514-80DC-2CC9B927DED5}"/>
                </a:ext>
              </a:extLst>
            </p:cNvPr>
            <p:cNvSpPr/>
            <p:nvPr/>
          </p:nvSpPr>
          <p:spPr>
            <a:xfrm>
              <a:off x="0" y="0"/>
              <a:ext cx="481371" cy="210437"/>
            </a:xfrm>
            <a:custGeom>
              <a:avLst/>
              <a:gdLst/>
              <a:ahLst/>
              <a:cxnLst/>
              <a:rect l="l" t="t" r="r" b="b"/>
              <a:pathLst>
                <a:path w="481371" h="210437">
                  <a:moveTo>
                    <a:pt x="0" y="0"/>
                  </a:moveTo>
                  <a:lnTo>
                    <a:pt x="481371" y="0"/>
                  </a:lnTo>
                  <a:lnTo>
                    <a:pt x="481371" y="210437"/>
                  </a:lnTo>
                  <a:lnTo>
                    <a:pt x="0" y="210437"/>
                  </a:lnTo>
                  <a:close/>
                </a:path>
              </a:pathLst>
            </a:custGeom>
            <a:gradFill rotWithShape="1">
              <a:gsLst>
                <a:gs pos="0">
                  <a:srgbClr val="C6269E">
                    <a:alpha val="100000"/>
                  </a:srgbClr>
                </a:gs>
                <a:gs pos="100000">
                  <a:srgbClr val="7A126A">
                    <a:alpha val="100000"/>
                  </a:srgbClr>
                </a:gs>
              </a:gsLst>
              <a:lin ang="0"/>
            </a:gradFill>
          </p:spPr>
        </p:sp>
        <p:sp>
          <p:nvSpPr>
            <p:cNvPr id="37" name="TextBox 22">
              <a:extLst>
                <a:ext uri="{FF2B5EF4-FFF2-40B4-BE49-F238E27FC236}">
                  <a16:creationId xmlns:a16="http://schemas.microsoft.com/office/drawing/2014/main" id="{F75B2B6C-BF6E-F59B-2090-3AF078426D89}"/>
                </a:ext>
              </a:extLst>
            </p:cNvPr>
            <p:cNvSpPr txBox="1"/>
            <p:nvPr/>
          </p:nvSpPr>
          <p:spPr>
            <a:xfrm>
              <a:off x="0" y="28575"/>
              <a:ext cx="481371" cy="181862"/>
            </a:xfrm>
            <a:prstGeom prst="rect">
              <a:avLst/>
            </a:prstGeom>
          </p:spPr>
          <p:txBody>
            <a:bodyPr lIns="50800" tIns="50800" rIns="50800" bIns="50800" rtlCol="0" anchor="ctr"/>
            <a:lstStyle/>
            <a:p>
              <a:pPr algn="ctr">
                <a:lnSpc>
                  <a:spcPts val="2661"/>
                </a:lnSpc>
              </a:pPr>
              <a:endParaRPr/>
            </a:p>
          </p:txBody>
        </p:sp>
      </p:grpSp>
      <p:grpSp>
        <p:nvGrpSpPr>
          <p:cNvPr id="38" name="Group 23">
            <a:extLst>
              <a:ext uri="{FF2B5EF4-FFF2-40B4-BE49-F238E27FC236}">
                <a16:creationId xmlns:a16="http://schemas.microsoft.com/office/drawing/2014/main" id="{93E20A92-1657-964E-F006-0D2914138CD0}"/>
              </a:ext>
            </a:extLst>
          </p:cNvPr>
          <p:cNvGrpSpPr/>
          <p:nvPr/>
        </p:nvGrpSpPr>
        <p:grpSpPr>
          <a:xfrm>
            <a:off x="6424703" y="6769130"/>
            <a:ext cx="1827704" cy="799004"/>
            <a:chOff x="0" y="0"/>
            <a:chExt cx="481371" cy="210437"/>
          </a:xfrm>
        </p:grpSpPr>
        <p:sp>
          <p:nvSpPr>
            <p:cNvPr id="41" name="Freeform 24">
              <a:extLst>
                <a:ext uri="{FF2B5EF4-FFF2-40B4-BE49-F238E27FC236}">
                  <a16:creationId xmlns:a16="http://schemas.microsoft.com/office/drawing/2014/main" id="{2EAFF3F1-AB0C-B409-036E-C809CC956AA4}"/>
                </a:ext>
              </a:extLst>
            </p:cNvPr>
            <p:cNvSpPr/>
            <p:nvPr/>
          </p:nvSpPr>
          <p:spPr>
            <a:xfrm>
              <a:off x="0" y="0"/>
              <a:ext cx="481371" cy="210437"/>
            </a:xfrm>
            <a:custGeom>
              <a:avLst/>
              <a:gdLst/>
              <a:ahLst/>
              <a:cxnLst/>
              <a:rect l="l" t="t" r="r" b="b"/>
              <a:pathLst>
                <a:path w="481371" h="210437">
                  <a:moveTo>
                    <a:pt x="0" y="0"/>
                  </a:moveTo>
                  <a:lnTo>
                    <a:pt x="481371" y="0"/>
                  </a:lnTo>
                  <a:lnTo>
                    <a:pt x="481371" y="210437"/>
                  </a:lnTo>
                  <a:lnTo>
                    <a:pt x="0" y="210437"/>
                  </a:lnTo>
                  <a:close/>
                </a:path>
              </a:pathLst>
            </a:custGeom>
            <a:gradFill rotWithShape="1">
              <a:gsLst>
                <a:gs pos="0">
                  <a:srgbClr val="C6269E">
                    <a:alpha val="100000"/>
                  </a:srgbClr>
                </a:gs>
                <a:gs pos="100000">
                  <a:srgbClr val="DDBAFF">
                    <a:alpha val="12000"/>
                  </a:srgbClr>
                </a:gs>
              </a:gsLst>
              <a:lin ang="0"/>
            </a:gradFill>
          </p:spPr>
        </p:sp>
        <p:sp>
          <p:nvSpPr>
            <p:cNvPr id="42" name="TextBox 25">
              <a:extLst>
                <a:ext uri="{FF2B5EF4-FFF2-40B4-BE49-F238E27FC236}">
                  <a16:creationId xmlns:a16="http://schemas.microsoft.com/office/drawing/2014/main" id="{7DFD3D12-90F4-311D-8BF6-6A57A12F23BF}"/>
                </a:ext>
              </a:extLst>
            </p:cNvPr>
            <p:cNvSpPr txBox="1"/>
            <p:nvPr/>
          </p:nvSpPr>
          <p:spPr>
            <a:xfrm>
              <a:off x="0" y="28575"/>
              <a:ext cx="481371" cy="181862"/>
            </a:xfrm>
            <a:prstGeom prst="rect">
              <a:avLst/>
            </a:prstGeom>
          </p:spPr>
          <p:txBody>
            <a:bodyPr lIns="50800" tIns="50800" rIns="50800" bIns="50800" rtlCol="0" anchor="ctr"/>
            <a:lstStyle/>
            <a:p>
              <a:pPr algn="ctr">
                <a:lnSpc>
                  <a:spcPts val="2661"/>
                </a:lnSpc>
              </a:pPr>
              <a:endParaRPr/>
            </a:p>
          </p:txBody>
        </p:sp>
      </p:grpSp>
      <p:sp>
        <p:nvSpPr>
          <p:cNvPr id="43" name="TextBox 4">
            <a:extLst>
              <a:ext uri="{FF2B5EF4-FFF2-40B4-BE49-F238E27FC236}">
                <a16:creationId xmlns:a16="http://schemas.microsoft.com/office/drawing/2014/main" id="{C02A106F-9F5E-9F28-022F-058192B869FD}"/>
              </a:ext>
            </a:extLst>
          </p:cNvPr>
          <p:cNvSpPr txBox="1"/>
          <p:nvPr/>
        </p:nvSpPr>
        <p:spPr>
          <a:xfrm rot="16200000">
            <a:off x="129306" y="8890751"/>
            <a:ext cx="1078468" cy="218008"/>
          </a:xfrm>
          <a:prstGeom prst="rect">
            <a:avLst/>
          </a:prstGeom>
        </p:spPr>
        <p:txBody>
          <a:bodyPr lIns="0" tIns="0" rIns="0" bIns="0" rtlCol="0" anchor="t">
            <a:spAutoFit/>
          </a:bodyPr>
          <a:lstStyle/>
          <a:p>
            <a:pPr algn="ctr">
              <a:lnSpc>
                <a:spcPts val="1725"/>
              </a:lnSpc>
              <a:spcBef>
                <a:spcPct val="0"/>
              </a:spcBef>
            </a:pPr>
            <a:r>
              <a:rPr lang="en-US" sz="1658" dirty="0">
                <a:solidFill>
                  <a:srgbClr val="FFFFFF"/>
                </a:solidFill>
                <a:latin typeface="Raleway"/>
                <a:ea typeface="Raleway"/>
                <a:cs typeface="Raleway"/>
                <a:sym typeface="Raleway"/>
              </a:rPr>
              <a:t>Page  2</a:t>
            </a:r>
          </a:p>
        </p:txBody>
      </p:sp>
      <p:sp>
        <p:nvSpPr>
          <p:cNvPr id="45" name="TextBox 8">
            <a:extLst>
              <a:ext uri="{FF2B5EF4-FFF2-40B4-BE49-F238E27FC236}">
                <a16:creationId xmlns:a16="http://schemas.microsoft.com/office/drawing/2014/main" id="{C371DFAB-2819-87D1-3597-D329C9B3031C}"/>
              </a:ext>
            </a:extLst>
          </p:cNvPr>
          <p:cNvSpPr txBox="1"/>
          <p:nvPr/>
        </p:nvSpPr>
        <p:spPr>
          <a:xfrm>
            <a:off x="15309115" y="9063294"/>
            <a:ext cx="1716617" cy="277925"/>
          </a:xfrm>
          <a:prstGeom prst="rect">
            <a:avLst/>
          </a:prstGeom>
        </p:spPr>
        <p:txBody>
          <a:bodyPr lIns="0" tIns="0" rIns="0" bIns="0" rtlCol="0" anchor="t">
            <a:spAutoFit/>
          </a:bodyPr>
          <a:lstStyle/>
          <a:p>
            <a:pPr algn="l">
              <a:lnSpc>
                <a:spcPts val="2037"/>
              </a:lnSpc>
              <a:spcBef>
                <a:spcPct val="0"/>
              </a:spcBef>
            </a:pPr>
            <a:r>
              <a:rPr lang="en-US" sz="1958">
                <a:solidFill>
                  <a:srgbClr val="FFFFFF"/>
                </a:solidFill>
                <a:latin typeface="Raleway"/>
                <a:ea typeface="Raleway"/>
                <a:cs typeface="Raleway"/>
                <a:sym typeface="Raleway"/>
              </a:rPr>
              <a:t>Next Slide</a:t>
            </a:r>
          </a:p>
        </p:txBody>
      </p:sp>
      <p:sp>
        <p:nvSpPr>
          <p:cNvPr id="46" name="Freeform 9">
            <a:extLst>
              <a:ext uri="{FF2B5EF4-FFF2-40B4-BE49-F238E27FC236}">
                <a16:creationId xmlns:a16="http://schemas.microsoft.com/office/drawing/2014/main" id="{7A97026B-A920-EC73-E54F-E551C628FB4F}"/>
              </a:ext>
            </a:extLst>
          </p:cNvPr>
          <p:cNvSpPr/>
          <p:nvPr/>
        </p:nvSpPr>
        <p:spPr>
          <a:xfrm flipH="1">
            <a:off x="16998830" y="8999755"/>
            <a:ext cx="416017" cy="418299"/>
          </a:xfrm>
          <a:custGeom>
            <a:avLst/>
            <a:gdLst/>
            <a:ahLst/>
            <a:cxnLst/>
            <a:rect l="l" t="t" r="r" b="b"/>
            <a:pathLst>
              <a:path w="416017" h="418299">
                <a:moveTo>
                  <a:pt x="416017" y="0"/>
                </a:moveTo>
                <a:lnTo>
                  <a:pt x="0" y="0"/>
                </a:lnTo>
                <a:lnTo>
                  <a:pt x="0" y="418299"/>
                </a:lnTo>
                <a:lnTo>
                  <a:pt x="416017" y="418299"/>
                </a:lnTo>
                <a:lnTo>
                  <a:pt x="416017" y="0"/>
                </a:lnTo>
                <a:close/>
              </a:path>
            </a:pathLst>
          </a:custGeom>
          <a:blipFill>
            <a:blip r:embed="rId5">
              <a:extLst>
                <a:ext uri="{96DAC541-7B7A-43D3-8B79-37D633B846F1}">
                  <asvg:svgBlip xmlns:asvg="http://schemas.microsoft.com/office/drawing/2016/SVG/main" r:embed="rId6"/>
                </a:ext>
              </a:extLst>
            </a:blip>
            <a:stretch>
              <a:fillRect/>
            </a:stretch>
          </a:blipFill>
        </p:spPr>
      </p:sp>
    </p:spTree>
    <p:extLst>
      <p:ext uri="{BB962C8B-B14F-4D97-AF65-F5344CB8AC3E}">
        <p14:creationId xmlns:p14="http://schemas.microsoft.com/office/powerpoint/2010/main" val="30400601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59" b="-9259"/>
            </a:stretch>
          </a:blipFill>
        </p:spPr>
      </p:sp>
      <p:grpSp>
        <p:nvGrpSpPr>
          <p:cNvPr id="5" name="Group 5"/>
          <p:cNvGrpSpPr/>
          <p:nvPr/>
        </p:nvGrpSpPr>
        <p:grpSpPr>
          <a:xfrm>
            <a:off x="982595" y="1269097"/>
            <a:ext cx="10330142" cy="7523252"/>
            <a:chOff x="-61474" y="-192881"/>
            <a:chExt cx="13773524" cy="10031002"/>
          </a:xfrm>
        </p:grpSpPr>
        <p:grpSp>
          <p:nvGrpSpPr>
            <p:cNvPr id="6" name="Group 6"/>
            <p:cNvGrpSpPr/>
            <p:nvPr/>
          </p:nvGrpSpPr>
          <p:grpSpPr>
            <a:xfrm>
              <a:off x="-61474" y="-192881"/>
              <a:ext cx="13773524" cy="10031002"/>
              <a:chOff x="-12143" y="-38100"/>
              <a:chExt cx="2720696" cy="1981433"/>
            </a:xfrm>
          </p:grpSpPr>
          <p:sp>
            <p:nvSpPr>
              <p:cNvPr id="7" name="Freeform 7"/>
              <p:cNvSpPr/>
              <p:nvPr/>
            </p:nvSpPr>
            <p:spPr>
              <a:xfrm>
                <a:off x="-12143" y="-28673"/>
                <a:ext cx="2708553" cy="1943333"/>
              </a:xfrm>
              <a:custGeom>
                <a:avLst/>
                <a:gdLst/>
                <a:ahLst/>
                <a:cxnLst/>
                <a:rect l="l" t="t" r="r" b="b"/>
                <a:pathLst>
                  <a:path w="2708553" h="1943333">
                    <a:moveTo>
                      <a:pt x="15056" y="0"/>
                    </a:moveTo>
                    <a:lnTo>
                      <a:pt x="2693497" y="0"/>
                    </a:lnTo>
                    <a:cubicBezTo>
                      <a:pt x="2701812" y="0"/>
                      <a:pt x="2708553" y="6741"/>
                      <a:pt x="2708553" y="15056"/>
                    </a:cubicBezTo>
                    <a:lnTo>
                      <a:pt x="2708553" y="1928276"/>
                    </a:lnTo>
                    <a:cubicBezTo>
                      <a:pt x="2708553" y="1932269"/>
                      <a:pt x="2706967" y="1936099"/>
                      <a:pt x="2704143" y="1938923"/>
                    </a:cubicBezTo>
                    <a:cubicBezTo>
                      <a:pt x="2701320" y="1941746"/>
                      <a:pt x="2697490" y="1943333"/>
                      <a:pt x="2693497" y="1943333"/>
                    </a:cubicBezTo>
                    <a:lnTo>
                      <a:pt x="15056" y="1943333"/>
                    </a:lnTo>
                    <a:cubicBezTo>
                      <a:pt x="6741" y="1943333"/>
                      <a:pt x="0" y="1936592"/>
                      <a:pt x="0" y="1928276"/>
                    </a:cubicBezTo>
                    <a:lnTo>
                      <a:pt x="0" y="15056"/>
                    </a:lnTo>
                    <a:cubicBezTo>
                      <a:pt x="0" y="11063"/>
                      <a:pt x="1586" y="7233"/>
                      <a:pt x="4410" y="4410"/>
                    </a:cubicBezTo>
                    <a:cubicBezTo>
                      <a:pt x="7233" y="1586"/>
                      <a:pt x="11063" y="0"/>
                      <a:pt x="15056" y="0"/>
                    </a:cubicBezTo>
                    <a:close/>
                  </a:path>
                </a:pathLst>
              </a:custGeom>
              <a:solidFill>
                <a:srgbClr val="04001E"/>
              </a:solidFill>
              <a:ln w="38100" cap="sq">
                <a:solidFill>
                  <a:srgbClr val="E5E1DA"/>
                </a:solidFill>
                <a:prstDash val="solid"/>
                <a:miter/>
              </a:ln>
            </p:spPr>
          </p:sp>
          <p:sp>
            <p:nvSpPr>
              <p:cNvPr id="8" name="TextBox 8"/>
              <p:cNvSpPr txBox="1"/>
              <p:nvPr/>
            </p:nvSpPr>
            <p:spPr>
              <a:xfrm>
                <a:off x="0" y="-38100"/>
                <a:ext cx="2708553" cy="1981433"/>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449975" y="1519482"/>
              <a:ext cx="12774985" cy="2945508"/>
            </a:xfrm>
            <a:prstGeom prst="rect">
              <a:avLst/>
            </a:prstGeom>
          </p:spPr>
          <p:txBody>
            <a:bodyPr wrap="square" lIns="0" tIns="0" rIns="0" bIns="0" rtlCol="0" anchor="t">
              <a:spAutoFit/>
            </a:bodyPr>
            <a:lstStyle/>
            <a:p>
              <a:pPr algn="l">
                <a:lnSpc>
                  <a:spcPts val="8730"/>
                </a:lnSpc>
              </a:pPr>
              <a:r>
                <a:rPr lang="en-US" sz="7200" b="1" dirty="0">
                  <a:solidFill>
                    <a:srgbClr val="FFFFFF"/>
                  </a:solidFill>
                  <a:ea typeface="Archivo Black"/>
                  <a:cs typeface="Archivo Black"/>
                  <a:sym typeface="Archivo Black"/>
                </a:rPr>
                <a:t>Business Overview &amp; Questions</a:t>
              </a:r>
            </a:p>
          </p:txBody>
        </p:sp>
        <p:sp>
          <p:nvSpPr>
            <p:cNvPr id="10" name="TextBox 10"/>
            <p:cNvSpPr txBox="1"/>
            <p:nvPr/>
          </p:nvSpPr>
          <p:spPr>
            <a:xfrm>
              <a:off x="1082468" y="4563544"/>
              <a:ext cx="12258281" cy="4225860"/>
            </a:xfrm>
            <a:prstGeom prst="rect">
              <a:avLst/>
            </a:prstGeom>
          </p:spPr>
          <p:txBody>
            <a:bodyPr wrap="square" lIns="0" tIns="0" rIns="0" bIns="0" rtlCol="0" anchor="t">
              <a:spAutoFit/>
            </a:bodyPr>
            <a:lstStyle/>
            <a:p>
              <a:pPr marL="0" lvl="0" indent="0" algn="l">
                <a:lnSpc>
                  <a:spcPct val="150000"/>
                </a:lnSpc>
                <a:spcBef>
                  <a:spcPct val="0"/>
                </a:spcBef>
              </a:pPr>
              <a:r>
                <a:rPr lang="en-US" sz="2800" u="none" dirty="0">
                  <a:solidFill>
                    <a:srgbClr val="FFFFFF"/>
                  </a:solidFill>
                  <a:latin typeface="Red Hat Display"/>
                  <a:ea typeface="Red Hat Display"/>
                  <a:cs typeface="Red Hat Display"/>
                  <a:sym typeface="Red Hat Display"/>
                </a:rPr>
                <a:t>• Task 1: Recommender System – Hybrid (Rule-based + Logistic Regression)</a:t>
              </a:r>
            </a:p>
            <a:p>
              <a:pPr marL="0" lvl="0" indent="0" algn="l">
                <a:lnSpc>
                  <a:spcPct val="150000"/>
                </a:lnSpc>
                <a:spcBef>
                  <a:spcPct val="0"/>
                </a:spcBef>
              </a:pPr>
              <a:r>
                <a:rPr lang="en-US" sz="2800" u="none" dirty="0">
                  <a:solidFill>
                    <a:srgbClr val="FFFFFF"/>
                  </a:solidFill>
                  <a:latin typeface="Red Hat Display"/>
                  <a:ea typeface="Red Hat Display"/>
                  <a:cs typeface="Red Hat Display"/>
                  <a:sym typeface="Red Hat Display"/>
                </a:rPr>
                <a:t>• Task 2: Anomaly Detection – Isolation Forest</a:t>
              </a:r>
            </a:p>
            <a:p>
              <a:pPr lvl="2">
                <a:lnSpc>
                  <a:spcPct val="150000"/>
                </a:lnSpc>
                <a:spcBef>
                  <a:spcPct val="0"/>
                </a:spcBef>
              </a:pPr>
              <a:r>
                <a:rPr lang="en-US" sz="2800" u="none" dirty="0">
                  <a:solidFill>
                    <a:srgbClr val="FFFFFF"/>
                  </a:solidFill>
                  <a:latin typeface="Red Hat Display"/>
                  <a:ea typeface="Red Hat Display"/>
                  <a:cs typeface="Red Hat Display"/>
                  <a:sym typeface="Red Hat Display"/>
                </a:rPr>
                <a:t>• </a:t>
              </a:r>
              <a:r>
                <a:rPr lang="en-US" sz="2800" u="none" dirty="0" err="1">
                  <a:solidFill>
                    <a:srgbClr val="FFFFFF"/>
                  </a:solidFill>
                  <a:latin typeface="Red Hat Display"/>
                  <a:ea typeface="Red Hat Display"/>
                  <a:cs typeface="Red Hat Display"/>
                  <a:sym typeface="Red Hat Display"/>
                </a:rPr>
                <a:t>Streamlit</a:t>
              </a:r>
              <a:r>
                <a:rPr lang="en-US" sz="2800" u="none" dirty="0">
                  <a:solidFill>
                    <a:srgbClr val="FFFFFF"/>
                  </a:solidFill>
                  <a:latin typeface="Red Hat Display"/>
                  <a:ea typeface="Red Hat Display"/>
                  <a:cs typeface="Red Hat Display"/>
                  <a:sym typeface="Red Hat Display"/>
                </a:rPr>
                <a:t> app with interactive tabs</a:t>
              </a:r>
            </a:p>
            <a:p>
              <a:pPr lvl="2">
                <a:lnSpc>
                  <a:spcPct val="150000"/>
                </a:lnSpc>
                <a:spcBef>
                  <a:spcPct val="0"/>
                </a:spcBef>
              </a:pPr>
              <a:r>
                <a:rPr lang="en-US" sz="2800" u="none" dirty="0">
                  <a:solidFill>
                    <a:srgbClr val="FFFFFF"/>
                  </a:solidFill>
                  <a:latin typeface="Red Hat Display"/>
                  <a:ea typeface="Red Hat Display"/>
                  <a:cs typeface="Red Hat Display"/>
                  <a:sym typeface="Red Hat Display"/>
                </a:rPr>
                <a:t>• Improved accuracy and fraud detection</a:t>
              </a:r>
            </a:p>
          </p:txBody>
        </p:sp>
      </p:grpSp>
      <p:grpSp>
        <p:nvGrpSpPr>
          <p:cNvPr id="11" name="Group 11"/>
          <p:cNvGrpSpPr/>
          <p:nvPr/>
        </p:nvGrpSpPr>
        <p:grpSpPr>
          <a:xfrm>
            <a:off x="11725935" y="-2607264"/>
            <a:ext cx="4395385" cy="15773061"/>
            <a:chOff x="0" y="0"/>
            <a:chExt cx="5860514" cy="21030749"/>
          </a:xfrm>
        </p:grpSpPr>
        <p:sp>
          <p:nvSpPr>
            <p:cNvPr id="12" name="AutoShape 12"/>
            <p:cNvSpPr/>
            <p:nvPr/>
          </p:nvSpPr>
          <p:spPr>
            <a:xfrm flipV="1">
              <a:off x="263156" y="0"/>
              <a:ext cx="0" cy="21030749"/>
            </a:xfrm>
            <a:prstGeom prst="line">
              <a:avLst/>
            </a:prstGeom>
            <a:ln w="25400" cap="flat">
              <a:solidFill>
                <a:srgbClr val="2E383F"/>
              </a:solidFill>
              <a:prstDash val="solid"/>
              <a:headEnd type="none" w="sm" len="sm"/>
              <a:tailEnd type="none" w="sm" len="sm"/>
            </a:ln>
          </p:spPr>
        </p:sp>
        <p:grpSp>
          <p:nvGrpSpPr>
            <p:cNvPr id="13" name="Group 13"/>
            <p:cNvGrpSpPr/>
            <p:nvPr/>
          </p:nvGrpSpPr>
          <p:grpSpPr>
            <a:xfrm rot="-5400000">
              <a:off x="0" y="13112559"/>
              <a:ext cx="526312" cy="526312"/>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FFFF"/>
              </a:solidFill>
              <a:ln cap="sq">
                <a:noFill/>
                <a:prstDash val="solid"/>
                <a:miter/>
              </a:ln>
            </p:spPr>
          </p:sp>
          <p:sp>
            <p:nvSpPr>
              <p:cNvPr id="15" name="TextBox 15"/>
              <p:cNvSpPr txBox="1"/>
              <p:nvPr/>
            </p:nvSpPr>
            <p:spPr>
              <a:xfrm>
                <a:off x="190500" y="228600"/>
                <a:ext cx="431800" cy="393700"/>
              </a:xfrm>
              <a:prstGeom prst="rect">
                <a:avLst/>
              </a:prstGeom>
            </p:spPr>
            <p:txBody>
              <a:bodyPr lIns="50800" tIns="50800" rIns="50800" bIns="50800" rtlCol="0" anchor="ctr"/>
              <a:lstStyle/>
              <a:p>
                <a:pPr marL="0" lvl="0" indent="0" algn="ctr">
                  <a:lnSpc>
                    <a:spcPts val="2266"/>
                  </a:lnSpc>
                  <a:spcBef>
                    <a:spcPct val="0"/>
                  </a:spcBef>
                </a:pPr>
                <a:endParaRPr/>
              </a:p>
            </p:txBody>
          </p:sp>
        </p:grpSp>
        <p:grpSp>
          <p:nvGrpSpPr>
            <p:cNvPr id="16" name="Group 16"/>
            <p:cNvGrpSpPr/>
            <p:nvPr/>
          </p:nvGrpSpPr>
          <p:grpSpPr>
            <a:xfrm rot="-5400000">
              <a:off x="0" y="9398595"/>
              <a:ext cx="526312" cy="526312"/>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FFFF"/>
              </a:solidFill>
              <a:ln cap="sq">
                <a:noFill/>
                <a:prstDash val="solid"/>
                <a:miter/>
              </a:ln>
            </p:spPr>
          </p:sp>
          <p:sp>
            <p:nvSpPr>
              <p:cNvPr id="18" name="TextBox 18"/>
              <p:cNvSpPr txBox="1"/>
              <p:nvPr/>
            </p:nvSpPr>
            <p:spPr>
              <a:xfrm>
                <a:off x="190500" y="228600"/>
                <a:ext cx="431800" cy="393700"/>
              </a:xfrm>
              <a:prstGeom prst="rect">
                <a:avLst/>
              </a:prstGeom>
            </p:spPr>
            <p:txBody>
              <a:bodyPr lIns="50800" tIns="50800" rIns="50800" bIns="50800" rtlCol="0" anchor="ctr"/>
              <a:lstStyle/>
              <a:p>
                <a:pPr marL="0" lvl="0" indent="0" algn="ctr">
                  <a:lnSpc>
                    <a:spcPts val="2266"/>
                  </a:lnSpc>
                  <a:spcBef>
                    <a:spcPct val="0"/>
                  </a:spcBef>
                </a:pPr>
                <a:endParaRPr/>
              </a:p>
            </p:txBody>
          </p:sp>
        </p:grpSp>
        <p:grpSp>
          <p:nvGrpSpPr>
            <p:cNvPr id="19" name="Group 19"/>
            <p:cNvGrpSpPr/>
            <p:nvPr/>
          </p:nvGrpSpPr>
          <p:grpSpPr>
            <a:xfrm rot="-5400000">
              <a:off x="0" y="5531489"/>
              <a:ext cx="526312" cy="526312"/>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FFFF"/>
              </a:solidFill>
              <a:ln cap="sq">
                <a:noFill/>
                <a:prstDash val="solid"/>
                <a:miter/>
              </a:ln>
            </p:spPr>
          </p:sp>
          <p:sp>
            <p:nvSpPr>
              <p:cNvPr id="21" name="TextBox 21"/>
              <p:cNvSpPr txBox="1"/>
              <p:nvPr/>
            </p:nvSpPr>
            <p:spPr>
              <a:xfrm>
                <a:off x="190500" y="228600"/>
                <a:ext cx="431800" cy="393700"/>
              </a:xfrm>
              <a:prstGeom prst="rect">
                <a:avLst/>
              </a:prstGeom>
            </p:spPr>
            <p:txBody>
              <a:bodyPr lIns="50800" tIns="50800" rIns="50800" bIns="50800" rtlCol="0" anchor="ctr"/>
              <a:lstStyle/>
              <a:p>
                <a:pPr marL="0" lvl="0" indent="0" algn="ctr">
                  <a:lnSpc>
                    <a:spcPts val="2266"/>
                  </a:lnSpc>
                  <a:spcBef>
                    <a:spcPct val="0"/>
                  </a:spcBef>
                </a:pPr>
                <a:endParaRPr/>
              </a:p>
            </p:txBody>
          </p:sp>
        </p:grpSp>
        <p:sp>
          <p:nvSpPr>
            <p:cNvPr id="22" name="TextBox 22"/>
            <p:cNvSpPr txBox="1"/>
            <p:nvPr/>
          </p:nvSpPr>
          <p:spPr>
            <a:xfrm>
              <a:off x="832689" y="5368330"/>
              <a:ext cx="2929765" cy="931334"/>
            </a:xfrm>
            <a:prstGeom prst="rect">
              <a:avLst/>
            </a:prstGeom>
          </p:spPr>
          <p:txBody>
            <a:bodyPr lIns="0" tIns="0" rIns="0" bIns="0" rtlCol="0" anchor="t">
              <a:spAutoFit/>
            </a:bodyPr>
            <a:lstStyle/>
            <a:p>
              <a:pPr algn="l">
                <a:lnSpc>
                  <a:spcPts val="5150"/>
                </a:lnSpc>
              </a:pPr>
              <a:r>
                <a:rPr lang="en-US" sz="5000" b="1">
                  <a:solidFill>
                    <a:srgbClr val="FFFFFF"/>
                  </a:solidFill>
                  <a:latin typeface="Red Hat Display Bold"/>
                  <a:ea typeface="Red Hat Display Bold"/>
                  <a:cs typeface="Red Hat Display Bold"/>
                  <a:sym typeface="Red Hat Display Bold"/>
                </a:rPr>
                <a:t>01</a:t>
              </a:r>
            </a:p>
          </p:txBody>
        </p:sp>
        <p:sp>
          <p:nvSpPr>
            <p:cNvPr id="23" name="TextBox 23"/>
            <p:cNvSpPr txBox="1"/>
            <p:nvPr/>
          </p:nvSpPr>
          <p:spPr>
            <a:xfrm>
              <a:off x="832689" y="9234184"/>
              <a:ext cx="2929765" cy="931334"/>
            </a:xfrm>
            <a:prstGeom prst="rect">
              <a:avLst/>
            </a:prstGeom>
          </p:spPr>
          <p:txBody>
            <a:bodyPr lIns="0" tIns="0" rIns="0" bIns="0" rtlCol="0" anchor="t">
              <a:spAutoFit/>
            </a:bodyPr>
            <a:lstStyle/>
            <a:p>
              <a:pPr algn="l">
                <a:lnSpc>
                  <a:spcPts val="5150"/>
                </a:lnSpc>
              </a:pPr>
              <a:r>
                <a:rPr lang="en-US" sz="5000" b="1">
                  <a:solidFill>
                    <a:srgbClr val="FFFFFF"/>
                  </a:solidFill>
                  <a:latin typeface="Red Hat Display Bold"/>
                  <a:ea typeface="Red Hat Display Bold"/>
                  <a:cs typeface="Red Hat Display Bold"/>
                  <a:sym typeface="Red Hat Display Bold"/>
                </a:rPr>
                <a:t>02</a:t>
              </a:r>
            </a:p>
          </p:txBody>
        </p:sp>
        <p:sp>
          <p:nvSpPr>
            <p:cNvPr id="24" name="TextBox 24"/>
            <p:cNvSpPr txBox="1"/>
            <p:nvPr/>
          </p:nvSpPr>
          <p:spPr>
            <a:xfrm>
              <a:off x="832689" y="6531439"/>
              <a:ext cx="4702057" cy="1588299"/>
            </a:xfrm>
            <a:prstGeom prst="rect">
              <a:avLst/>
            </a:prstGeom>
          </p:spPr>
          <p:txBody>
            <a:bodyPr lIns="0" tIns="0" rIns="0" bIns="0" rtlCol="0" anchor="t">
              <a:spAutoFit/>
            </a:bodyPr>
            <a:lstStyle/>
            <a:p>
              <a:pPr algn="l">
                <a:lnSpc>
                  <a:spcPts val="2340"/>
                </a:lnSpc>
              </a:pPr>
              <a:r>
                <a:rPr lang="en-US" sz="2400" dirty="0">
                  <a:solidFill>
                    <a:srgbClr val="FFFFFF"/>
                  </a:solidFill>
                  <a:latin typeface="Red Hat Display"/>
                  <a:ea typeface="Red Hat Display"/>
                  <a:cs typeface="Red Hat Display"/>
                  <a:sym typeface="Red Hat Display"/>
                </a:rPr>
                <a:t>What categories should we recommend next for a user given their recent </a:t>
              </a:r>
              <a:r>
                <a:rPr lang="en-US" sz="2400" dirty="0" err="1">
                  <a:solidFill>
                    <a:srgbClr val="FFFFFF"/>
                  </a:solidFill>
                  <a:latin typeface="Red Hat Display"/>
                  <a:ea typeface="Red Hat Display"/>
                  <a:cs typeface="Red Hat Display"/>
                  <a:sym typeface="Red Hat Display"/>
                </a:rPr>
                <a:t>behaviour</a:t>
              </a:r>
              <a:r>
                <a:rPr lang="en-US" sz="2400" dirty="0">
                  <a:solidFill>
                    <a:srgbClr val="FFFFFF"/>
                  </a:solidFill>
                  <a:latin typeface="Red Hat Display"/>
                  <a:ea typeface="Red Hat Display"/>
                  <a:cs typeface="Red Hat Display"/>
                  <a:sym typeface="Red Hat Display"/>
                </a:rPr>
                <a:t>?</a:t>
              </a:r>
            </a:p>
          </p:txBody>
        </p:sp>
        <p:sp>
          <p:nvSpPr>
            <p:cNvPr id="25" name="TextBox 25"/>
            <p:cNvSpPr txBox="1"/>
            <p:nvPr/>
          </p:nvSpPr>
          <p:spPr>
            <a:xfrm>
              <a:off x="832689" y="10397292"/>
              <a:ext cx="5027825" cy="1981568"/>
            </a:xfrm>
            <a:prstGeom prst="rect">
              <a:avLst/>
            </a:prstGeom>
          </p:spPr>
          <p:txBody>
            <a:bodyPr lIns="0" tIns="0" rIns="0" bIns="0" rtlCol="0" anchor="t">
              <a:spAutoFit/>
            </a:bodyPr>
            <a:lstStyle/>
            <a:p>
              <a:pPr algn="l">
                <a:lnSpc>
                  <a:spcPts val="2340"/>
                </a:lnSpc>
              </a:pPr>
              <a:r>
                <a:rPr lang="en-US" sz="2400" dirty="0">
                  <a:solidFill>
                    <a:srgbClr val="FFFFFF"/>
                  </a:solidFill>
                  <a:latin typeface="Red Hat Display"/>
                  <a:ea typeface="Red Hat Display"/>
                  <a:cs typeface="Red Hat Display"/>
                  <a:sym typeface="Red Hat Display"/>
                </a:rPr>
                <a:t>Which users exhibit abnormal </a:t>
              </a:r>
              <a:r>
                <a:rPr lang="en-US" sz="2400" dirty="0" err="1">
                  <a:solidFill>
                    <a:srgbClr val="FFFFFF"/>
                  </a:solidFill>
                  <a:latin typeface="Red Hat Display"/>
                  <a:ea typeface="Red Hat Display"/>
                  <a:cs typeface="Red Hat Display"/>
                  <a:sym typeface="Red Hat Display"/>
                </a:rPr>
                <a:t>behaviour</a:t>
              </a:r>
              <a:r>
                <a:rPr lang="en-US" sz="2400" dirty="0">
                  <a:solidFill>
                    <a:srgbClr val="FFFFFF"/>
                  </a:solidFill>
                  <a:latin typeface="Red Hat Display"/>
                  <a:ea typeface="Red Hat Display"/>
                  <a:cs typeface="Red Hat Display"/>
                  <a:sym typeface="Red Hat Display"/>
                </a:rPr>
                <a:t> (e.g., bots/bulk buyers) that should be excluded from modelling and analytics?</a:t>
              </a:r>
            </a:p>
          </p:txBody>
        </p:sp>
        <p:sp>
          <p:nvSpPr>
            <p:cNvPr id="26" name="TextBox 26"/>
            <p:cNvSpPr txBox="1"/>
            <p:nvPr/>
          </p:nvSpPr>
          <p:spPr>
            <a:xfrm>
              <a:off x="832689" y="12942161"/>
              <a:ext cx="2929765" cy="931334"/>
            </a:xfrm>
            <a:prstGeom prst="rect">
              <a:avLst/>
            </a:prstGeom>
          </p:spPr>
          <p:txBody>
            <a:bodyPr lIns="0" tIns="0" rIns="0" bIns="0" rtlCol="0" anchor="t">
              <a:spAutoFit/>
            </a:bodyPr>
            <a:lstStyle/>
            <a:p>
              <a:pPr algn="l">
                <a:lnSpc>
                  <a:spcPts val="5150"/>
                </a:lnSpc>
              </a:pPr>
              <a:r>
                <a:rPr lang="en-US" sz="5000" b="1">
                  <a:solidFill>
                    <a:srgbClr val="FFFFFF"/>
                  </a:solidFill>
                  <a:latin typeface="Red Hat Display Bold"/>
                  <a:ea typeface="Red Hat Display Bold"/>
                  <a:cs typeface="Red Hat Display Bold"/>
                  <a:sym typeface="Red Hat Display Bold"/>
                </a:rPr>
                <a:t>03</a:t>
              </a:r>
            </a:p>
          </p:txBody>
        </p:sp>
        <p:sp>
          <p:nvSpPr>
            <p:cNvPr id="27" name="TextBox 27"/>
            <p:cNvSpPr txBox="1"/>
            <p:nvPr/>
          </p:nvSpPr>
          <p:spPr>
            <a:xfrm>
              <a:off x="832689" y="14105270"/>
              <a:ext cx="4793465" cy="1573080"/>
            </a:xfrm>
            <a:prstGeom prst="rect">
              <a:avLst/>
            </a:prstGeom>
          </p:spPr>
          <p:txBody>
            <a:bodyPr lIns="0" tIns="0" rIns="0" bIns="0" rtlCol="0" anchor="t">
              <a:spAutoFit/>
            </a:bodyPr>
            <a:lstStyle/>
            <a:p>
              <a:pPr algn="l">
                <a:lnSpc>
                  <a:spcPts val="2340"/>
                </a:lnSpc>
              </a:pPr>
              <a:r>
                <a:rPr lang="en-US" sz="2400" dirty="0">
                  <a:solidFill>
                    <a:srgbClr val="FFFFFF"/>
                  </a:solidFill>
                  <a:latin typeface="Red Hat Display"/>
                  <a:ea typeface="Red Hat Display"/>
                  <a:cs typeface="Red Hat Display"/>
                  <a:sym typeface="Red Hat Display"/>
                </a:rPr>
                <a:t>How much does data cleaning/anomaly removal improve recommendation quality?</a:t>
              </a:r>
            </a:p>
          </p:txBody>
        </p:sp>
      </p:grpSp>
      <p:grpSp>
        <p:nvGrpSpPr>
          <p:cNvPr id="31" name="Group 23">
            <a:extLst>
              <a:ext uri="{FF2B5EF4-FFF2-40B4-BE49-F238E27FC236}">
                <a16:creationId xmlns:a16="http://schemas.microsoft.com/office/drawing/2014/main" id="{9B41F0A0-2267-7C8B-E2B1-E6A562B0B0CE}"/>
              </a:ext>
            </a:extLst>
          </p:cNvPr>
          <p:cNvGrpSpPr/>
          <p:nvPr/>
        </p:nvGrpSpPr>
        <p:grpSpPr>
          <a:xfrm>
            <a:off x="10034252" y="7365070"/>
            <a:ext cx="1827704" cy="799004"/>
            <a:chOff x="0" y="0"/>
            <a:chExt cx="481371" cy="210437"/>
          </a:xfrm>
        </p:grpSpPr>
        <p:sp>
          <p:nvSpPr>
            <p:cNvPr id="32" name="Freeform 24">
              <a:extLst>
                <a:ext uri="{FF2B5EF4-FFF2-40B4-BE49-F238E27FC236}">
                  <a16:creationId xmlns:a16="http://schemas.microsoft.com/office/drawing/2014/main" id="{7561A029-DE1D-C857-1742-1B6BF8997040}"/>
                </a:ext>
              </a:extLst>
            </p:cNvPr>
            <p:cNvSpPr/>
            <p:nvPr/>
          </p:nvSpPr>
          <p:spPr>
            <a:xfrm>
              <a:off x="0" y="0"/>
              <a:ext cx="481371" cy="210437"/>
            </a:xfrm>
            <a:custGeom>
              <a:avLst/>
              <a:gdLst/>
              <a:ahLst/>
              <a:cxnLst/>
              <a:rect l="l" t="t" r="r" b="b"/>
              <a:pathLst>
                <a:path w="481371" h="210437">
                  <a:moveTo>
                    <a:pt x="0" y="0"/>
                  </a:moveTo>
                  <a:lnTo>
                    <a:pt x="481371" y="0"/>
                  </a:lnTo>
                  <a:lnTo>
                    <a:pt x="481371" y="210437"/>
                  </a:lnTo>
                  <a:lnTo>
                    <a:pt x="0" y="210437"/>
                  </a:lnTo>
                  <a:close/>
                </a:path>
              </a:pathLst>
            </a:custGeom>
            <a:gradFill rotWithShape="1">
              <a:gsLst>
                <a:gs pos="0">
                  <a:srgbClr val="C6269E">
                    <a:alpha val="100000"/>
                  </a:srgbClr>
                </a:gs>
                <a:gs pos="100000">
                  <a:srgbClr val="DDBAFF">
                    <a:alpha val="12000"/>
                  </a:srgbClr>
                </a:gs>
              </a:gsLst>
              <a:lin ang="0"/>
            </a:gradFill>
          </p:spPr>
        </p:sp>
        <p:sp>
          <p:nvSpPr>
            <p:cNvPr id="33" name="TextBox 25">
              <a:extLst>
                <a:ext uri="{FF2B5EF4-FFF2-40B4-BE49-F238E27FC236}">
                  <a16:creationId xmlns:a16="http://schemas.microsoft.com/office/drawing/2014/main" id="{F079FE31-B506-C25E-F98A-3EDE0985723E}"/>
                </a:ext>
              </a:extLst>
            </p:cNvPr>
            <p:cNvSpPr txBox="1"/>
            <p:nvPr/>
          </p:nvSpPr>
          <p:spPr>
            <a:xfrm>
              <a:off x="0" y="28575"/>
              <a:ext cx="481371" cy="181862"/>
            </a:xfrm>
            <a:prstGeom prst="rect">
              <a:avLst/>
            </a:prstGeom>
          </p:spPr>
          <p:txBody>
            <a:bodyPr lIns="50800" tIns="50800" rIns="50800" bIns="50800" rtlCol="0" anchor="ctr"/>
            <a:lstStyle/>
            <a:p>
              <a:pPr algn="ctr">
                <a:lnSpc>
                  <a:spcPts val="2661"/>
                </a:lnSpc>
              </a:pPr>
              <a:endParaRPr/>
            </a:p>
          </p:txBody>
        </p:sp>
      </p:grpSp>
      <p:grpSp>
        <p:nvGrpSpPr>
          <p:cNvPr id="34" name="Group 23">
            <a:extLst>
              <a:ext uri="{FF2B5EF4-FFF2-40B4-BE49-F238E27FC236}">
                <a16:creationId xmlns:a16="http://schemas.microsoft.com/office/drawing/2014/main" id="{1F5A4141-484B-78E1-9C5F-E5040F011329}"/>
              </a:ext>
            </a:extLst>
          </p:cNvPr>
          <p:cNvGrpSpPr/>
          <p:nvPr/>
        </p:nvGrpSpPr>
        <p:grpSpPr>
          <a:xfrm>
            <a:off x="341550" y="1694888"/>
            <a:ext cx="1827704" cy="799004"/>
            <a:chOff x="0" y="0"/>
            <a:chExt cx="481371" cy="210437"/>
          </a:xfrm>
        </p:grpSpPr>
        <p:sp>
          <p:nvSpPr>
            <p:cNvPr id="35" name="Freeform 24">
              <a:extLst>
                <a:ext uri="{FF2B5EF4-FFF2-40B4-BE49-F238E27FC236}">
                  <a16:creationId xmlns:a16="http://schemas.microsoft.com/office/drawing/2014/main" id="{E34375E3-21C5-E6CC-8C67-1E6EFD08E7F5}"/>
                </a:ext>
              </a:extLst>
            </p:cNvPr>
            <p:cNvSpPr/>
            <p:nvPr/>
          </p:nvSpPr>
          <p:spPr>
            <a:xfrm>
              <a:off x="0" y="0"/>
              <a:ext cx="481371" cy="210437"/>
            </a:xfrm>
            <a:custGeom>
              <a:avLst/>
              <a:gdLst/>
              <a:ahLst/>
              <a:cxnLst/>
              <a:rect l="l" t="t" r="r" b="b"/>
              <a:pathLst>
                <a:path w="481371" h="210437">
                  <a:moveTo>
                    <a:pt x="0" y="0"/>
                  </a:moveTo>
                  <a:lnTo>
                    <a:pt x="481371" y="0"/>
                  </a:lnTo>
                  <a:lnTo>
                    <a:pt x="481371" y="210437"/>
                  </a:lnTo>
                  <a:lnTo>
                    <a:pt x="0" y="210437"/>
                  </a:lnTo>
                  <a:close/>
                </a:path>
              </a:pathLst>
            </a:custGeom>
            <a:gradFill rotWithShape="1">
              <a:gsLst>
                <a:gs pos="0">
                  <a:srgbClr val="C6269E">
                    <a:alpha val="100000"/>
                  </a:srgbClr>
                </a:gs>
                <a:gs pos="100000">
                  <a:srgbClr val="DDBAFF">
                    <a:alpha val="12000"/>
                  </a:srgbClr>
                </a:gs>
              </a:gsLst>
              <a:lin ang="0"/>
            </a:gradFill>
          </p:spPr>
        </p:sp>
        <p:sp>
          <p:nvSpPr>
            <p:cNvPr id="36" name="TextBox 25">
              <a:extLst>
                <a:ext uri="{FF2B5EF4-FFF2-40B4-BE49-F238E27FC236}">
                  <a16:creationId xmlns:a16="http://schemas.microsoft.com/office/drawing/2014/main" id="{00BBB253-AF2C-FC9B-8DDD-FDD6F09F4BD5}"/>
                </a:ext>
              </a:extLst>
            </p:cNvPr>
            <p:cNvSpPr txBox="1"/>
            <p:nvPr/>
          </p:nvSpPr>
          <p:spPr>
            <a:xfrm>
              <a:off x="0" y="28575"/>
              <a:ext cx="481371" cy="181862"/>
            </a:xfrm>
            <a:prstGeom prst="rect">
              <a:avLst/>
            </a:prstGeom>
          </p:spPr>
          <p:txBody>
            <a:bodyPr lIns="50800" tIns="50800" rIns="50800" bIns="50800" rtlCol="0" anchor="ctr"/>
            <a:lstStyle/>
            <a:p>
              <a:pPr algn="ctr">
                <a:lnSpc>
                  <a:spcPts val="2661"/>
                </a:lnSpc>
              </a:pPr>
              <a:endParaRPr/>
            </a:p>
          </p:txBody>
        </p:sp>
      </p:grpSp>
      <p:sp>
        <p:nvSpPr>
          <p:cNvPr id="38" name="TextBox 37">
            <a:extLst>
              <a:ext uri="{FF2B5EF4-FFF2-40B4-BE49-F238E27FC236}">
                <a16:creationId xmlns:a16="http://schemas.microsoft.com/office/drawing/2014/main" id="{68F1B16F-D667-3CF5-0786-BAFF88A8704F}"/>
              </a:ext>
            </a:extLst>
          </p:cNvPr>
          <p:cNvSpPr txBox="1"/>
          <p:nvPr/>
        </p:nvSpPr>
        <p:spPr>
          <a:xfrm>
            <a:off x="10591800" y="555648"/>
            <a:ext cx="4343400" cy="1200329"/>
          </a:xfrm>
          <a:prstGeom prst="rect">
            <a:avLst/>
          </a:prstGeom>
          <a:noFill/>
        </p:spPr>
        <p:txBody>
          <a:bodyPr wrap="square">
            <a:spAutoFit/>
          </a:bodyPr>
          <a:lstStyle/>
          <a:p>
            <a:r>
              <a:rPr lang="en-US" sz="7200" dirty="0"/>
              <a:t>📌</a:t>
            </a:r>
          </a:p>
        </p:txBody>
      </p:sp>
      <p:sp>
        <p:nvSpPr>
          <p:cNvPr id="44" name="TextBox 4">
            <a:extLst>
              <a:ext uri="{FF2B5EF4-FFF2-40B4-BE49-F238E27FC236}">
                <a16:creationId xmlns:a16="http://schemas.microsoft.com/office/drawing/2014/main" id="{6C73C3D4-805A-A5CF-F7A3-1B13F4BBE599}"/>
              </a:ext>
            </a:extLst>
          </p:cNvPr>
          <p:cNvSpPr txBox="1"/>
          <p:nvPr/>
        </p:nvSpPr>
        <p:spPr>
          <a:xfrm rot="16200000">
            <a:off x="129306" y="8890751"/>
            <a:ext cx="1078468" cy="218008"/>
          </a:xfrm>
          <a:prstGeom prst="rect">
            <a:avLst/>
          </a:prstGeom>
        </p:spPr>
        <p:txBody>
          <a:bodyPr lIns="0" tIns="0" rIns="0" bIns="0" rtlCol="0" anchor="t">
            <a:spAutoFit/>
          </a:bodyPr>
          <a:lstStyle/>
          <a:p>
            <a:pPr algn="ctr">
              <a:lnSpc>
                <a:spcPts val="1725"/>
              </a:lnSpc>
              <a:spcBef>
                <a:spcPct val="0"/>
              </a:spcBef>
            </a:pPr>
            <a:r>
              <a:rPr lang="en-US" sz="1658" dirty="0">
                <a:solidFill>
                  <a:srgbClr val="FFFFFF"/>
                </a:solidFill>
                <a:latin typeface="Raleway"/>
                <a:ea typeface="Raleway"/>
                <a:cs typeface="Raleway"/>
                <a:sym typeface="Raleway"/>
              </a:rPr>
              <a:t>Page 3 </a:t>
            </a:r>
          </a:p>
        </p:txBody>
      </p:sp>
      <p:sp>
        <p:nvSpPr>
          <p:cNvPr id="45" name="TextBox 8">
            <a:extLst>
              <a:ext uri="{FF2B5EF4-FFF2-40B4-BE49-F238E27FC236}">
                <a16:creationId xmlns:a16="http://schemas.microsoft.com/office/drawing/2014/main" id="{13AAD5BD-979D-352F-AE7B-132831483121}"/>
              </a:ext>
            </a:extLst>
          </p:cNvPr>
          <p:cNvSpPr txBox="1"/>
          <p:nvPr/>
        </p:nvSpPr>
        <p:spPr>
          <a:xfrm>
            <a:off x="15309115" y="9513140"/>
            <a:ext cx="1716617" cy="277925"/>
          </a:xfrm>
          <a:prstGeom prst="rect">
            <a:avLst/>
          </a:prstGeom>
        </p:spPr>
        <p:txBody>
          <a:bodyPr lIns="0" tIns="0" rIns="0" bIns="0" rtlCol="0" anchor="t">
            <a:spAutoFit/>
          </a:bodyPr>
          <a:lstStyle/>
          <a:p>
            <a:pPr algn="l">
              <a:lnSpc>
                <a:spcPts val="2037"/>
              </a:lnSpc>
              <a:spcBef>
                <a:spcPct val="0"/>
              </a:spcBef>
            </a:pPr>
            <a:r>
              <a:rPr lang="en-US" sz="1958">
                <a:solidFill>
                  <a:srgbClr val="FFFFFF"/>
                </a:solidFill>
                <a:latin typeface="Raleway"/>
                <a:ea typeface="Raleway"/>
                <a:cs typeface="Raleway"/>
                <a:sym typeface="Raleway"/>
              </a:rPr>
              <a:t>Next Slide</a:t>
            </a:r>
          </a:p>
        </p:txBody>
      </p:sp>
      <p:sp>
        <p:nvSpPr>
          <p:cNvPr id="46" name="Freeform 9">
            <a:extLst>
              <a:ext uri="{FF2B5EF4-FFF2-40B4-BE49-F238E27FC236}">
                <a16:creationId xmlns:a16="http://schemas.microsoft.com/office/drawing/2014/main" id="{C415A2CC-2C56-9790-3D41-E763E8357340}"/>
              </a:ext>
            </a:extLst>
          </p:cNvPr>
          <p:cNvSpPr/>
          <p:nvPr/>
        </p:nvSpPr>
        <p:spPr>
          <a:xfrm flipH="1">
            <a:off x="16998830" y="9449601"/>
            <a:ext cx="416017" cy="418299"/>
          </a:xfrm>
          <a:custGeom>
            <a:avLst/>
            <a:gdLst/>
            <a:ahLst/>
            <a:cxnLst/>
            <a:rect l="l" t="t" r="r" b="b"/>
            <a:pathLst>
              <a:path w="416017" h="418299">
                <a:moveTo>
                  <a:pt x="416017" y="0"/>
                </a:moveTo>
                <a:lnTo>
                  <a:pt x="0" y="0"/>
                </a:lnTo>
                <a:lnTo>
                  <a:pt x="0" y="418299"/>
                </a:lnTo>
                <a:lnTo>
                  <a:pt x="416017" y="418299"/>
                </a:lnTo>
                <a:lnTo>
                  <a:pt x="416017"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txBody>
          <a:bodyPr/>
          <a:lstStyle/>
          <a:p>
            <a:endParaRPr lang="en-US" dirty="0"/>
          </a:p>
        </p:txBody>
      </p:sp>
      <p:sp>
        <p:nvSpPr>
          <p:cNvPr id="3" name="TextBox 3"/>
          <p:cNvSpPr txBox="1"/>
          <p:nvPr/>
        </p:nvSpPr>
        <p:spPr>
          <a:xfrm>
            <a:off x="2752387" y="2457787"/>
            <a:ext cx="12783226" cy="1177290"/>
          </a:xfrm>
          <a:prstGeom prst="rect">
            <a:avLst/>
          </a:prstGeom>
        </p:spPr>
        <p:txBody>
          <a:bodyPr lIns="0" tIns="0" rIns="0" bIns="0" rtlCol="0" anchor="t">
            <a:spAutoFit/>
          </a:bodyPr>
          <a:lstStyle/>
          <a:p>
            <a:pPr algn="ctr">
              <a:lnSpc>
                <a:spcPts val="8688"/>
              </a:lnSpc>
            </a:pPr>
            <a:r>
              <a:rPr lang="en-US" sz="9600" dirty="0">
                <a:solidFill>
                  <a:srgbClr val="FFFFFF"/>
                </a:solidFill>
                <a:latin typeface="Anton"/>
                <a:ea typeface="Anton"/>
                <a:cs typeface="Anton"/>
                <a:sym typeface="Anton"/>
              </a:rPr>
              <a:t>Dataset Overview</a:t>
            </a:r>
          </a:p>
        </p:txBody>
      </p:sp>
      <p:grpSp>
        <p:nvGrpSpPr>
          <p:cNvPr id="4" name="Group 4"/>
          <p:cNvGrpSpPr/>
          <p:nvPr/>
        </p:nvGrpSpPr>
        <p:grpSpPr>
          <a:xfrm>
            <a:off x="-886757" y="3771900"/>
            <a:ext cx="20061513" cy="3425918"/>
            <a:chOff x="0" y="0"/>
            <a:chExt cx="26748685" cy="4854436"/>
          </a:xfrm>
        </p:grpSpPr>
        <p:sp>
          <p:nvSpPr>
            <p:cNvPr id="5" name="AutoShape 5"/>
            <p:cNvSpPr/>
            <p:nvPr/>
          </p:nvSpPr>
          <p:spPr>
            <a:xfrm>
              <a:off x="0" y="334704"/>
              <a:ext cx="26748685" cy="0"/>
            </a:xfrm>
            <a:prstGeom prst="line">
              <a:avLst/>
            </a:prstGeom>
            <a:ln w="38100" cap="flat">
              <a:solidFill>
                <a:srgbClr val="F4F4ED"/>
              </a:solidFill>
              <a:prstDash val="solid"/>
              <a:headEnd type="none" w="sm" len="sm"/>
              <a:tailEnd type="none" w="sm" len="sm"/>
            </a:ln>
          </p:spPr>
        </p:sp>
        <p:grpSp>
          <p:nvGrpSpPr>
            <p:cNvPr id="6" name="Group 6"/>
            <p:cNvGrpSpPr/>
            <p:nvPr/>
          </p:nvGrpSpPr>
          <p:grpSpPr>
            <a:xfrm>
              <a:off x="9089229" y="0"/>
              <a:ext cx="669408" cy="66940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FFFF"/>
              </a:solidFill>
              <a:ln cap="sq">
                <a:noFill/>
                <a:prstDash val="solid"/>
                <a:miter/>
              </a:ln>
            </p:spPr>
          </p:sp>
          <p:sp>
            <p:nvSpPr>
              <p:cNvPr id="8" name="TextBox 8"/>
              <p:cNvSpPr txBox="1"/>
              <p:nvPr/>
            </p:nvSpPr>
            <p:spPr>
              <a:xfrm>
                <a:off x="190500" y="228600"/>
                <a:ext cx="431800" cy="393700"/>
              </a:xfrm>
              <a:prstGeom prst="rect">
                <a:avLst/>
              </a:prstGeom>
            </p:spPr>
            <p:txBody>
              <a:bodyPr lIns="50800" tIns="50800" rIns="50800" bIns="50800" rtlCol="0" anchor="ctr"/>
              <a:lstStyle/>
              <a:p>
                <a:pPr marL="0" lvl="0" indent="0" algn="ctr">
                  <a:lnSpc>
                    <a:spcPts val="2266"/>
                  </a:lnSpc>
                  <a:spcBef>
                    <a:spcPct val="0"/>
                  </a:spcBef>
                </a:pPr>
                <a:endParaRPr/>
              </a:p>
            </p:txBody>
          </p:sp>
        </p:grpSp>
        <p:grpSp>
          <p:nvGrpSpPr>
            <p:cNvPr id="9" name="Group 9"/>
            <p:cNvGrpSpPr/>
            <p:nvPr/>
          </p:nvGrpSpPr>
          <p:grpSpPr>
            <a:xfrm>
              <a:off x="4151764" y="0"/>
              <a:ext cx="669408" cy="66940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FFFF"/>
              </a:solidFill>
            </p:spPr>
          </p:sp>
          <p:sp>
            <p:nvSpPr>
              <p:cNvPr id="11" name="TextBox 11"/>
              <p:cNvSpPr txBox="1"/>
              <p:nvPr/>
            </p:nvSpPr>
            <p:spPr>
              <a:xfrm>
                <a:off x="190500" y="228600"/>
                <a:ext cx="431800" cy="393700"/>
              </a:xfrm>
              <a:prstGeom prst="rect">
                <a:avLst/>
              </a:prstGeom>
            </p:spPr>
            <p:txBody>
              <a:bodyPr lIns="50800" tIns="50800" rIns="50800" bIns="50800" rtlCol="0" anchor="ctr"/>
              <a:lstStyle/>
              <a:p>
                <a:pPr algn="ctr">
                  <a:lnSpc>
                    <a:spcPts val="2266"/>
                  </a:lnSpc>
                </a:pPr>
                <a:endParaRPr/>
              </a:p>
            </p:txBody>
          </p:sp>
        </p:grpSp>
        <p:grpSp>
          <p:nvGrpSpPr>
            <p:cNvPr id="12" name="Group 12"/>
            <p:cNvGrpSpPr/>
            <p:nvPr/>
          </p:nvGrpSpPr>
          <p:grpSpPr>
            <a:xfrm>
              <a:off x="14053845" y="0"/>
              <a:ext cx="669408" cy="669408"/>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FFFF"/>
              </a:solidFill>
              <a:ln cap="sq">
                <a:noFill/>
                <a:prstDash val="solid"/>
                <a:miter/>
              </a:ln>
            </p:spPr>
          </p:sp>
          <p:sp>
            <p:nvSpPr>
              <p:cNvPr id="14" name="TextBox 14"/>
              <p:cNvSpPr txBox="1"/>
              <p:nvPr/>
            </p:nvSpPr>
            <p:spPr>
              <a:xfrm>
                <a:off x="190500" y="228600"/>
                <a:ext cx="431800" cy="393700"/>
              </a:xfrm>
              <a:prstGeom prst="rect">
                <a:avLst/>
              </a:prstGeom>
            </p:spPr>
            <p:txBody>
              <a:bodyPr lIns="50800" tIns="50800" rIns="50800" bIns="50800" rtlCol="0" anchor="ctr"/>
              <a:lstStyle/>
              <a:p>
                <a:pPr marL="0" lvl="0" indent="0" algn="ctr">
                  <a:lnSpc>
                    <a:spcPts val="2266"/>
                  </a:lnSpc>
                  <a:spcBef>
                    <a:spcPct val="0"/>
                  </a:spcBef>
                </a:pPr>
                <a:endParaRPr/>
              </a:p>
            </p:txBody>
          </p:sp>
        </p:grpSp>
        <p:grpSp>
          <p:nvGrpSpPr>
            <p:cNvPr id="15" name="Group 15"/>
            <p:cNvGrpSpPr/>
            <p:nvPr/>
          </p:nvGrpSpPr>
          <p:grpSpPr>
            <a:xfrm>
              <a:off x="19043861" y="0"/>
              <a:ext cx="669408" cy="669408"/>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FFFF"/>
              </a:solidFill>
              <a:ln cap="sq">
                <a:noFill/>
                <a:prstDash val="solid"/>
                <a:miter/>
              </a:ln>
            </p:spPr>
          </p:sp>
          <p:sp>
            <p:nvSpPr>
              <p:cNvPr id="17" name="TextBox 17"/>
              <p:cNvSpPr txBox="1"/>
              <p:nvPr/>
            </p:nvSpPr>
            <p:spPr>
              <a:xfrm>
                <a:off x="190500" y="228600"/>
                <a:ext cx="431800" cy="393700"/>
              </a:xfrm>
              <a:prstGeom prst="rect">
                <a:avLst/>
              </a:prstGeom>
            </p:spPr>
            <p:txBody>
              <a:bodyPr lIns="50800" tIns="50800" rIns="50800" bIns="50800" rtlCol="0" anchor="ctr"/>
              <a:lstStyle/>
              <a:p>
                <a:pPr marL="0" lvl="0" indent="0" algn="ctr">
                  <a:lnSpc>
                    <a:spcPts val="2266"/>
                  </a:lnSpc>
                  <a:spcBef>
                    <a:spcPct val="0"/>
                  </a:spcBef>
                </a:pPr>
                <a:endParaRPr/>
              </a:p>
            </p:txBody>
          </p:sp>
        </p:grpSp>
        <p:sp>
          <p:nvSpPr>
            <p:cNvPr id="18" name="TextBox 18"/>
            <p:cNvSpPr txBox="1"/>
            <p:nvPr/>
          </p:nvSpPr>
          <p:spPr>
            <a:xfrm>
              <a:off x="4151764" y="1030769"/>
              <a:ext cx="2929765" cy="931334"/>
            </a:xfrm>
            <a:prstGeom prst="rect">
              <a:avLst/>
            </a:prstGeom>
          </p:spPr>
          <p:txBody>
            <a:bodyPr lIns="0" tIns="0" rIns="0" bIns="0" rtlCol="0" anchor="t">
              <a:spAutoFit/>
            </a:bodyPr>
            <a:lstStyle/>
            <a:p>
              <a:pPr algn="l">
                <a:lnSpc>
                  <a:spcPts val="5150"/>
                </a:lnSpc>
              </a:pPr>
              <a:r>
                <a:rPr lang="en-US" sz="5000" b="1">
                  <a:solidFill>
                    <a:srgbClr val="FFFFFF"/>
                  </a:solidFill>
                  <a:latin typeface="Red Hat Display Bold"/>
                  <a:ea typeface="Red Hat Display Bold"/>
                  <a:cs typeface="Red Hat Display Bold"/>
                  <a:sym typeface="Red Hat Display Bold"/>
                </a:rPr>
                <a:t>01</a:t>
              </a:r>
            </a:p>
          </p:txBody>
        </p:sp>
        <p:sp>
          <p:nvSpPr>
            <p:cNvPr id="19" name="TextBox 19"/>
            <p:cNvSpPr txBox="1"/>
            <p:nvPr/>
          </p:nvSpPr>
          <p:spPr>
            <a:xfrm>
              <a:off x="9113633" y="1030769"/>
              <a:ext cx="2929765" cy="931334"/>
            </a:xfrm>
            <a:prstGeom prst="rect">
              <a:avLst/>
            </a:prstGeom>
          </p:spPr>
          <p:txBody>
            <a:bodyPr lIns="0" tIns="0" rIns="0" bIns="0" rtlCol="0" anchor="t">
              <a:spAutoFit/>
            </a:bodyPr>
            <a:lstStyle/>
            <a:p>
              <a:pPr algn="l">
                <a:lnSpc>
                  <a:spcPts val="5150"/>
                </a:lnSpc>
              </a:pPr>
              <a:r>
                <a:rPr lang="en-US" sz="5000" b="1">
                  <a:solidFill>
                    <a:srgbClr val="FFFFFF"/>
                  </a:solidFill>
                  <a:latin typeface="Red Hat Display Bold"/>
                  <a:ea typeface="Red Hat Display Bold"/>
                  <a:cs typeface="Red Hat Display Bold"/>
                  <a:sym typeface="Red Hat Display Bold"/>
                </a:rPr>
                <a:t>02</a:t>
              </a:r>
            </a:p>
          </p:txBody>
        </p:sp>
        <p:sp>
          <p:nvSpPr>
            <p:cNvPr id="20" name="TextBox 20"/>
            <p:cNvSpPr txBox="1"/>
            <p:nvPr/>
          </p:nvSpPr>
          <p:spPr>
            <a:xfrm>
              <a:off x="4151764" y="2193879"/>
              <a:ext cx="3528656" cy="2660557"/>
            </a:xfrm>
            <a:prstGeom prst="rect">
              <a:avLst/>
            </a:prstGeom>
          </p:spPr>
          <p:txBody>
            <a:bodyPr lIns="0" tIns="0" rIns="0" bIns="0" rtlCol="0" anchor="t">
              <a:spAutoFit/>
            </a:bodyPr>
            <a:lstStyle/>
            <a:p>
              <a:pPr>
                <a:lnSpc>
                  <a:spcPts val="2603"/>
                </a:lnSpc>
                <a:spcBef>
                  <a:spcPct val="0"/>
                </a:spcBef>
              </a:pPr>
              <a:r>
                <a:rPr lang="en-US" sz="2000" b="1" u="sng" dirty="0">
                  <a:solidFill>
                    <a:srgbClr val="FFFFFF"/>
                  </a:solidFill>
                  <a:latin typeface="Raleway"/>
                  <a:ea typeface="Raleway"/>
                  <a:cs typeface="Raleway"/>
                  <a:sym typeface="Raleway"/>
                </a:rPr>
                <a:t>Events Dataset</a:t>
              </a:r>
            </a:p>
            <a:p>
              <a:pPr>
                <a:spcBef>
                  <a:spcPct val="0"/>
                </a:spcBef>
              </a:pPr>
              <a:r>
                <a:rPr lang="en-US" dirty="0">
                  <a:solidFill>
                    <a:srgbClr val="FFFFFF"/>
                  </a:solidFill>
                  <a:latin typeface="Raleway"/>
                  <a:ea typeface="Raleway"/>
                  <a:cs typeface="Raleway"/>
                  <a:sym typeface="Raleway"/>
                </a:rPr>
                <a:t>Timestamp</a:t>
              </a:r>
            </a:p>
            <a:p>
              <a:pPr>
                <a:spcBef>
                  <a:spcPct val="0"/>
                </a:spcBef>
              </a:pPr>
              <a:r>
                <a:rPr lang="en-US" dirty="0" err="1">
                  <a:solidFill>
                    <a:srgbClr val="FFFFFF"/>
                  </a:solidFill>
                  <a:latin typeface="Raleway"/>
                  <a:ea typeface="Raleway"/>
                  <a:cs typeface="Raleway"/>
                  <a:sym typeface="Raleway"/>
                </a:rPr>
                <a:t>Visitor_id</a:t>
              </a:r>
              <a:endParaRPr lang="en-US" dirty="0">
                <a:solidFill>
                  <a:srgbClr val="FFFFFF"/>
                </a:solidFill>
                <a:latin typeface="Raleway"/>
                <a:ea typeface="Raleway"/>
                <a:cs typeface="Raleway"/>
                <a:sym typeface="Raleway"/>
              </a:endParaRPr>
            </a:p>
            <a:p>
              <a:pPr>
                <a:spcBef>
                  <a:spcPct val="0"/>
                </a:spcBef>
              </a:pPr>
              <a:r>
                <a:rPr lang="en-US" dirty="0">
                  <a:solidFill>
                    <a:srgbClr val="FFFFFF"/>
                  </a:solidFill>
                  <a:latin typeface="Raleway"/>
                  <a:ea typeface="Raleway"/>
                  <a:cs typeface="Raleway"/>
                  <a:sym typeface="Raleway"/>
                </a:rPr>
                <a:t>Event (view, add to cart, transaction)</a:t>
              </a:r>
            </a:p>
            <a:p>
              <a:pPr>
                <a:spcBef>
                  <a:spcPct val="0"/>
                </a:spcBef>
              </a:pPr>
              <a:r>
                <a:rPr lang="en-US" dirty="0" err="1">
                  <a:solidFill>
                    <a:srgbClr val="FFFFFF"/>
                  </a:solidFill>
                  <a:latin typeface="Raleway"/>
                  <a:ea typeface="Raleway"/>
                  <a:cs typeface="Raleway"/>
                  <a:sym typeface="Raleway"/>
                </a:rPr>
                <a:t>Item_id</a:t>
              </a:r>
              <a:endParaRPr lang="en-US" dirty="0">
                <a:solidFill>
                  <a:srgbClr val="FFFFFF"/>
                </a:solidFill>
                <a:latin typeface="Raleway"/>
                <a:ea typeface="Raleway"/>
                <a:cs typeface="Raleway"/>
                <a:sym typeface="Raleway"/>
              </a:endParaRPr>
            </a:p>
            <a:p>
              <a:pPr>
                <a:spcBef>
                  <a:spcPct val="0"/>
                </a:spcBef>
              </a:pPr>
              <a:r>
                <a:rPr lang="en-US" dirty="0" err="1">
                  <a:solidFill>
                    <a:srgbClr val="FFFFFF"/>
                  </a:solidFill>
                  <a:latin typeface="Raleway"/>
                  <a:ea typeface="Raleway"/>
                  <a:cs typeface="Raleway"/>
                  <a:sym typeface="Raleway"/>
                </a:rPr>
                <a:t>Transactionid</a:t>
              </a:r>
              <a:endParaRPr lang="en-US" dirty="0">
                <a:solidFill>
                  <a:srgbClr val="FFFFFF"/>
                </a:solidFill>
                <a:latin typeface="Raleway"/>
                <a:ea typeface="Raleway"/>
                <a:cs typeface="Raleway"/>
                <a:sym typeface="Raleway"/>
              </a:endParaRPr>
            </a:p>
          </p:txBody>
        </p:sp>
        <p:sp>
          <p:nvSpPr>
            <p:cNvPr id="21" name="TextBox 21"/>
            <p:cNvSpPr txBox="1"/>
            <p:nvPr/>
          </p:nvSpPr>
          <p:spPr>
            <a:xfrm>
              <a:off x="9113632" y="2193879"/>
              <a:ext cx="3643816" cy="1529136"/>
            </a:xfrm>
            <a:prstGeom prst="rect">
              <a:avLst/>
            </a:prstGeom>
          </p:spPr>
          <p:txBody>
            <a:bodyPr lIns="0" tIns="0" rIns="0" bIns="0" rtlCol="0" anchor="t">
              <a:spAutoFit/>
            </a:bodyPr>
            <a:lstStyle/>
            <a:p>
              <a:pPr>
                <a:spcBef>
                  <a:spcPct val="0"/>
                </a:spcBef>
              </a:pPr>
              <a:r>
                <a:rPr lang="en-US" sz="2000" b="1" u="sng" dirty="0">
                  <a:solidFill>
                    <a:srgbClr val="FFFFFF"/>
                  </a:solidFill>
                  <a:latin typeface="Red Hat Display"/>
                  <a:ea typeface="Red Hat Display"/>
                  <a:cs typeface="Red Hat Display"/>
                  <a:sym typeface="Red Hat Display"/>
                </a:rPr>
                <a:t>Category Dataset</a:t>
              </a:r>
              <a:br>
                <a:rPr lang="en-US" sz="2000" dirty="0">
                  <a:solidFill>
                    <a:srgbClr val="FFFFFF"/>
                  </a:solidFill>
                  <a:latin typeface="Red Hat Display"/>
                  <a:ea typeface="Red Hat Display"/>
                  <a:cs typeface="Red Hat Display"/>
                  <a:sym typeface="Red Hat Display"/>
                </a:rPr>
              </a:br>
              <a:r>
                <a:rPr lang="en-US" dirty="0" err="1">
                  <a:solidFill>
                    <a:srgbClr val="FFFFFF"/>
                  </a:solidFill>
                  <a:latin typeface="Raleway"/>
                  <a:ea typeface="Raleway"/>
                  <a:cs typeface="Raleway"/>
                  <a:sym typeface="Raleway"/>
                </a:rPr>
                <a:t>Categoryid</a:t>
              </a:r>
              <a:endParaRPr lang="en-US" dirty="0">
                <a:solidFill>
                  <a:srgbClr val="FFFFFF"/>
                </a:solidFill>
                <a:latin typeface="Raleway"/>
                <a:ea typeface="Raleway"/>
                <a:cs typeface="Raleway"/>
                <a:sym typeface="Raleway"/>
              </a:endParaRPr>
            </a:p>
            <a:p>
              <a:pPr>
                <a:spcBef>
                  <a:spcPct val="0"/>
                </a:spcBef>
              </a:pPr>
              <a:r>
                <a:rPr lang="en-US" dirty="0" err="1">
                  <a:solidFill>
                    <a:srgbClr val="FFFFFF"/>
                  </a:solidFill>
                  <a:latin typeface="Raleway"/>
                  <a:ea typeface="Raleway"/>
                  <a:cs typeface="Raleway"/>
                  <a:sym typeface="Raleway"/>
                </a:rPr>
                <a:t>Parent_id</a:t>
              </a:r>
              <a:endParaRPr lang="en-US" dirty="0">
                <a:solidFill>
                  <a:srgbClr val="FFFFFF"/>
                </a:solidFill>
                <a:latin typeface="Raleway"/>
                <a:ea typeface="Raleway"/>
                <a:cs typeface="Raleway"/>
                <a:sym typeface="Raleway"/>
              </a:endParaRPr>
            </a:p>
            <a:p>
              <a:pPr>
                <a:lnSpc>
                  <a:spcPts val="2340"/>
                </a:lnSpc>
              </a:pPr>
              <a:endParaRPr lang="en-US" sz="1600" dirty="0">
                <a:solidFill>
                  <a:srgbClr val="FFFFFF"/>
                </a:solidFill>
                <a:latin typeface="Red Hat Display"/>
                <a:ea typeface="Red Hat Display"/>
                <a:cs typeface="Red Hat Display"/>
                <a:sym typeface="Red Hat Display"/>
              </a:endParaRPr>
            </a:p>
          </p:txBody>
        </p:sp>
        <p:sp>
          <p:nvSpPr>
            <p:cNvPr id="22" name="TextBox 22"/>
            <p:cNvSpPr txBox="1"/>
            <p:nvPr/>
          </p:nvSpPr>
          <p:spPr>
            <a:xfrm>
              <a:off x="14078249" y="1030769"/>
              <a:ext cx="2929765" cy="931334"/>
            </a:xfrm>
            <a:prstGeom prst="rect">
              <a:avLst/>
            </a:prstGeom>
          </p:spPr>
          <p:txBody>
            <a:bodyPr lIns="0" tIns="0" rIns="0" bIns="0" rtlCol="0" anchor="t">
              <a:spAutoFit/>
            </a:bodyPr>
            <a:lstStyle/>
            <a:p>
              <a:pPr algn="l">
                <a:lnSpc>
                  <a:spcPts val="5150"/>
                </a:lnSpc>
              </a:pPr>
              <a:r>
                <a:rPr lang="en-US" sz="5000" b="1">
                  <a:solidFill>
                    <a:srgbClr val="FFFFFF"/>
                  </a:solidFill>
                  <a:latin typeface="Red Hat Display Bold"/>
                  <a:ea typeface="Red Hat Display Bold"/>
                  <a:cs typeface="Red Hat Display Bold"/>
                  <a:sym typeface="Red Hat Display Bold"/>
                </a:rPr>
                <a:t>03</a:t>
              </a:r>
            </a:p>
          </p:txBody>
        </p:sp>
        <p:sp>
          <p:nvSpPr>
            <p:cNvPr id="23" name="TextBox 23"/>
            <p:cNvSpPr txBox="1"/>
            <p:nvPr/>
          </p:nvSpPr>
          <p:spPr>
            <a:xfrm>
              <a:off x="14078249" y="2193879"/>
              <a:ext cx="3663988" cy="2250701"/>
            </a:xfrm>
            <a:prstGeom prst="rect">
              <a:avLst/>
            </a:prstGeom>
          </p:spPr>
          <p:txBody>
            <a:bodyPr lIns="0" tIns="0" rIns="0" bIns="0" rtlCol="0" anchor="t">
              <a:spAutoFit/>
            </a:bodyPr>
            <a:lstStyle/>
            <a:p>
              <a:pPr algn="l">
                <a:lnSpc>
                  <a:spcPts val="2340"/>
                </a:lnSpc>
              </a:pPr>
              <a:r>
                <a:rPr lang="en-US" sz="2000" b="1" u="sng" dirty="0">
                  <a:solidFill>
                    <a:srgbClr val="FFFFFF"/>
                  </a:solidFill>
                  <a:latin typeface="Red Hat Display"/>
                  <a:ea typeface="Red Hat Display"/>
                  <a:cs typeface="Red Hat Display"/>
                  <a:sym typeface="Red Hat Display"/>
                </a:rPr>
                <a:t>Item Properties 1 &amp; 2</a:t>
              </a:r>
            </a:p>
            <a:p>
              <a:pPr>
                <a:spcBef>
                  <a:spcPct val="0"/>
                </a:spcBef>
              </a:pPr>
              <a:r>
                <a:rPr lang="en-US" dirty="0">
                  <a:solidFill>
                    <a:srgbClr val="FFFFFF"/>
                  </a:solidFill>
                  <a:latin typeface="Raleway"/>
                  <a:ea typeface="Raleway"/>
                  <a:cs typeface="Raleway"/>
                  <a:sym typeface="Raleway"/>
                </a:rPr>
                <a:t>Timestamp</a:t>
              </a:r>
            </a:p>
            <a:p>
              <a:pPr>
                <a:spcBef>
                  <a:spcPct val="0"/>
                </a:spcBef>
              </a:pPr>
              <a:r>
                <a:rPr lang="en-US" dirty="0" err="1">
                  <a:solidFill>
                    <a:srgbClr val="FFFFFF"/>
                  </a:solidFill>
                  <a:latin typeface="Raleway"/>
                  <a:ea typeface="Raleway"/>
                  <a:cs typeface="Raleway"/>
                  <a:sym typeface="Raleway"/>
                </a:rPr>
                <a:t>Item_id</a:t>
              </a:r>
              <a:endParaRPr lang="en-US" dirty="0">
                <a:solidFill>
                  <a:srgbClr val="FFFFFF"/>
                </a:solidFill>
                <a:latin typeface="Raleway"/>
                <a:ea typeface="Raleway"/>
                <a:cs typeface="Raleway"/>
                <a:sym typeface="Raleway"/>
              </a:endParaRPr>
            </a:p>
            <a:p>
              <a:pPr>
                <a:spcBef>
                  <a:spcPct val="0"/>
                </a:spcBef>
              </a:pPr>
              <a:r>
                <a:rPr lang="en-US" dirty="0">
                  <a:solidFill>
                    <a:srgbClr val="FFFFFF"/>
                  </a:solidFill>
                  <a:latin typeface="Raleway"/>
                  <a:ea typeface="Raleway"/>
                  <a:cs typeface="Raleway"/>
                  <a:sym typeface="Raleway"/>
                </a:rPr>
                <a:t>Property</a:t>
              </a:r>
            </a:p>
            <a:p>
              <a:pPr>
                <a:spcBef>
                  <a:spcPct val="0"/>
                </a:spcBef>
              </a:pPr>
              <a:r>
                <a:rPr lang="en-US" dirty="0">
                  <a:solidFill>
                    <a:srgbClr val="FFFFFF"/>
                  </a:solidFill>
                  <a:latin typeface="Raleway"/>
                  <a:ea typeface="Raleway"/>
                  <a:cs typeface="Raleway"/>
                  <a:sym typeface="Raleway"/>
                </a:rPr>
                <a:t>Value</a:t>
              </a:r>
            </a:p>
            <a:p>
              <a:pPr algn="l">
                <a:lnSpc>
                  <a:spcPts val="2340"/>
                </a:lnSpc>
              </a:pPr>
              <a:endParaRPr lang="en-US" sz="1600" dirty="0">
                <a:solidFill>
                  <a:srgbClr val="FFFFFF"/>
                </a:solidFill>
                <a:latin typeface="Red Hat Display"/>
                <a:ea typeface="Red Hat Display"/>
                <a:cs typeface="Red Hat Display"/>
                <a:sym typeface="Red Hat Display"/>
              </a:endParaRPr>
            </a:p>
          </p:txBody>
        </p:sp>
        <p:sp>
          <p:nvSpPr>
            <p:cNvPr id="24" name="TextBox 24"/>
            <p:cNvSpPr txBox="1"/>
            <p:nvPr/>
          </p:nvSpPr>
          <p:spPr>
            <a:xfrm>
              <a:off x="19068264" y="1030769"/>
              <a:ext cx="2929765" cy="931334"/>
            </a:xfrm>
            <a:prstGeom prst="rect">
              <a:avLst/>
            </a:prstGeom>
          </p:spPr>
          <p:txBody>
            <a:bodyPr lIns="0" tIns="0" rIns="0" bIns="0" rtlCol="0" anchor="t">
              <a:spAutoFit/>
            </a:bodyPr>
            <a:lstStyle/>
            <a:p>
              <a:pPr algn="l">
                <a:lnSpc>
                  <a:spcPts val="5150"/>
                </a:lnSpc>
              </a:pPr>
              <a:r>
                <a:rPr lang="en-US" sz="5000" b="1">
                  <a:solidFill>
                    <a:srgbClr val="FFFFFF"/>
                  </a:solidFill>
                  <a:latin typeface="Red Hat Display Bold"/>
                  <a:ea typeface="Red Hat Display Bold"/>
                  <a:cs typeface="Red Hat Display Bold"/>
                  <a:sym typeface="Red Hat Display Bold"/>
                </a:rPr>
                <a:t>04</a:t>
              </a:r>
            </a:p>
          </p:txBody>
        </p:sp>
        <p:sp>
          <p:nvSpPr>
            <p:cNvPr id="25" name="TextBox 25"/>
            <p:cNvSpPr txBox="1"/>
            <p:nvPr/>
          </p:nvSpPr>
          <p:spPr>
            <a:xfrm>
              <a:off x="19068263" y="2193879"/>
              <a:ext cx="3528656" cy="2257028"/>
            </a:xfrm>
            <a:prstGeom prst="rect">
              <a:avLst/>
            </a:prstGeom>
          </p:spPr>
          <p:txBody>
            <a:bodyPr lIns="0" tIns="0" rIns="0" bIns="0" rtlCol="0" anchor="t">
              <a:spAutoFit/>
            </a:bodyPr>
            <a:lstStyle/>
            <a:p>
              <a:r>
                <a:rPr lang="en-US" sz="2000" b="1" u="sng" dirty="0">
                  <a:solidFill>
                    <a:schemeClr val="bg1"/>
                  </a:solidFill>
                  <a:latin typeface="Raleway" pitchFamily="2" charset="0"/>
                </a:rPr>
                <a:t>Sample Dataset</a:t>
              </a:r>
            </a:p>
            <a:p>
              <a:r>
                <a:rPr lang="en-US" dirty="0">
                  <a:solidFill>
                    <a:schemeClr val="bg1"/>
                  </a:solidFill>
                  <a:latin typeface="Raleway" pitchFamily="2" charset="0"/>
                </a:rPr>
                <a:t>Input columns: timestamp, </a:t>
              </a:r>
              <a:r>
                <a:rPr lang="en-US" dirty="0" err="1">
                  <a:solidFill>
                    <a:schemeClr val="bg1"/>
                  </a:solidFill>
                  <a:latin typeface="Raleway" pitchFamily="2" charset="0"/>
                </a:rPr>
                <a:t>visitorid</a:t>
              </a:r>
              <a:r>
                <a:rPr lang="en-US" dirty="0">
                  <a:solidFill>
                    <a:schemeClr val="bg1"/>
                  </a:solidFill>
                  <a:latin typeface="Raleway" pitchFamily="2" charset="0"/>
                </a:rPr>
                <a:t>, event, </a:t>
              </a:r>
              <a:r>
                <a:rPr lang="en-US" dirty="0" err="1">
                  <a:solidFill>
                    <a:schemeClr val="bg1"/>
                  </a:solidFill>
                  <a:latin typeface="Raleway" pitchFamily="2" charset="0"/>
                </a:rPr>
                <a:t>categoryid_final</a:t>
              </a:r>
              <a:endParaRPr lang="en-US" dirty="0">
                <a:solidFill>
                  <a:schemeClr val="bg1"/>
                </a:solidFill>
                <a:latin typeface="Raleway" pitchFamily="2" charset="0"/>
              </a:endParaRPr>
            </a:p>
            <a:p>
              <a:r>
                <a:rPr lang="en-US" dirty="0">
                  <a:solidFill>
                    <a:schemeClr val="bg1"/>
                  </a:solidFill>
                  <a:latin typeface="Raleway" pitchFamily="2" charset="0"/>
                </a:rPr>
                <a:t>Sample: 30k rows, 200 users</a:t>
              </a:r>
            </a:p>
          </p:txBody>
        </p:sp>
      </p:grpSp>
      <p:sp>
        <p:nvSpPr>
          <p:cNvPr id="27" name="Freeform 5">
            <a:extLst>
              <a:ext uri="{FF2B5EF4-FFF2-40B4-BE49-F238E27FC236}">
                <a16:creationId xmlns:a16="http://schemas.microsoft.com/office/drawing/2014/main" id="{BA3EB304-BE00-86C6-1321-73940E934757}"/>
              </a:ext>
            </a:extLst>
          </p:cNvPr>
          <p:cNvSpPr/>
          <p:nvPr/>
        </p:nvSpPr>
        <p:spPr>
          <a:xfrm>
            <a:off x="1095911" y="1140679"/>
            <a:ext cx="16277689" cy="7508021"/>
          </a:xfrm>
          <a:custGeom>
            <a:avLst/>
            <a:gdLst/>
            <a:ahLst/>
            <a:cxnLst/>
            <a:rect l="l" t="t" r="r" b="b"/>
            <a:pathLst>
              <a:path w="10855512" h="6276460">
                <a:moveTo>
                  <a:pt x="0" y="0"/>
                </a:moveTo>
                <a:lnTo>
                  <a:pt x="10855512" y="0"/>
                </a:lnTo>
                <a:lnTo>
                  <a:pt x="10855512" y="6276460"/>
                </a:lnTo>
                <a:lnTo>
                  <a:pt x="0" y="627646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32" name="Group 23">
            <a:extLst>
              <a:ext uri="{FF2B5EF4-FFF2-40B4-BE49-F238E27FC236}">
                <a16:creationId xmlns:a16="http://schemas.microsoft.com/office/drawing/2014/main" id="{996EE839-F285-DFE8-9AB5-B19AD187599F}"/>
              </a:ext>
            </a:extLst>
          </p:cNvPr>
          <p:cNvGrpSpPr/>
          <p:nvPr/>
        </p:nvGrpSpPr>
        <p:grpSpPr>
          <a:xfrm>
            <a:off x="517031" y="1677496"/>
            <a:ext cx="1827704" cy="799004"/>
            <a:chOff x="0" y="0"/>
            <a:chExt cx="481371" cy="210437"/>
          </a:xfrm>
        </p:grpSpPr>
        <p:sp>
          <p:nvSpPr>
            <p:cNvPr id="33" name="Freeform 24">
              <a:extLst>
                <a:ext uri="{FF2B5EF4-FFF2-40B4-BE49-F238E27FC236}">
                  <a16:creationId xmlns:a16="http://schemas.microsoft.com/office/drawing/2014/main" id="{F7A799E6-59C9-000C-4330-5C8657779A06}"/>
                </a:ext>
              </a:extLst>
            </p:cNvPr>
            <p:cNvSpPr/>
            <p:nvPr/>
          </p:nvSpPr>
          <p:spPr>
            <a:xfrm>
              <a:off x="0" y="0"/>
              <a:ext cx="481371" cy="210437"/>
            </a:xfrm>
            <a:custGeom>
              <a:avLst/>
              <a:gdLst/>
              <a:ahLst/>
              <a:cxnLst/>
              <a:rect l="l" t="t" r="r" b="b"/>
              <a:pathLst>
                <a:path w="481371" h="210437">
                  <a:moveTo>
                    <a:pt x="0" y="0"/>
                  </a:moveTo>
                  <a:lnTo>
                    <a:pt x="481371" y="0"/>
                  </a:lnTo>
                  <a:lnTo>
                    <a:pt x="481371" y="210437"/>
                  </a:lnTo>
                  <a:lnTo>
                    <a:pt x="0" y="210437"/>
                  </a:lnTo>
                  <a:close/>
                </a:path>
              </a:pathLst>
            </a:custGeom>
            <a:gradFill rotWithShape="1">
              <a:gsLst>
                <a:gs pos="0">
                  <a:srgbClr val="C6269E">
                    <a:alpha val="100000"/>
                  </a:srgbClr>
                </a:gs>
                <a:gs pos="100000">
                  <a:srgbClr val="DDBAFF">
                    <a:alpha val="12000"/>
                  </a:srgbClr>
                </a:gs>
              </a:gsLst>
              <a:lin ang="0"/>
            </a:gradFill>
          </p:spPr>
        </p:sp>
        <p:sp>
          <p:nvSpPr>
            <p:cNvPr id="34" name="TextBox 25">
              <a:extLst>
                <a:ext uri="{FF2B5EF4-FFF2-40B4-BE49-F238E27FC236}">
                  <a16:creationId xmlns:a16="http://schemas.microsoft.com/office/drawing/2014/main" id="{621FF87C-50B6-65F6-4BF8-D7452A363F51}"/>
                </a:ext>
              </a:extLst>
            </p:cNvPr>
            <p:cNvSpPr txBox="1"/>
            <p:nvPr/>
          </p:nvSpPr>
          <p:spPr>
            <a:xfrm>
              <a:off x="0" y="28575"/>
              <a:ext cx="481371" cy="181862"/>
            </a:xfrm>
            <a:prstGeom prst="rect">
              <a:avLst/>
            </a:prstGeom>
          </p:spPr>
          <p:txBody>
            <a:bodyPr lIns="50800" tIns="50800" rIns="50800" bIns="50800" rtlCol="0" anchor="ctr"/>
            <a:lstStyle/>
            <a:p>
              <a:pPr algn="ctr">
                <a:lnSpc>
                  <a:spcPts val="2661"/>
                </a:lnSpc>
              </a:pPr>
              <a:endParaRPr/>
            </a:p>
          </p:txBody>
        </p:sp>
      </p:grpSp>
      <p:sp>
        <p:nvSpPr>
          <p:cNvPr id="45" name="Freeform 39">
            <a:extLst>
              <a:ext uri="{FF2B5EF4-FFF2-40B4-BE49-F238E27FC236}">
                <a16:creationId xmlns:a16="http://schemas.microsoft.com/office/drawing/2014/main" id="{295E1C90-8748-3E2A-F15B-0459D14A40B9}"/>
              </a:ext>
            </a:extLst>
          </p:cNvPr>
          <p:cNvSpPr/>
          <p:nvPr/>
        </p:nvSpPr>
        <p:spPr>
          <a:xfrm>
            <a:off x="14423220" y="2319347"/>
            <a:ext cx="994760" cy="994760"/>
          </a:xfrm>
          <a:custGeom>
            <a:avLst/>
            <a:gdLst/>
            <a:ahLst/>
            <a:cxnLst/>
            <a:rect l="l" t="t" r="r" b="b"/>
            <a:pathLst>
              <a:path w="994760" h="994760">
                <a:moveTo>
                  <a:pt x="0" y="0"/>
                </a:moveTo>
                <a:lnTo>
                  <a:pt x="994760" y="0"/>
                </a:lnTo>
                <a:lnTo>
                  <a:pt x="994760" y="994761"/>
                </a:lnTo>
                <a:lnTo>
                  <a:pt x="0" y="99476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42" name="TextBox 4">
            <a:extLst>
              <a:ext uri="{FF2B5EF4-FFF2-40B4-BE49-F238E27FC236}">
                <a16:creationId xmlns:a16="http://schemas.microsoft.com/office/drawing/2014/main" id="{B7B4B072-6252-CB52-5227-E64C28D92360}"/>
              </a:ext>
            </a:extLst>
          </p:cNvPr>
          <p:cNvSpPr txBox="1"/>
          <p:nvPr/>
        </p:nvSpPr>
        <p:spPr>
          <a:xfrm rot="16200000">
            <a:off x="129306" y="8890751"/>
            <a:ext cx="1078468" cy="218008"/>
          </a:xfrm>
          <a:prstGeom prst="rect">
            <a:avLst/>
          </a:prstGeom>
        </p:spPr>
        <p:txBody>
          <a:bodyPr lIns="0" tIns="0" rIns="0" bIns="0" rtlCol="0" anchor="t">
            <a:spAutoFit/>
          </a:bodyPr>
          <a:lstStyle/>
          <a:p>
            <a:pPr algn="ctr">
              <a:lnSpc>
                <a:spcPts val="1725"/>
              </a:lnSpc>
              <a:spcBef>
                <a:spcPct val="0"/>
              </a:spcBef>
            </a:pPr>
            <a:r>
              <a:rPr lang="en-US" sz="1658" dirty="0">
                <a:solidFill>
                  <a:srgbClr val="FFFFFF"/>
                </a:solidFill>
                <a:latin typeface="Raleway"/>
                <a:ea typeface="Raleway"/>
                <a:cs typeface="Raleway"/>
                <a:sym typeface="Raleway"/>
              </a:rPr>
              <a:t>Page  4</a:t>
            </a:r>
          </a:p>
        </p:txBody>
      </p:sp>
      <p:sp>
        <p:nvSpPr>
          <p:cNvPr id="43" name="TextBox 8">
            <a:extLst>
              <a:ext uri="{FF2B5EF4-FFF2-40B4-BE49-F238E27FC236}">
                <a16:creationId xmlns:a16="http://schemas.microsoft.com/office/drawing/2014/main" id="{A41B1100-7529-0A2E-4887-1D5938810394}"/>
              </a:ext>
            </a:extLst>
          </p:cNvPr>
          <p:cNvSpPr txBox="1"/>
          <p:nvPr/>
        </p:nvSpPr>
        <p:spPr>
          <a:xfrm>
            <a:off x="15309115" y="9063294"/>
            <a:ext cx="1716617" cy="277925"/>
          </a:xfrm>
          <a:prstGeom prst="rect">
            <a:avLst/>
          </a:prstGeom>
        </p:spPr>
        <p:txBody>
          <a:bodyPr lIns="0" tIns="0" rIns="0" bIns="0" rtlCol="0" anchor="t">
            <a:spAutoFit/>
          </a:bodyPr>
          <a:lstStyle/>
          <a:p>
            <a:pPr algn="l">
              <a:lnSpc>
                <a:spcPts val="2037"/>
              </a:lnSpc>
              <a:spcBef>
                <a:spcPct val="0"/>
              </a:spcBef>
            </a:pPr>
            <a:r>
              <a:rPr lang="en-US" sz="1958">
                <a:solidFill>
                  <a:srgbClr val="FFFFFF"/>
                </a:solidFill>
                <a:latin typeface="Raleway"/>
                <a:ea typeface="Raleway"/>
                <a:cs typeface="Raleway"/>
                <a:sym typeface="Raleway"/>
              </a:rPr>
              <a:t>Next Slide</a:t>
            </a:r>
          </a:p>
        </p:txBody>
      </p:sp>
      <p:sp>
        <p:nvSpPr>
          <p:cNvPr id="44" name="Freeform 9">
            <a:extLst>
              <a:ext uri="{FF2B5EF4-FFF2-40B4-BE49-F238E27FC236}">
                <a16:creationId xmlns:a16="http://schemas.microsoft.com/office/drawing/2014/main" id="{470BA36C-7C6F-F567-D62E-01AA79FFBAD2}"/>
              </a:ext>
            </a:extLst>
          </p:cNvPr>
          <p:cNvSpPr/>
          <p:nvPr/>
        </p:nvSpPr>
        <p:spPr>
          <a:xfrm flipH="1">
            <a:off x="16998830" y="8999755"/>
            <a:ext cx="416017" cy="418299"/>
          </a:xfrm>
          <a:custGeom>
            <a:avLst/>
            <a:gdLst/>
            <a:ahLst/>
            <a:cxnLst/>
            <a:rect l="l" t="t" r="r" b="b"/>
            <a:pathLst>
              <a:path w="416017" h="418299">
                <a:moveTo>
                  <a:pt x="416017" y="0"/>
                </a:moveTo>
                <a:lnTo>
                  <a:pt x="0" y="0"/>
                </a:lnTo>
                <a:lnTo>
                  <a:pt x="0" y="418299"/>
                </a:lnTo>
                <a:lnTo>
                  <a:pt x="416017" y="418299"/>
                </a:lnTo>
                <a:lnTo>
                  <a:pt x="416017" y="0"/>
                </a:lnTo>
                <a:close/>
              </a:path>
            </a:pathLst>
          </a:custGeom>
          <a:blipFill>
            <a:blip r:embed="rId7">
              <a:extLst>
                <a:ext uri="{96DAC541-7B7A-43D3-8B79-37D633B846F1}">
                  <asvg:svgBlip xmlns:asvg="http://schemas.microsoft.com/office/drawing/2016/SVG/main" r:embed="rId8"/>
                </a:ext>
              </a:extLst>
            </a:blip>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59" b="-9259"/>
            </a:stretch>
          </a:blipFill>
        </p:spPr>
      </p:sp>
      <p:grpSp>
        <p:nvGrpSpPr>
          <p:cNvPr id="3" name="Group 3"/>
          <p:cNvGrpSpPr/>
          <p:nvPr/>
        </p:nvGrpSpPr>
        <p:grpSpPr>
          <a:xfrm>
            <a:off x="6995244" y="2519982"/>
            <a:ext cx="4297511" cy="4564814"/>
            <a:chOff x="0" y="30777"/>
            <a:chExt cx="5730015" cy="6086419"/>
          </a:xfrm>
        </p:grpSpPr>
        <p:sp>
          <p:nvSpPr>
            <p:cNvPr id="4" name="Freeform 4"/>
            <p:cNvSpPr/>
            <p:nvPr/>
          </p:nvSpPr>
          <p:spPr>
            <a:xfrm rot="-7900054">
              <a:off x="402458" y="402817"/>
              <a:ext cx="1350642" cy="606561"/>
            </a:xfrm>
            <a:custGeom>
              <a:avLst/>
              <a:gdLst/>
              <a:ahLst/>
              <a:cxnLst/>
              <a:rect l="l" t="t" r="r" b="b"/>
              <a:pathLst>
                <a:path w="1350642" h="606561">
                  <a:moveTo>
                    <a:pt x="0" y="0"/>
                  </a:moveTo>
                  <a:lnTo>
                    <a:pt x="1350641" y="0"/>
                  </a:lnTo>
                  <a:lnTo>
                    <a:pt x="1350641" y="606561"/>
                  </a:lnTo>
                  <a:lnTo>
                    <a:pt x="0" y="60656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2700000">
              <a:off x="3960453" y="418109"/>
              <a:ext cx="1350642" cy="606561"/>
            </a:xfrm>
            <a:custGeom>
              <a:avLst/>
              <a:gdLst/>
              <a:ahLst/>
              <a:cxnLst/>
              <a:rect l="l" t="t" r="r" b="b"/>
              <a:pathLst>
                <a:path w="1350642" h="606561">
                  <a:moveTo>
                    <a:pt x="0" y="0"/>
                  </a:moveTo>
                  <a:lnTo>
                    <a:pt x="1350642" y="0"/>
                  </a:lnTo>
                  <a:lnTo>
                    <a:pt x="1350642" y="606561"/>
                  </a:lnTo>
                  <a:lnTo>
                    <a:pt x="0" y="60656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rot="3209977">
              <a:off x="4029166" y="5138594"/>
              <a:ext cx="1350642" cy="606561"/>
            </a:xfrm>
            <a:custGeom>
              <a:avLst/>
              <a:gdLst/>
              <a:ahLst/>
              <a:cxnLst/>
              <a:rect l="l" t="t" r="r" b="b"/>
              <a:pathLst>
                <a:path w="1350642" h="606561">
                  <a:moveTo>
                    <a:pt x="0" y="0"/>
                  </a:moveTo>
                  <a:lnTo>
                    <a:pt x="1350642" y="0"/>
                  </a:lnTo>
                  <a:lnTo>
                    <a:pt x="1350642" y="606561"/>
                  </a:lnTo>
                  <a:lnTo>
                    <a:pt x="0" y="60656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rot="7866361">
              <a:off x="377227" y="5106418"/>
              <a:ext cx="1350642" cy="606561"/>
            </a:xfrm>
            <a:custGeom>
              <a:avLst/>
              <a:gdLst/>
              <a:ahLst/>
              <a:cxnLst/>
              <a:rect l="l" t="t" r="r" b="b"/>
              <a:pathLst>
                <a:path w="1350642" h="606561">
                  <a:moveTo>
                    <a:pt x="0" y="0"/>
                  </a:moveTo>
                  <a:lnTo>
                    <a:pt x="1350642" y="0"/>
                  </a:lnTo>
                  <a:lnTo>
                    <a:pt x="1350642" y="606561"/>
                  </a:lnTo>
                  <a:lnTo>
                    <a:pt x="0" y="60656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TextBox 8"/>
            <p:cNvSpPr txBox="1"/>
            <p:nvPr/>
          </p:nvSpPr>
          <p:spPr>
            <a:xfrm>
              <a:off x="0" y="1395201"/>
              <a:ext cx="5730015" cy="3323987"/>
            </a:xfrm>
            <a:prstGeom prst="rect">
              <a:avLst/>
            </a:prstGeom>
          </p:spPr>
          <p:txBody>
            <a:bodyPr lIns="0" tIns="0" rIns="0" bIns="0" rtlCol="0" anchor="t">
              <a:spAutoFit/>
            </a:bodyPr>
            <a:lstStyle/>
            <a:p>
              <a:pPr marL="0" lvl="1" indent="0" algn="ctr">
                <a:spcBef>
                  <a:spcPct val="0"/>
                </a:spcBef>
              </a:pPr>
              <a:r>
                <a:rPr lang="en-US" sz="5400" dirty="0">
                  <a:solidFill>
                    <a:srgbClr val="FFFFFF"/>
                  </a:solidFill>
                  <a:latin typeface="Archivo Black"/>
                  <a:ea typeface="Archivo Black"/>
                  <a:cs typeface="Archivo Black"/>
                  <a:sym typeface="Archivo Black"/>
                </a:rPr>
                <a:t>System Flow </a:t>
              </a:r>
              <a:br>
                <a:rPr lang="en-US" sz="5400" dirty="0">
                  <a:solidFill>
                    <a:srgbClr val="FFFFFF"/>
                  </a:solidFill>
                  <a:latin typeface="Archivo Black"/>
                  <a:ea typeface="Archivo Black"/>
                  <a:cs typeface="Archivo Black"/>
                  <a:sym typeface="Archivo Black"/>
                </a:rPr>
              </a:br>
              <a:r>
                <a:rPr lang="en-US" sz="5400" dirty="0">
                  <a:solidFill>
                    <a:srgbClr val="FFFFFF"/>
                  </a:solidFill>
                  <a:latin typeface="Archivo Black"/>
                  <a:ea typeface="Archivo Black"/>
                  <a:cs typeface="Archivo Black"/>
                  <a:sym typeface="Archivo Black"/>
                </a:rPr>
                <a:t>Diagram</a:t>
              </a:r>
            </a:p>
          </p:txBody>
        </p:sp>
      </p:grpSp>
      <p:grpSp>
        <p:nvGrpSpPr>
          <p:cNvPr id="10" name="Group 10"/>
          <p:cNvGrpSpPr/>
          <p:nvPr/>
        </p:nvGrpSpPr>
        <p:grpSpPr>
          <a:xfrm>
            <a:off x="1028700" y="1025292"/>
            <a:ext cx="16230600" cy="8236416"/>
            <a:chOff x="0" y="0"/>
            <a:chExt cx="21640800" cy="10981888"/>
          </a:xfrm>
        </p:grpSpPr>
        <p:grpSp>
          <p:nvGrpSpPr>
            <p:cNvPr id="11" name="Group 11"/>
            <p:cNvGrpSpPr/>
            <p:nvPr/>
          </p:nvGrpSpPr>
          <p:grpSpPr>
            <a:xfrm>
              <a:off x="0" y="4544"/>
              <a:ext cx="7449652" cy="3550563"/>
              <a:chOff x="0" y="0"/>
              <a:chExt cx="2065940" cy="984643"/>
            </a:xfrm>
          </p:grpSpPr>
          <p:sp>
            <p:nvSpPr>
              <p:cNvPr id="12" name="Freeform 12"/>
              <p:cNvSpPr/>
              <p:nvPr/>
            </p:nvSpPr>
            <p:spPr>
              <a:xfrm>
                <a:off x="0" y="0"/>
                <a:ext cx="2065940" cy="984643"/>
              </a:xfrm>
              <a:custGeom>
                <a:avLst/>
                <a:gdLst/>
                <a:ahLst/>
                <a:cxnLst/>
                <a:rect l="l" t="t" r="r" b="b"/>
                <a:pathLst>
                  <a:path w="2065940" h="984643">
                    <a:moveTo>
                      <a:pt x="27713" y="0"/>
                    </a:moveTo>
                    <a:lnTo>
                      <a:pt x="2038228" y="0"/>
                    </a:lnTo>
                    <a:cubicBezTo>
                      <a:pt x="2053533" y="0"/>
                      <a:pt x="2065940" y="12407"/>
                      <a:pt x="2065940" y="27713"/>
                    </a:cubicBezTo>
                    <a:lnTo>
                      <a:pt x="2065940" y="956931"/>
                    </a:lnTo>
                    <a:cubicBezTo>
                      <a:pt x="2065940" y="964280"/>
                      <a:pt x="2063021" y="971329"/>
                      <a:pt x="2057823" y="976527"/>
                    </a:cubicBezTo>
                    <a:cubicBezTo>
                      <a:pt x="2052626" y="981724"/>
                      <a:pt x="2045577" y="984643"/>
                      <a:pt x="2038228" y="984643"/>
                    </a:cubicBezTo>
                    <a:lnTo>
                      <a:pt x="27713" y="984643"/>
                    </a:lnTo>
                    <a:cubicBezTo>
                      <a:pt x="20363" y="984643"/>
                      <a:pt x="13314" y="981724"/>
                      <a:pt x="8117" y="976527"/>
                    </a:cubicBezTo>
                    <a:cubicBezTo>
                      <a:pt x="2920" y="971329"/>
                      <a:pt x="0" y="964280"/>
                      <a:pt x="0" y="956931"/>
                    </a:cubicBezTo>
                    <a:lnTo>
                      <a:pt x="0" y="27713"/>
                    </a:lnTo>
                    <a:cubicBezTo>
                      <a:pt x="0" y="12407"/>
                      <a:pt x="12407" y="0"/>
                      <a:pt x="27713" y="0"/>
                    </a:cubicBezTo>
                    <a:close/>
                  </a:path>
                </a:pathLst>
              </a:custGeom>
              <a:solidFill>
                <a:srgbClr val="04001E"/>
              </a:solidFill>
              <a:ln w="38100" cap="sq">
                <a:solidFill>
                  <a:srgbClr val="E5E1DA"/>
                </a:solidFill>
                <a:prstDash val="solid"/>
                <a:miter/>
              </a:ln>
            </p:spPr>
          </p:sp>
          <p:sp>
            <p:nvSpPr>
              <p:cNvPr id="13" name="TextBox 13"/>
              <p:cNvSpPr txBox="1"/>
              <p:nvPr/>
            </p:nvSpPr>
            <p:spPr>
              <a:xfrm>
                <a:off x="0" y="-38100"/>
                <a:ext cx="2065940" cy="1022743"/>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4" name="Group 14"/>
            <p:cNvGrpSpPr/>
            <p:nvPr/>
          </p:nvGrpSpPr>
          <p:grpSpPr>
            <a:xfrm>
              <a:off x="0" y="3715663"/>
              <a:ext cx="7449652" cy="3550563"/>
              <a:chOff x="0" y="0"/>
              <a:chExt cx="2065940" cy="984643"/>
            </a:xfrm>
          </p:grpSpPr>
          <p:sp>
            <p:nvSpPr>
              <p:cNvPr id="15" name="Freeform 15"/>
              <p:cNvSpPr/>
              <p:nvPr/>
            </p:nvSpPr>
            <p:spPr>
              <a:xfrm>
                <a:off x="0" y="0"/>
                <a:ext cx="2065940" cy="984643"/>
              </a:xfrm>
              <a:custGeom>
                <a:avLst/>
                <a:gdLst/>
                <a:ahLst/>
                <a:cxnLst/>
                <a:rect l="l" t="t" r="r" b="b"/>
                <a:pathLst>
                  <a:path w="2065940" h="984643">
                    <a:moveTo>
                      <a:pt x="27713" y="0"/>
                    </a:moveTo>
                    <a:lnTo>
                      <a:pt x="2038228" y="0"/>
                    </a:lnTo>
                    <a:cubicBezTo>
                      <a:pt x="2053533" y="0"/>
                      <a:pt x="2065940" y="12407"/>
                      <a:pt x="2065940" y="27713"/>
                    </a:cubicBezTo>
                    <a:lnTo>
                      <a:pt x="2065940" y="956931"/>
                    </a:lnTo>
                    <a:cubicBezTo>
                      <a:pt x="2065940" y="964280"/>
                      <a:pt x="2063021" y="971329"/>
                      <a:pt x="2057823" y="976527"/>
                    </a:cubicBezTo>
                    <a:cubicBezTo>
                      <a:pt x="2052626" y="981724"/>
                      <a:pt x="2045577" y="984643"/>
                      <a:pt x="2038228" y="984643"/>
                    </a:cubicBezTo>
                    <a:lnTo>
                      <a:pt x="27713" y="984643"/>
                    </a:lnTo>
                    <a:cubicBezTo>
                      <a:pt x="20363" y="984643"/>
                      <a:pt x="13314" y="981724"/>
                      <a:pt x="8117" y="976527"/>
                    </a:cubicBezTo>
                    <a:cubicBezTo>
                      <a:pt x="2920" y="971329"/>
                      <a:pt x="0" y="964280"/>
                      <a:pt x="0" y="956931"/>
                    </a:cubicBezTo>
                    <a:lnTo>
                      <a:pt x="0" y="27713"/>
                    </a:lnTo>
                    <a:cubicBezTo>
                      <a:pt x="0" y="12407"/>
                      <a:pt x="12407" y="0"/>
                      <a:pt x="27713" y="0"/>
                    </a:cubicBezTo>
                    <a:close/>
                  </a:path>
                </a:pathLst>
              </a:custGeom>
              <a:solidFill>
                <a:srgbClr val="04001E"/>
              </a:solidFill>
              <a:ln w="38100" cap="sq">
                <a:solidFill>
                  <a:srgbClr val="E5E1DA"/>
                </a:solidFill>
                <a:prstDash val="solid"/>
                <a:miter/>
              </a:ln>
            </p:spPr>
          </p:sp>
          <p:sp>
            <p:nvSpPr>
              <p:cNvPr id="16" name="TextBox 16"/>
              <p:cNvSpPr txBox="1"/>
              <p:nvPr/>
            </p:nvSpPr>
            <p:spPr>
              <a:xfrm>
                <a:off x="0" y="-38100"/>
                <a:ext cx="2065940" cy="1022743"/>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7" name="Group 17"/>
            <p:cNvGrpSpPr/>
            <p:nvPr/>
          </p:nvGrpSpPr>
          <p:grpSpPr>
            <a:xfrm>
              <a:off x="0" y="7431325"/>
              <a:ext cx="7449652" cy="3550563"/>
              <a:chOff x="0" y="0"/>
              <a:chExt cx="2065940" cy="984643"/>
            </a:xfrm>
          </p:grpSpPr>
          <p:sp>
            <p:nvSpPr>
              <p:cNvPr id="18" name="Freeform 18"/>
              <p:cNvSpPr/>
              <p:nvPr/>
            </p:nvSpPr>
            <p:spPr>
              <a:xfrm>
                <a:off x="0" y="0"/>
                <a:ext cx="2065940" cy="984643"/>
              </a:xfrm>
              <a:custGeom>
                <a:avLst/>
                <a:gdLst/>
                <a:ahLst/>
                <a:cxnLst/>
                <a:rect l="l" t="t" r="r" b="b"/>
                <a:pathLst>
                  <a:path w="2065940" h="984643">
                    <a:moveTo>
                      <a:pt x="27713" y="0"/>
                    </a:moveTo>
                    <a:lnTo>
                      <a:pt x="2038228" y="0"/>
                    </a:lnTo>
                    <a:cubicBezTo>
                      <a:pt x="2053533" y="0"/>
                      <a:pt x="2065940" y="12407"/>
                      <a:pt x="2065940" y="27713"/>
                    </a:cubicBezTo>
                    <a:lnTo>
                      <a:pt x="2065940" y="956931"/>
                    </a:lnTo>
                    <a:cubicBezTo>
                      <a:pt x="2065940" y="964280"/>
                      <a:pt x="2063021" y="971329"/>
                      <a:pt x="2057823" y="976527"/>
                    </a:cubicBezTo>
                    <a:cubicBezTo>
                      <a:pt x="2052626" y="981724"/>
                      <a:pt x="2045577" y="984643"/>
                      <a:pt x="2038228" y="984643"/>
                    </a:cubicBezTo>
                    <a:lnTo>
                      <a:pt x="27713" y="984643"/>
                    </a:lnTo>
                    <a:cubicBezTo>
                      <a:pt x="20363" y="984643"/>
                      <a:pt x="13314" y="981724"/>
                      <a:pt x="8117" y="976527"/>
                    </a:cubicBezTo>
                    <a:cubicBezTo>
                      <a:pt x="2920" y="971329"/>
                      <a:pt x="0" y="964280"/>
                      <a:pt x="0" y="956931"/>
                    </a:cubicBezTo>
                    <a:lnTo>
                      <a:pt x="0" y="27713"/>
                    </a:lnTo>
                    <a:cubicBezTo>
                      <a:pt x="0" y="12407"/>
                      <a:pt x="12407" y="0"/>
                      <a:pt x="27713" y="0"/>
                    </a:cubicBezTo>
                    <a:close/>
                  </a:path>
                </a:pathLst>
              </a:custGeom>
              <a:solidFill>
                <a:srgbClr val="04001E"/>
              </a:solidFill>
              <a:ln w="38100" cap="sq">
                <a:solidFill>
                  <a:srgbClr val="E5E1DA"/>
                </a:solidFill>
                <a:prstDash val="solid"/>
                <a:miter/>
              </a:ln>
            </p:spPr>
          </p:sp>
          <p:sp>
            <p:nvSpPr>
              <p:cNvPr id="19" name="TextBox 19"/>
              <p:cNvSpPr txBox="1"/>
              <p:nvPr/>
            </p:nvSpPr>
            <p:spPr>
              <a:xfrm>
                <a:off x="0" y="-38100"/>
                <a:ext cx="2065940" cy="102274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3" name="TextBox 23"/>
            <p:cNvSpPr txBox="1"/>
            <p:nvPr/>
          </p:nvSpPr>
          <p:spPr>
            <a:xfrm>
              <a:off x="506537" y="528715"/>
              <a:ext cx="2112169" cy="1675929"/>
            </a:xfrm>
            <a:prstGeom prst="rect">
              <a:avLst/>
            </a:prstGeom>
          </p:spPr>
          <p:txBody>
            <a:bodyPr lIns="0" tIns="0" rIns="0" bIns="0" rtlCol="0" anchor="t">
              <a:spAutoFit/>
            </a:bodyPr>
            <a:lstStyle/>
            <a:p>
              <a:pPr algn="ctr">
                <a:lnSpc>
                  <a:spcPts val="10411"/>
                </a:lnSpc>
                <a:spcBef>
                  <a:spcPct val="0"/>
                </a:spcBef>
              </a:pPr>
              <a:r>
                <a:rPr lang="en-US" sz="7200" dirty="0">
                  <a:solidFill>
                    <a:srgbClr val="FFFFFF"/>
                  </a:solidFill>
                  <a:latin typeface="Archivo Black"/>
                  <a:ea typeface="Archivo Black"/>
                  <a:cs typeface="Archivo Black"/>
                  <a:sym typeface="Archivo Black"/>
                </a:rPr>
                <a:t>01.</a:t>
              </a:r>
            </a:p>
          </p:txBody>
        </p:sp>
        <p:sp>
          <p:nvSpPr>
            <p:cNvPr id="24" name="TextBox 24"/>
            <p:cNvSpPr txBox="1"/>
            <p:nvPr/>
          </p:nvSpPr>
          <p:spPr>
            <a:xfrm>
              <a:off x="506537" y="4211259"/>
              <a:ext cx="2577703" cy="2008980"/>
            </a:xfrm>
            <a:prstGeom prst="rect">
              <a:avLst/>
            </a:prstGeom>
          </p:spPr>
          <p:txBody>
            <a:bodyPr lIns="0" tIns="0" rIns="0" bIns="0" rtlCol="0" anchor="t">
              <a:spAutoFit/>
            </a:bodyPr>
            <a:lstStyle/>
            <a:p>
              <a:pPr algn="ctr">
                <a:lnSpc>
                  <a:spcPts val="12632"/>
                </a:lnSpc>
                <a:spcBef>
                  <a:spcPct val="0"/>
                </a:spcBef>
              </a:pPr>
              <a:r>
                <a:rPr lang="en-US" sz="7200" dirty="0">
                  <a:solidFill>
                    <a:srgbClr val="FFFFFF"/>
                  </a:solidFill>
                  <a:latin typeface="Archivo Black"/>
                  <a:ea typeface="Archivo Black"/>
                  <a:cs typeface="Archivo Black"/>
                  <a:sym typeface="Archivo Black"/>
                </a:rPr>
                <a:t>02.</a:t>
              </a:r>
            </a:p>
          </p:txBody>
        </p:sp>
        <p:sp>
          <p:nvSpPr>
            <p:cNvPr id="25" name="TextBox 25"/>
            <p:cNvSpPr txBox="1"/>
            <p:nvPr/>
          </p:nvSpPr>
          <p:spPr>
            <a:xfrm>
              <a:off x="506537" y="7917397"/>
              <a:ext cx="2651323" cy="2084469"/>
            </a:xfrm>
            <a:prstGeom prst="rect">
              <a:avLst/>
            </a:prstGeom>
          </p:spPr>
          <p:txBody>
            <a:bodyPr lIns="0" tIns="0" rIns="0" bIns="0" rtlCol="0" anchor="t">
              <a:spAutoFit/>
            </a:bodyPr>
            <a:lstStyle/>
            <a:p>
              <a:pPr algn="ctr">
                <a:lnSpc>
                  <a:spcPts val="13056"/>
                </a:lnSpc>
                <a:spcBef>
                  <a:spcPct val="0"/>
                </a:spcBef>
              </a:pPr>
              <a:r>
                <a:rPr lang="en-US" sz="7200" dirty="0">
                  <a:solidFill>
                    <a:srgbClr val="FFFFFF"/>
                  </a:solidFill>
                  <a:latin typeface="Archivo Black"/>
                  <a:ea typeface="Archivo Black"/>
                  <a:cs typeface="Archivo Black"/>
                  <a:sym typeface="Archivo Black"/>
                </a:rPr>
                <a:t>03.</a:t>
              </a:r>
            </a:p>
          </p:txBody>
        </p:sp>
        <p:grpSp>
          <p:nvGrpSpPr>
            <p:cNvPr id="26" name="Group 26"/>
            <p:cNvGrpSpPr/>
            <p:nvPr/>
          </p:nvGrpSpPr>
          <p:grpSpPr>
            <a:xfrm>
              <a:off x="14191148" y="0"/>
              <a:ext cx="7449652" cy="3550563"/>
              <a:chOff x="0" y="0"/>
              <a:chExt cx="2065940" cy="984643"/>
            </a:xfrm>
          </p:grpSpPr>
          <p:sp>
            <p:nvSpPr>
              <p:cNvPr id="27" name="Freeform 27"/>
              <p:cNvSpPr/>
              <p:nvPr/>
            </p:nvSpPr>
            <p:spPr>
              <a:xfrm>
                <a:off x="0" y="0"/>
                <a:ext cx="2065940" cy="984643"/>
              </a:xfrm>
              <a:custGeom>
                <a:avLst/>
                <a:gdLst/>
                <a:ahLst/>
                <a:cxnLst/>
                <a:rect l="l" t="t" r="r" b="b"/>
                <a:pathLst>
                  <a:path w="2065940" h="984643">
                    <a:moveTo>
                      <a:pt x="27713" y="0"/>
                    </a:moveTo>
                    <a:lnTo>
                      <a:pt x="2038228" y="0"/>
                    </a:lnTo>
                    <a:cubicBezTo>
                      <a:pt x="2053533" y="0"/>
                      <a:pt x="2065940" y="12407"/>
                      <a:pt x="2065940" y="27713"/>
                    </a:cubicBezTo>
                    <a:lnTo>
                      <a:pt x="2065940" y="956931"/>
                    </a:lnTo>
                    <a:cubicBezTo>
                      <a:pt x="2065940" y="964280"/>
                      <a:pt x="2063021" y="971329"/>
                      <a:pt x="2057823" y="976527"/>
                    </a:cubicBezTo>
                    <a:cubicBezTo>
                      <a:pt x="2052626" y="981724"/>
                      <a:pt x="2045577" y="984643"/>
                      <a:pt x="2038228" y="984643"/>
                    </a:cubicBezTo>
                    <a:lnTo>
                      <a:pt x="27713" y="984643"/>
                    </a:lnTo>
                    <a:cubicBezTo>
                      <a:pt x="20363" y="984643"/>
                      <a:pt x="13314" y="981724"/>
                      <a:pt x="8117" y="976527"/>
                    </a:cubicBezTo>
                    <a:cubicBezTo>
                      <a:pt x="2920" y="971329"/>
                      <a:pt x="0" y="964280"/>
                      <a:pt x="0" y="956931"/>
                    </a:cubicBezTo>
                    <a:lnTo>
                      <a:pt x="0" y="27713"/>
                    </a:lnTo>
                    <a:cubicBezTo>
                      <a:pt x="0" y="12407"/>
                      <a:pt x="12407" y="0"/>
                      <a:pt x="27713" y="0"/>
                    </a:cubicBezTo>
                    <a:close/>
                  </a:path>
                </a:pathLst>
              </a:custGeom>
              <a:solidFill>
                <a:srgbClr val="04001E"/>
              </a:solidFill>
              <a:ln w="38100" cap="sq">
                <a:solidFill>
                  <a:srgbClr val="E5E1DA"/>
                </a:solidFill>
                <a:prstDash val="solid"/>
                <a:miter/>
              </a:ln>
            </p:spPr>
          </p:sp>
          <p:sp>
            <p:nvSpPr>
              <p:cNvPr id="28" name="TextBox 28"/>
              <p:cNvSpPr txBox="1"/>
              <p:nvPr/>
            </p:nvSpPr>
            <p:spPr>
              <a:xfrm>
                <a:off x="0" y="-38100"/>
                <a:ext cx="2065940" cy="1022743"/>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9" name="Group 29"/>
            <p:cNvGrpSpPr/>
            <p:nvPr/>
          </p:nvGrpSpPr>
          <p:grpSpPr>
            <a:xfrm>
              <a:off x="14191148" y="3711119"/>
              <a:ext cx="7449652" cy="3550563"/>
              <a:chOff x="0" y="0"/>
              <a:chExt cx="2065940" cy="984643"/>
            </a:xfrm>
          </p:grpSpPr>
          <p:sp>
            <p:nvSpPr>
              <p:cNvPr id="30" name="Freeform 30"/>
              <p:cNvSpPr/>
              <p:nvPr/>
            </p:nvSpPr>
            <p:spPr>
              <a:xfrm>
                <a:off x="0" y="0"/>
                <a:ext cx="2065940" cy="984643"/>
              </a:xfrm>
              <a:custGeom>
                <a:avLst/>
                <a:gdLst/>
                <a:ahLst/>
                <a:cxnLst/>
                <a:rect l="l" t="t" r="r" b="b"/>
                <a:pathLst>
                  <a:path w="2065940" h="984643">
                    <a:moveTo>
                      <a:pt x="27713" y="0"/>
                    </a:moveTo>
                    <a:lnTo>
                      <a:pt x="2038228" y="0"/>
                    </a:lnTo>
                    <a:cubicBezTo>
                      <a:pt x="2053533" y="0"/>
                      <a:pt x="2065940" y="12407"/>
                      <a:pt x="2065940" y="27713"/>
                    </a:cubicBezTo>
                    <a:lnTo>
                      <a:pt x="2065940" y="956931"/>
                    </a:lnTo>
                    <a:cubicBezTo>
                      <a:pt x="2065940" y="964280"/>
                      <a:pt x="2063021" y="971329"/>
                      <a:pt x="2057823" y="976527"/>
                    </a:cubicBezTo>
                    <a:cubicBezTo>
                      <a:pt x="2052626" y="981724"/>
                      <a:pt x="2045577" y="984643"/>
                      <a:pt x="2038228" y="984643"/>
                    </a:cubicBezTo>
                    <a:lnTo>
                      <a:pt x="27713" y="984643"/>
                    </a:lnTo>
                    <a:cubicBezTo>
                      <a:pt x="20363" y="984643"/>
                      <a:pt x="13314" y="981724"/>
                      <a:pt x="8117" y="976527"/>
                    </a:cubicBezTo>
                    <a:cubicBezTo>
                      <a:pt x="2920" y="971329"/>
                      <a:pt x="0" y="964280"/>
                      <a:pt x="0" y="956931"/>
                    </a:cubicBezTo>
                    <a:lnTo>
                      <a:pt x="0" y="27713"/>
                    </a:lnTo>
                    <a:cubicBezTo>
                      <a:pt x="0" y="12407"/>
                      <a:pt x="12407" y="0"/>
                      <a:pt x="27713" y="0"/>
                    </a:cubicBezTo>
                    <a:close/>
                  </a:path>
                </a:pathLst>
              </a:custGeom>
              <a:solidFill>
                <a:srgbClr val="04001E"/>
              </a:solidFill>
              <a:ln w="38100" cap="sq">
                <a:solidFill>
                  <a:srgbClr val="E5E1DA"/>
                </a:solidFill>
                <a:prstDash val="solid"/>
                <a:miter/>
              </a:ln>
            </p:spPr>
          </p:sp>
          <p:sp>
            <p:nvSpPr>
              <p:cNvPr id="31" name="TextBox 31"/>
              <p:cNvSpPr txBox="1"/>
              <p:nvPr/>
            </p:nvSpPr>
            <p:spPr>
              <a:xfrm>
                <a:off x="0" y="-38100"/>
                <a:ext cx="2065940" cy="1022743"/>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32" name="Group 32"/>
            <p:cNvGrpSpPr/>
            <p:nvPr/>
          </p:nvGrpSpPr>
          <p:grpSpPr>
            <a:xfrm>
              <a:off x="14191148" y="7426781"/>
              <a:ext cx="7449652" cy="3550563"/>
              <a:chOff x="0" y="0"/>
              <a:chExt cx="2065940" cy="984643"/>
            </a:xfrm>
          </p:grpSpPr>
          <p:sp>
            <p:nvSpPr>
              <p:cNvPr id="33" name="Freeform 33"/>
              <p:cNvSpPr/>
              <p:nvPr/>
            </p:nvSpPr>
            <p:spPr>
              <a:xfrm>
                <a:off x="0" y="0"/>
                <a:ext cx="2065940" cy="984643"/>
              </a:xfrm>
              <a:custGeom>
                <a:avLst/>
                <a:gdLst/>
                <a:ahLst/>
                <a:cxnLst/>
                <a:rect l="l" t="t" r="r" b="b"/>
                <a:pathLst>
                  <a:path w="2065940" h="984643">
                    <a:moveTo>
                      <a:pt x="27713" y="0"/>
                    </a:moveTo>
                    <a:lnTo>
                      <a:pt x="2038228" y="0"/>
                    </a:lnTo>
                    <a:cubicBezTo>
                      <a:pt x="2053533" y="0"/>
                      <a:pt x="2065940" y="12407"/>
                      <a:pt x="2065940" y="27713"/>
                    </a:cubicBezTo>
                    <a:lnTo>
                      <a:pt x="2065940" y="956931"/>
                    </a:lnTo>
                    <a:cubicBezTo>
                      <a:pt x="2065940" y="964280"/>
                      <a:pt x="2063021" y="971329"/>
                      <a:pt x="2057823" y="976527"/>
                    </a:cubicBezTo>
                    <a:cubicBezTo>
                      <a:pt x="2052626" y="981724"/>
                      <a:pt x="2045577" y="984643"/>
                      <a:pt x="2038228" y="984643"/>
                    </a:cubicBezTo>
                    <a:lnTo>
                      <a:pt x="27713" y="984643"/>
                    </a:lnTo>
                    <a:cubicBezTo>
                      <a:pt x="20363" y="984643"/>
                      <a:pt x="13314" y="981724"/>
                      <a:pt x="8117" y="976527"/>
                    </a:cubicBezTo>
                    <a:cubicBezTo>
                      <a:pt x="2920" y="971329"/>
                      <a:pt x="0" y="964280"/>
                      <a:pt x="0" y="956931"/>
                    </a:cubicBezTo>
                    <a:lnTo>
                      <a:pt x="0" y="27713"/>
                    </a:lnTo>
                    <a:cubicBezTo>
                      <a:pt x="0" y="12407"/>
                      <a:pt x="12407" y="0"/>
                      <a:pt x="27713" y="0"/>
                    </a:cubicBezTo>
                    <a:close/>
                  </a:path>
                </a:pathLst>
              </a:custGeom>
              <a:solidFill>
                <a:srgbClr val="04001E"/>
              </a:solidFill>
              <a:ln w="38100" cap="sq">
                <a:solidFill>
                  <a:srgbClr val="E5E1DA"/>
                </a:solidFill>
                <a:prstDash val="solid"/>
                <a:miter/>
              </a:ln>
            </p:spPr>
          </p:sp>
          <p:sp>
            <p:nvSpPr>
              <p:cNvPr id="34" name="TextBox 34"/>
              <p:cNvSpPr txBox="1"/>
              <p:nvPr/>
            </p:nvSpPr>
            <p:spPr>
              <a:xfrm>
                <a:off x="0" y="-38100"/>
                <a:ext cx="2065940" cy="102274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38" name="TextBox 38"/>
            <p:cNvSpPr txBox="1"/>
            <p:nvPr/>
          </p:nvSpPr>
          <p:spPr>
            <a:xfrm>
              <a:off x="14650608" y="470779"/>
              <a:ext cx="2728119" cy="2073475"/>
            </a:xfrm>
            <a:prstGeom prst="rect">
              <a:avLst/>
            </a:prstGeom>
          </p:spPr>
          <p:txBody>
            <a:bodyPr lIns="0" tIns="0" rIns="0" bIns="0" rtlCol="0" anchor="t">
              <a:spAutoFit/>
            </a:bodyPr>
            <a:lstStyle/>
            <a:p>
              <a:pPr algn="ctr">
                <a:lnSpc>
                  <a:spcPts val="13521"/>
                </a:lnSpc>
                <a:spcBef>
                  <a:spcPct val="0"/>
                </a:spcBef>
              </a:pPr>
              <a:r>
                <a:rPr lang="en-US" sz="7200" dirty="0">
                  <a:solidFill>
                    <a:srgbClr val="FFFFFF"/>
                  </a:solidFill>
                  <a:latin typeface="Archivo Black"/>
                  <a:ea typeface="Archivo Black"/>
                  <a:cs typeface="Archivo Black"/>
                  <a:sym typeface="Archivo Black"/>
                </a:rPr>
                <a:t>04.</a:t>
              </a:r>
            </a:p>
          </p:txBody>
        </p:sp>
        <p:sp>
          <p:nvSpPr>
            <p:cNvPr id="39" name="TextBox 39"/>
            <p:cNvSpPr txBox="1"/>
            <p:nvPr/>
          </p:nvSpPr>
          <p:spPr>
            <a:xfrm>
              <a:off x="14650608" y="4200948"/>
              <a:ext cx="2633861" cy="2063811"/>
            </a:xfrm>
            <a:prstGeom prst="rect">
              <a:avLst/>
            </a:prstGeom>
          </p:spPr>
          <p:txBody>
            <a:bodyPr lIns="0" tIns="0" rIns="0" bIns="0" rtlCol="0" anchor="t">
              <a:spAutoFit/>
            </a:bodyPr>
            <a:lstStyle/>
            <a:p>
              <a:pPr algn="ctr">
                <a:lnSpc>
                  <a:spcPts val="12991"/>
                </a:lnSpc>
                <a:spcBef>
                  <a:spcPct val="0"/>
                </a:spcBef>
              </a:pPr>
              <a:r>
                <a:rPr lang="en-US" sz="7200" dirty="0">
                  <a:solidFill>
                    <a:srgbClr val="FFFFFF"/>
                  </a:solidFill>
                  <a:latin typeface="Archivo Black"/>
                  <a:ea typeface="Archivo Black"/>
                  <a:cs typeface="Archivo Black"/>
                  <a:sym typeface="Archivo Black"/>
                </a:rPr>
                <a:t>05.</a:t>
              </a:r>
            </a:p>
          </p:txBody>
        </p:sp>
        <p:sp>
          <p:nvSpPr>
            <p:cNvPr id="40" name="TextBox 40"/>
            <p:cNvSpPr txBox="1"/>
            <p:nvPr/>
          </p:nvSpPr>
          <p:spPr>
            <a:xfrm>
              <a:off x="14650608" y="7907086"/>
              <a:ext cx="2715022" cy="2126569"/>
            </a:xfrm>
            <a:prstGeom prst="rect">
              <a:avLst/>
            </a:prstGeom>
          </p:spPr>
          <p:txBody>
            <a:bodyPr lIns="0" tIns="0" rIns="0" bIns="0" rtlCol="0" anchor="t">
              <a:spAutoFit/>
            </a:bodyPr>
            <a:lstStyle/>
            <a:p>
              <a:pPr algn="ctr">
                <a:lnSpc>
                  <a:spcPts val="13415"/>
                </a:lnSpc>
                <a:spcBef>
                  <a:spcPct val="0"/>
                </a:spcBef>
              </a:pPr>
              <a:r>
                <a:rPr lang="en-US" sz="7200" dirty="0">
                  <a:solidFill>
                    <a:srgbClr val="FFFFFF"/>
                  </a:solidFill>
                  <a:latin typeface="Archivo Black"/>
                  <a:ea typeface="Archivo Black"/>
                  <a:cs typeface="Archivo Black"/>
                  <a:sym typeface="Archivo Black"/>
                </a:rPr>
                <a:t>06.</a:t>
              </a:r>
            </a:p>
          </p:txBody>
        </p:sp>
      </p:grpSp>
      <p:sp>
        <p:nvSpPr>
          <p:cNvPr id="41" name="Freeform 41"/>
          <p:cNvSpPr/>
          <p:nvPr/>
        </p:nvSpPr>
        <p:spPr>
          <a:xfrm>
            <a:off x="10547408" y="7858776"/>
            <a:ext cx="896420" cy="896420"/>
          </a:xfrm>
          <a:custGeom>
            <a:avLst/>
            <a:gdLst/>
            <a:ahLst/>
            <a:cxnLst/>
            <a:rect l="l" t="t" r="r" b="b"/>
            <a:pathLst>
              <a:path w="896420" h="896420">
                <a:moveTo>
                  <a:pt x="0" y="0"/>
                </a:moveTo>
                <a:lnTo>
                  <a:pt x="896421" y="0"/>
                </a:lnTo>
                <a:lnTo>
                  <a:pt x="896421" y="896421"/>
                </a:lnTo>
                <a:lnTo>
                  <a:pt x="0" y="89642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42" name="Group 23">
            <a:extLst>
              <a:ext uri="{FF2B5EF4-FFF2-40B4-BE49-F238E27FC236}">
                <a16:creationId xmlns:a16="http://schemas.microsoft.com/office/drawing/2014/main" id="{D1F848D1-5DC2-4AD5-871D-A223BE505660}"/>
              </a:ext>
            </a:extLst>
          </p:cNvPr>
          <p:cNvGrpSpPr/>
          <p:nvPr/>
        </p:nvGrpSpPr>
        <p:grpSpPr>
          <a:xfrm>
            <a:off x="299295" y="626426"/>
            <a:ext cx="1827704" cy="799004"/>
            <a:chOff x="0" y="0"/>
            <a:chExt cx="481371" cy="210437"/>
          </a:xfrm>
        </p:grpSpPr>
        <p:sp>
          <p:nvSpPr>
            <p:cNvPr id="43" name="Freeform 24">
              <a:extLst>
                <a:ext uri="{FF2B5EF4-FFF2-40B4-BE49-F238E27FC236}">
                  <a16:creationId xmlns:a16="http://schemas.microsoft.com/office/drawing/2014/main" id="{BD7A1C83-FED5-83B5-2EA5-3D70599FC38D}"/>
                </a:ext>
              </a:extLst>
            </p:cNvPr>
            <p:cNvSpPr/>
            <p:nvPr/>
          </p:nvSpPr>
          <p:spPr>
            <a:xfrm>
              <a:off x="0" y="0"/>
              <a:ext cx="481371" cy="210437"/>
            </a:xfrm>
            <a:custGeom>
              <a:avLst/>
              <a:gdLst/>
              <a:ahLst/>
              <a:cxnLst/>
              <a:rect l="l" t="t" r="r" b="b"/>
              <a:pathLst>
                <a:path w="481371" h="210437">
                  <a:moveTo>
                    <a:pt x="0" y="0"/>
                  </a:moveTo>
                  <a:lnTo>
                    <a:pt x="481371" y="0"/>
                  </a:lnTo>
                  <a:lnTo>
                    <a:pt x="481371" y="210437"/>
                  </a:lnTo>
                  <a:lnTo>
                    <a:pt x="0" y="210437"/>
                  </a:lnTo>
                  <a:close/>
                </a:path>
              </a:pathLst>
            </a:custGeom>
            <a:gradFill rotWithShape="1">
              <a:gsLst>
                <a:gs pos="0">
                  <a:srgbClr val="C6269E">
                    <a:alpha val="100000"/>
                  </a:srgbClr>
                </a:gs>
                <a:gs pos="100000">
                  <a:srgbClr val="DDBAFF">
                    <a:alpha val="12000"/>
                  </a:srgbClr>
                </a:gs>
              </a:gsLst>
              <a:lin ang="0"/>
            </a:gradFill>
          </p:spPr>
        </p:sp>
        <p:sp>
          <p:nvSpPr>
            <p:cNvPr id="44" name="TextBox 25">
              <a:extLst>
                <a:ext uri="{FF2B5EF4-FFF2-40B4-BE49-F238E27FC236}">
                  <a16:creationId xmlns:a16="http://schemas.microsoft.com/office/drawing/2014/main" id="{6BF8D27D-22BC-44FA-6A7D-713640D96CC3}"/>
                </a:ext>
              </a:extLst>
            </p:cNvPr>
            <p:cNvSpPr txBox="1"/>
            <p:nvPr/>
          </p:nvSpPr>
          <p:spPr>
            <a:xfrm>
              <a:off x="0" y="28575"/>
              <a:ext cx="481371" cy="181862"/>
            </a:xfrm>
            <a:prstGeom prst="rect">
              <a:avLst/>
            </a:prstGeom>
          </p:spPr>
          <p:txBody>
            <a:bodyPr lIns="50800" tIns="50800" rIns="50800" bIns="50800" rtlCol="0" anchor="ctr"/>
            <a:lstStyle/>
            <a:p>
              <a:pPr algn="ctr">
                <a:lnSpc>
                  <a:spcPts val="2661"/>
                </a:lnSpc>
              </a:pPr>
              <a:endParaRPr/>
            </a:p>
          </p:txBody>
        </p:sp>
      </p:grpSp>
      <p:grpSp>
        <p:nvGrpSpPr>
          <p:cNvPr id="45" name="Group 23">
            <a:extLst>
              <a:ext uri="{FF2B5EF4-FFF2-40B4-BE49-F238E27FC236}">
                <a16:creationId xmlns:a16="http://schemas.microsoft.com/office/drawing/2014/main" id="{02D96C06-42A9-EFED-6BEF-DA90DB43ED14}"/>
              </a:ext>
            </a:extLst>
          </p:cNvPr>
          <p:cNvGrpSpPr/>
          <p:nvPr/>
        </p:nvGrpSpPr>
        <p:grpSpPr>
          <a:xfrm flipH="1">
            <a:off x="15884671" y="8914583"/>
            <a:ext cx="4003528" cy="799004"/>
            <a:chOff x="0" y="9218"/>
            <a:chExt cx="883264" cy="210437"/>
          </a:xfrm>
        </p:grpSpPr>
        <p:sp>
          <p:nvSpPr>
            <p:cNvPr id="46" name="Freeform 24">
              <a:extLst>
                <a:ext uri="{FF2B5EF4-FFF2-40B4-BE49-F238E27FC236}">
                  <a16:creationId xmlns:a16="http://schemas.microsoft.com/office/drawing/2014/main" id="{5E570652-D39C-17A9-9A82-F81D05577582}"/>
                </a:ext>
              </a:extLst>
            </p:cNvPr>
            <p:cNvSpPr/>
            <p:nvPr/>
          </p:nvSpPr>
          <p:spPr>
            <a:xfrm>
              <a:off x="401893" y="9218"/>
              <a:ext cx="481371" cy="210437"/>
            </a:xfrm>
            <a:custGeom>
              <a:avLst/>
              <a:gdLst/>
              <a:ahLst/>
              <a:cxnLst/>
              <a:rect l="l" t="t" r="r" b="b"/>
              <a:pathLst>
                <a:path w="481371" h="210437">
                  <a:moveTo>
                    <a:pt x="0" y="0"/>
                  </a:moveTo>
                  <a:lnTo>
                    <a:pt x="481371" y="0"/>
                  </a:lnTo>
                  <a:lnTo>
                    <a:pt x="481371" y="210437"/>
                  </a:lnTo>
                  <a:lnTo>
                    <a:pt x="0" y="210437"/>
                  </a:lnTo>
                  <a:close/>
                </a:path>
              </a:pathLst>
            </a:custGeom>
            <a:gradFill rotWithShape="1">
              <a:gsLst>
                <a:gs pos="0">
                  <a:srgbClr val="C6269E">
                    <a:alpha val="100000"/>
                  </a:srgbClr>
                </a:gs>
                <a:gs pos="100000">
                  <a:srgbClr val="DDBAFF">
                    <a:alpha val="12000"/>
                  </a:srgbClr>
                </a:gs>
              </a:gsLst>
              <a:lin ang="0"/>
            </a:gradFill>
          </p:spPr>
        </p:sp>
        <p:sp>
          <p:nvSpPr>
            <p:cNvPr id="47" name="TextBox 25">
              <a:extLst>
                <a:ext uri="{FF2B5EF4-FFF2-40B4-BE49-F238E27FC236}">
                  <a16:creationId xmlns:a16="http://schemas.microsoft.com/office/drawing/2014/main" id="{FB19800A-9070-83BE-3DA0-6A53E53ACA0F}"/>
                </a:ext>
              </a:extLst>
            </p:cNvPr>
            <p:cNvSpPr txBox="1"/>
            <p:nvPr/>
          </p:nvSpPr>
          <p:spPr>
            <a:xfrm>
              <a:off x="0" y="28575"/>
              <a:ext cx="481371" cy="181862"/>
            </a:xfrm>
            <a:prstGeom prst="rect">
              <a:avLst/>
            </a:prstGeom>
          </p:spPr>
          <p:txBody>
            <a:bodyPr lIns="50800" tIns="50800" rIns="50800" bIns="50800" rtlCol="0" anchor="ctr"/>
            <a:lstStyle/>
            <a:p>
              <a:pPr algn="ctr">
                <a:lnSpc>
                  <a:spcPts val="2661"/>
                </a:lnSpc>
              </a:pPr>
              <a:endParaRPr dirty="0"/>
            </a:p>
          </p:txBody>
        </p:sp>
      </p:grpSp>
      <p:sp>
        <p:nvSpPr>
          <p:cNvPr id="48" name="TextBox 20">
            <a:extLst>
              <a:ext uri="{FF2B5EF4-FFF2-40B4-BE49-F238E27FC236}">
                <a16:creationId xmlns:a16="http://schemas.microsoft.com/office/drawing/2014/main" id="{925535B0-4958-03C9-ED6B-BBA036C501F7}"/>
              </a:ext>
            </a:extLst>
          </p:cNvPr>
          <p:cNvSpPr txBox="1"/>
          <p:nvPr/>
        </p:nvSpPr>
        <p:spPr>
          <a:xfrm>
            <a:off x="3511867" y="1522088"/>
            <a:ext cx="2816627" cy="1450718"/>
          </a:xfrm>
          <a:prstGeom prst="rect">
            <a:avLst/>
          </a:prstGeom>
        </p:spPr>
        <p:txBody>
          <a:bodyPr lIns="0" tIns="0" rIns="0" bIns="0" rtlCol="0" anchor="t">
            <a:spAutoFit/>
          </a:bodyPr>
          <a:lstStyle/>
          <a:p>
            <a:pPr marL="0" lvl="0" indent="0" algn="l">
              <a:lnSpc>
                <a:spcPts val="1936"/>
              </a:lnSpc>
            </a:pPr>
            <a:r>
              <a:rPr lang="en-US" sz="1600" b="1" u="none" strike="noStrike" dirty="0">
                <a:solidFill>
                  <a:srgbClr val="FFFFFF"/>
                </a:solidFill>
                <a:latin typeface="Red Hat Display"/>
                <a:ea typeface="Red Hat Display"/>
                <a:cs typeface="Red Hat Display"/>
                <a:sym typeface="Red Hat Display"/>
              </a:rPr>
              <a:t>Data Ingestion &amp; Cleaning</a:t>
            </a:r>
          </a:p>
          <a:p>
            <a:pPr marL="0" lvl="0" indent="0" algn="l">
              <a:lnSpc>
                <a:spcPts val="1936"/>
              </a:lnSpc>
            </a:pPr>
            <a:endParaRPr lang="en-US" sz="1600" b="1" u="none" strike="noStrike" dirty="0">
              <a:solidFill>
                <a:srgbClr val="FFFFFF"/>
              </a:solidFill>
              <a:latin typeface="Red Hat Display"/>
              <a:ea typeface="Red Hat Display"/>
              <a:cs typeface="Red Hat Display"/>
              <a:sym typeface="Red Hat Display"/>
            </a:endParaRPr>
          </a:p>
          <a:p>
            <a:pPr>
              <a:lnSpc>
                <a:spcPts val="1936"/>
              </a:lnSpc>
            </a:pPr>
            <a:r>
              <a:rPr lang="en-US" sz="1600" u="none" strike="noStrike" dirty="0">
                <a:solidFill>
                  <a:srgbClr val="FFFFFF"/>
                </a:solidFill>
                <a:latin typeface="Red Hat Display"/>
                <a:ea typeface="Red Hat Display"/>
                <a:cs typeface="Red Hat Display"/>
                <a:sym typeface="Red Hat Display"/>
              </a:rPr>
              <a:t>Load raw events data </a:t>
            </a:r>
          </a:p>
          <a:p>
            <a:pPr>
              <a:lnSpc>
                <a:spcPts val="1936"/>
              </a:lnSpc>
            </a:pPr>
            <a:r>
              <a:rPr lang="en-US" sz="1600" u="none" strike="noStrike" dirty="0" err="1">
                <a:solidFill>
                  <a:srgbClr val="FFFFFF"/>
                </a:solidFill>
                <a:latin typeface="Red Hat Display"/>
                <a:ea typeface="Red Hat Display"/>
                <a:cs typeface="Red Hat Display"/>
                <a:sym typeface="Red Hat Display"/>
              </a:rPr>
              <a:t>Standardise</a:t>
            </a:r>
            <a:r>
              <a:rPr lang="en-US" sz="1600" u="none" strike="noStrike" dirty="0">
                <a:solidFill>
                  <a:srgbClr val="FFFFFF"/>
                </a:solidFill>
                <a:latin typeface="Red Hat Display"/>
                <a:ea typeface="Red Hat Display"/>
                <a:cs typeface="Red Hat Display"/>
                <a:sym typeface="Red Hat Display"/>
              </a:rPr>
              <a:t> formats </a:t>
            </a:r>
            <a:br>
              <a:rPr lang="en-US" sz="1600" u="none" strike="noStrike" dirty="0">
                <a:solidFill>
                  <a:srgbClr val="FFFFFF"/>
                </a:solidFill>
                <a:latin typeface="Red Hat Display"/>
                <a:ea typeface="Red Hat Display"/>
                <a:cs typeface="Red Hat Display"/>
                <a:sym typeface="Red Hat Display"/>
              </a:rPr>
            </a:br>
            <a:r>
              <a:rPr lang="en-US" sz="1600" u="none" strike="noStrike" dirty="0">
                <a:solidFill>
                  <a:srgbClr val="FFFFFF"/>
                </a:solidFill>
                <a:latin typeface="Red Hat Display"/>
                <a:ea typeface="Red Hat Display"/>
                <a:cs typeface="Red Hat Display"/>
                <a:sym typeface="Red Hat Display"/>
              </a:rPr>
              <a:t>Exploratory data analysis</a:t>
            </a:r>
          </a:p>
          <a:p>
            <a:pPr>
              <a:lnSpc>
                <a:spcPts val="1936"/>
              </a:lnSpc>
            </a:pPr>
            <a:r>
              <a:rPr lang="en-US" sz="1600" u="none" strike="noStrike" dirty="0">
                <a:solidFill>
                  <a:srgbClr val="FFFFFF"/>
                </a:solidFill>
                <a:latin typeface="Red Hat Display"/>
                <a:ea typeface="Red Hat Display"/>
                <a:cs typeface="Red Hat Display"/>
                <a:sym typeface="Red Hat Display"/>
              </a:rPr>
              <a:t>Removed outliers.</a:t>
            </a:r>
          </a:p>
        </p:txBody>
      </p:sp>
      <p:sp>
        <p:nvSpPr>
          <p:cNvPr id="49" name="TextBox 21">
            <a:extLst>
              <a:ext uri="{FF2B5EF4-FFF2-40B4-BE49-F238E27FC236}">
                <a16:creationId xmlns:a16="http://schemas.microsoft.com/office/drawing/2014/main" id="{CECBFE73-B1D5-ED6E-7388-A342BA5EEC1D}"/>
              </a:ext>
            </a:extLst>
          </p:cNvPr>
          <p:cNvSpPr txBox="1"/>
          <p:nvPr/>
        </p:nvSpPr>
        <p:spPr>
          <a:xfrm>
            <a:off x="3511867" y="4305427"/>
            <a:ext cx="2816627" cy="1450718"/>
          </a:xfrm>
          <a:prstGeom prst="rect">
            <a:avLst/>
          </a:prstGeom>
        </p:spPr>
        <p:txBody>
          <a:bodyPr lIns="0" tIns="0" rIns="0" bIns="0" rtlCol="0" anchor="t">
            <a:spAutoFit/>
          </a:bodyPr>
          <a:lstStyle/>
          <a:p>
            <a:pPr marL="0" lvl="0" indent="0" algn="l">
              <a:lnSpc>
                <a:spcPts val="1936"/>
              </a:lnSpc>
            </a:pPr>
            <a:r>
              <a:rPr lang="en-US" sz="1600" b="1" u="none" strike="noStrike" dirty="0">
                <a:solidFill>
                  <a:srgbClr val="FFFFFF"/>
                </a:solidFill>
                <a:latin typeface="Red Hat Display"/>
                <a:ea typeface="Red Hat Display"/>
                <a:cs typeface="Red Hat Display"/>
                <a:sym typeface="Red Hat Display"/>
              </a:rPr>
              <a:t>Feature Engineering</a:t>
            </a:r>
          </a:p>
          <a:p>
            <a:pPr marL="0" lvl="0" indent="0" algn="l">
              <a:lnSpc>
                <a:spcPts val="1936"/>
              </a:lnSpc>
            </a:pPr>
            <a:endParaRPr lang="en-US" sz="1600" dirty="0">
              <a:solidFill>
                <a:srgbClr val="FFFFFF"/>
              </a:solidFill>
              <a:latin typeface="Red Hat Display"/>
              <a:ea typeface="Red Hat Display"/>
              <a:cs typeface="Red Hat Display"/>
              <a:sym typeface="Red Hat Display"/>
            </a:endParaRPr>
          </a:p>
          <a:p>
            <a:pPr marL="0" lvl="0" indent="0" algn="l">
              <a:lnSpc>
                <a:spcPts val="1936"/>
              </a:lnSpc>
            </a:pPr>
            <a:r>
              <a:rPr lang="en-US" sz="1600" u="none" strike="noStrike" dirty="0">
                <a:solidFill>
                  <a:srgbClr val="FFFFFF"/>
                </a:solidFill>
                <a:latin typeface="Red Hat Display"/>
                <a:ea typeface="Red Hat Display"/>
                <a:cs typeface="Red Hat Display"/>
                <a:sym typeface="Red Hat Display"/>
              </a:rPr>
              <a:t>Construct candidate features Generate SVD embeddings for users and items to capture latent preferences.</a:t>
            </a:r>
          </a:p>
        </p:txBody>
      </p:sp>
      <p:sp>
        <p:nvSpPr>
          <p:cNvPr id="50" name="TextBox 22">
            <a:extLst>
              <a:ext uri="{FF2B5EF4-FFF2-40B4-BE49-F238E27FC236}">
                <a16:creationId xmlns:a16="http://schemas.microsoft.com/office/drawing/2014/main" id="{49575F20-B10A-FD04-FBF3-CBE67A2F3D4F}"/>
              </a:ext>
            </a:extLst>
          </p:cNvPr>
          <p:cNvSpPr txBox="1"/>
          <p:nvPr/>
        </p:nvSpPr>
        <p:spPr>
          <a:xfrm>
            <a:off x="3437968" y="6745536"/>
            <a:ext cx="3104071" cy="2436564"/>
          </a:xfrm>
          <a:prstGeom prst="rect">
            <a:avLst/>
          </a:prstGeom>
        </p:spPr>
        <p:txBody>
          <a:bodyPr wrap="square" lIns="0" tIns="0" rIns="0" bIns="0" rtlCol="0" anchor="t">
            <a:spAutoFit/>
          </a:bodyPr>
          <a:lstStyle/>
          <a:p>
            <a:pPr marL="0" lvl="0" indent="0" algn="l">
              <a:lnSpc>
                <a:spcPts val="1936"/>
              </a:lnSpc>
            </a:pPr>
            <a:r>
              <a:rPr lang="en-US" sz="1600" b="1" u="none" strike="noStrike" dirty="0">
                <a:solidFill>
                  <a:srgbClr val="FFFFFF"/>
                </a:solidFill>
                <a:latin typeface="Red Hat Display"/>
                <a:ea typeface="Red Hat Display"/>
                <a:cs typeface="Red Hat Display"/>
                <a:sym typeface="Red Hat Display"/>
              </a:rPr>
              <a:t>Model Training</a:t>
            </a:r>
          </a:p>
          <a:p>
            <a:pPr marL="0" lvl="0" indent="0" algn="l">
              <a:lnSpc>
                <a:spcPts val="1936"/>
              </a:lnSpc>
            </a:pPr>
            <a:endParaRPr lang="en-US" sz="1600" u="none" strike="noStrike" dirty="0">
              <a:solidFill>
                <a:srgbClr val="FFFFFF"/>
              </a:solidFill>
              <a:latin typeface="Red Hat Display"/>
              <a:ea typeface="Red Hat Display"/>
              <a:cs typeface="Red Hat Display"/>
              <a:sym typeface="Red Hat Display"/>
            </a:endParaRPr>
          </a:p>
          <a:p>
            <a:pPr marL="0" lvl="0" indent="0" algn="l">
              <a:lnSpc>
                <a:spcPts val="1936"/>
              </a:lnSpc>
            </a:pPr>
            <a:r>
              <a:rPr lang="en-US" sz="1600" u="none" strike="noStrike" dirty="0">
                <a:solidFill>
                  <a:srgbClr val="FFFFFF"/>
                </a:solidFill>
                <a:latin typeface="Red Hat Display"/>
                <a:ea typeface="Red Hat Display"/>
                <a:cs typeface="Red Hat Display"/>
                <a:sym typeface="Red Hat Display"/>
              </a:rPr>
              <a:t>Train baseline models (Logistic Regression, Random Forest, Gradient Boosting).</a:t>
            </a:r>
          </a:p>
          <a:p>
            <a:pPr marL="0" lvl="0" indent="0" algn="l">
              <a:lnSpc>
                <a:spcPts val="1936"/>
              </a:lnSpc>
            </a:pPr>
            <a:r>
              <a:rPr lang="en-US" sz="1600" u="none" strike="noStrike" dirty="0">
                <a:solidFill>
                  <a:srgbClr val="FFFFFF"/>
                </a:solidFill>
                <a:latin typeface="Red Hat Display"/>
                <a:ea typeface="Red Hat Display"/>
                <a:cs typeface="Red Hat Display"/>
                <a:sym typeface="Red Hat Display"/>
              </a:rPr>
              <a:t>Build Hybrid Recommender combining baseline features + SVD embeddings.</a:t>
            </a:r>
          </a:p>
          <a:p>
            <a:pPr marL="0" lvl="0" indent="0" algn="l">
              <a:lnSpc>
                <a:spcPts val="1936"/>
              </a:lnSpc>
            </a:pPr>
            <a:r>
              <a:rPr lang="en-US" sz="1600" u="none" strike="noStrike" dirty="0">
                <a:solidFill>
                  <a:srgbClr val="FFFFFF"/>
                </a:solidFill>
                <a:latin typeface="Red Hat Display"/>
                <a:ea typeface="Red Hat Display"/>
                <a:cs typeface="Red Hat Display"/>
                <a:sym typeface="Red Hat Display"/>
              </a:rPr>
              <a:t>Train anomaly detection model to identify abnormal user </a:t>
            </a:r>
            <a:r>
              <a:rPr lang="en-US" sz="1600" u="none" strike="noStrike" dirty="0" err="1">
                <a:solidFill>
                  <a:srgbClr val="FFFFFF"/>
                </a:solidFill>
                <a:latin typeface="Red Hat Display"/>
                <a:ea typeface="Red Hat Display"/>
                <a:cs typeface="Red Hat Display"/>
                <a:sym typeface="Red Hat Display"/>
              </a:rPr>
              <a:t>behaviour</a:t>
            </a:r>
            <a:r>
              <a:rPr lang="en-US" sz="1600" u="none" strike="noStrike" dirty="0">
                <a:solidFill>
                  <a:srgbClr val="FFFFFF"/>
                </a:solidFill>
                <a:latin typeface="Red Hat Display"/>
                <a:ea typeface="Red Hat Display"/>
                <a:cs typeface="Red Hat Display"/>
                <a:sym typeface="Red Hat Display"/>
              </a:rPr>
              <a:t>.</a:t>
            </a:r>
          </a:p>
        </p:txBody>
      </p:sp>
      <p:sp>
        <p:nvSpPr>
          <p:cNvPr id="51" name="TextBox 35">
            <a:extLst>
              <a:ext uri="{FF2B5EF4-FFF2-40B4-BE49-F238E27FC236}">
                <a16:creationId xmlns:a16="http://schemas.microsoft.com/office/drawing/2014/main" id="{2314AB7D-0EC6-5CDD-E7AE-A306DBBFDEAB}"/>
              </a:ext>
            </a:extLst>
          </p:cNvPr>
          <p:cNvSpPr txBox="1"/>
          <p:nvPr/>
        </p:nvSpPr>
        <p:spPr>
          <a:xfrm>
            <a:off x="14158986" y="1104900"/>
            <a:ext cx="2909814" cy="2436564"/>
          </a:xfrm>
          <a:prstGeom prst="rect">
            <a:avLst/>
          </a:prstGeom>
        </p:spPr>
        <p:txBody>
          <a:bodyPr wrap="square" lIns="0" tIns="0" rIns="0" bIns="0" rtlCol="0" anchor="t">
            <a:spAutoFit/>
          </a:bodyPr>
          <a:lstStyle/>
          <a:p>
            <a:pPr marL="0" lvl="0" indent="0" algn="l">
              <a:lnSpc>
                <a:spcPts val="1936"/>
              </a:lnSpc>
              <a:spcBef>
                <a:spcPct val="0"/>
              </a:spcBef>
            </a:pPr>
            <a:r>
              <a:rPr lang="en-US" sz="1600" b="1" u="none" strike="noStrike" dirty="0">
                <a:solidFill>
                  <a:srgbClr val="FFFFFF"/>
                </a:solidFill>
                <a:latin typeface="Red Hat Display"/>
                <a:ea typeface="Red Hat Display"/>
                <a:cs typeface="Red Hat Display"/>
                <a:sym typeface="Red Hat Display"/>
              </a:rPr>
              <a:t>Evaluation</a:t>
            </a:r>
          </a:p>
          <a:p>
            <a:pPr marL="0" lvl="0" indent="0" algn="l">
              <a:lnSpc>
                <a:spcPts val="1936"/>
              </a:lnSpc>
              <a:spcBef>
                <a:spcPct val="0"/>
              </a:spcBef>
            </a:pPr>
            <a:endParaRPr lang="en-US" sz="1600" dirty="0">
              <a:solidFill>
                <a:srgbClr val="FFFFFF"/>
              </a:solidFill>
              <a:latin typeface="Red Hat Display"/>
              <a:ea typeface="Red Hat Display"/>
              <a:cs typeface="Red Hat Display"/>
              <a:sym typeface="Red Hat Display"/>
            </a:endParaRPr>
          </a:p>
          <a:p>
            <a:pPr marL="0" lvl="0" indent="0" algn="l">
              <a:lnSpc>
                <a:spcPts val="1936"/>
              </a:lnSpc>
              <a:spcBef>
                <a:spcPct val="0"/>
              </a:spcBef>
            </a:pPr>
            <a:r>
              <a:rPr lang="en-US" sz="1600" u="none" strike="noStrike" dirty="0">
                <a:solidFill>
                  <a:srgbClr val="FFFFFF"/>
                </a:solidFill>
                <a:latin typeface="Red Hat Display"/>
                <a:ea typeface="Red Hat Display"/>
                <a:cs typeface="Red Hat Display"/>
                <a:sym typeface="Red Hat Display"/>
              </a:rPr>
              <a:t>Apply precision, recall, F1 for anomaly detection.</a:t>
            </a:r>
          </a:p>
          <a:p>
            <a:pPr marL="0" lvl="0" indent="0" algn="l">
              <a:lnSpc>
                <a:spcPts val="1936"/>
              </a:lnSpc>
              <a:spcBef>
                <a:spcPct val="0"/>
              </a:spcBef>
            </a:pPr>
            <a:r>
              <a:rPr lang="en-US" sz="1600" u="none" strike="noStrike" dirty="0">
                <a:solidFill>
                  <a:srgbClr val="FFFFFF"/>
                </a:solidFill>
                <a:latin typeface="Red Hat Display"/>
                <a:ea typeface="Red Hat Display"/>
                <a:cs typeface="Red Hat Display"/>
                <a:sym typeface="Red Hat Display"/>
              </a:rPr>
              <a:t>Assess recommender with coverage, top-k hit rate, and accuracy.</a:t>
            </a:r>
          </a:p>
          <a:p>
            <a:pPr marL="0" lvl="0" indent="0" algn="l">
              <a:lnSpc>
                <a:spcPts val="1936"/>
              </a:lnSpc>
              <a:spcBef>
                <a:spcPct val="0"/>
              </a:spcBef>
            </a:pPr>
            <a:r>
              <a:rPr lang="en-US" sz="1600" u="none" strike="noStrike" dirty="0">
                <a:solidFill>
                  <a:srgbClr val="FFFFFF"/>
                </a:solidFill>
                <a:latin typeface="Red Hat Display"/>
                <a:ea typeface="Red Hat Display"/>
                <a:cs typeface="Red Hat Display"/>
                <a:sym typeface="Red Hat Display"/>
              </a:rPr>
              <a:t>Compare “before vs after cleaning” to validate improvements.</a:t>
            </a:r>
          </a:p>
        </p:txBody>
      </p:sp>
      <p:sp>
        <p:nvSpPr>
          <p:cNvPr id="52" name="TextBox 36">
            <a:extLst>
              <a:ext uri="{FF2B5EF4-FFF2-40B4-BE49-F238E27FC236}">
                <a16:creationId xmlns:a16="http://schemas.microsoft.com/office/drawing/2014/main" id="{6432C309-EBB3-4302-BF62-A73B9B566F10}"/>
              </a:ext>
            </a:extLst>
          </p:cNvPr>
          <p:cNvSpPr txBox="1"/>
          <p:nvPr/>
        </p:nvSpPr>
        <p:spPr>
          <a:xfrm>
            <a:off x="14158986" y="4302019"/>
            <a:ext cx="2816627" cy="2192908"/>
          </a:xfrm>
          <a:prstGeom prst="rect">
            <a:avLst/>
          </a:prstGeom>
        </p:spPr>
        <p:txBody>
          <a:bodyPr lIns="0" tIns="0" rIns="0" bIns="0" rtlCol="0" anchor="t">
            <a:spAutoFit/>
          </a:bodyPr>
          <a:lstStyle/>
          <a:p>
            <a:pPr marL="0" lvl="0" indent="0" algn="l">
              <a:lnSpc>
                <a:spcPts val="1936"/>
              </a:lnSpc>
              <a:spcBef>
                <a:spcPct val="0"/>
              </a:spcBef>
            </a:pPr>
            <a:r>
              <a:rPr lang="en-US" sz="1600" b="1" u="none" strike="noStrike" dirty="0">
                <a:solidFill>
                  <a:srgbClr val="FFFFFF"/>
                </a:solidFill>
                <a:latin typeface="Red Hat Display"/>
                <a:ea typeface="Red Hat Display"/>
                <a:cs typeface="Red Hat Display"/>
                <a:sym typeface="Red Hat Display"/>
              </a:rPr>
              <a:t>App Integration(</a:t>
            </a:r>
            <a:r>
              <a:rPr lang="en-US" sz="1600" b="1" u="none" strike="noStrike" dirty="0" err="1">
                <a:solidFill>
                  <a:srgbClr val="FFFFFF"/>
                </a:solidFill>
                <a:latin typeface="Red Hat Display"/>
                <a:ea typeface="Red Hat Display"/>
                <a:cs typeface="Red Hat Display"/>
                <a:sym typeface="Red Hat Display"/>
              </a:rPr>
              <a:t>Streamlit</a:t>
            </a:r>
            <a:r>
              <a:rPr lang="en-US" sz="1600" b="1" u="none" strike="noStrike" dirty="0">
                <a:solidFill>
                  <a:srgbClr val="FFFFFF"/>
                </a:solidFill>
                <a:latin typeface="Red Hat Display"/>
                <a:ea typeface="Red Hat Display"/>
                <a:cs typeface="Red Hat Display"/>
                <a:sym typeface="Red Hat Display"/>
              </a:rPr>
              <a:t>)</a:t>
            </a:r>
          </a:p>
          <a:p>
            <a:pPr marL="0" lvl="0" indent="0" algn="l">
              <a:lnSpc>
                <a:spcPts val="1936"/>
              </a:lnSpc>
              <a:spcBef>
                <a:spcPct val="0"/>
              </a:spcBef>
            </a:pPr>
            <a:endParaRPr lang="en-US" sz="1600" dirty="0">
              <a:solidFill>
                <a:srgbClr val="FFFFFF"/>
              </a:solidFill>
              <a:latin typeface="Red Hat Display"/>
              <a:ea typeface="Red Hat Display"/>
              <a:cs typeface="Red Hat Display"/>
              <a:sym typeface="Red Hat Display"/>
            </a:endParaRPr>
          </a:p>
          <a:p>
            <a:pPr marL="0" lvl="0" indent="0" algn="l">
              <a:lnSpc>
                <a:spcPts val="1936"/>
              </a:lnSpc>
              <a:spcBef>
                <a:spcPct val="0"/>
              </a:spcBef>
            </a:pPr>
            <a:r>
              <a:rPr lang="en-US" sz="1600" u="none" strike="noStrike" dirty="0">
                <a:solidFill>
                  <a:srgbClr val="FFFFFF"/>
                </a:solidFill>
                <a:latin typeface="Red Hat Display"/>
                <a:ea typeface="Red Hat Display"/>
                <a:cs typeface="Red Hat Display"/>
                <a:sym typeface="Red Hat Display"/>
              </a:rPr>
              <a:t>Develop interactive UI with two key modules: Recommendations (Top-K </a:t>
            </a:r>
            <a:r>
              <a:rPr lang="en-US" sz="1600" u="none" strike="noStrike" dirty="0" err="1">
                <a:solidFill>
                  <a:srgbClr val="FFFFFF"/>
                </a:solidFill>
                <a:latin typeface="Red Hat Display"/>
                <a:ea typeface="Red Hat Display"/>
                <a:cs typeface="Red Hat Display"/>
                <a:sym typeface="Red Hat Display"/>
              </a:rPr>
              <a:t>personalised</a:t>
            </a:r>
            <a:r>
              <a:rPr lang="en-US" sz="1600" u="none" strike="noStrike" dirty="0">
                <a:solidFill>
                  <a:srgbClr val="FFFFFF"/>
                </a:solidFill>
                <a:latin typeface="Red Hat Display"/>
                <a:ea typeface="Red Hat Display"/>
                <a:cs typeface="Red Hat Display"/>
                <a:sym typeface="Red Hat Display"/>
              </a:rPr>
              <a:t> categories).</a:t>
            </a:r>
          </a:p>
          <a:p>
            <a:pPr marL="0" lvl="0" indent="0" algn="l">
              <a:lnSpc>
                <a:spcPts val="1936"/>
              </a:lnSpc>
              <a:spcBef>
                <a:spcPct val="0"/>
              </a:spcBef>
            </a:pPr>
            <a:r>
              <a:rPr lang="en-US" sz="1600" u="none" strike="noStrike" dirty="0">
                <a:solidFill>
                  <a:srgbClr val="FFFFFF"/>
                </a:solidFill>
                <a:latin typeface="Red Hat Display"/>
                <a:ea typeface="Red Hat Display"/>
                <a:cs typeface="Red Hat Display"/>
                <a:sym typeface="Red Hat Display"/>
              </a:rPr>
              <a:t>Anomaly Audit (flagging suspicious users).Add debug panels for user activity insights.</a:t>
            </a:r>
          </a:p>
        </p:txBody>
      </p:sp>
      <p:sp>
        <p:nvSpPr>
          <p:cNvPr id="53" name="TextBox 37">
            <a:extLst>
              <a:ext uri="{FF2B5EF4-FFF2-40B4-BE49-F238E27FC236}">
                <a16:creationId xmlns:a16="http://schemas.microsoft.com/office/drawing/2014/main" id="{87A0A708-D9E9-D7BE-F2EC-A2EFBDF20774}"/>
              </a:ext>
            </a:extLst>
          </p:cNvPr>
          <p:cNvSpPr txBox="1"/>
          <p:nvPr/>
        </p:nvSpPr>
        <p:spPr>
          <a:xfrm>
            <a:off x="14158986" y="7029622"/>
            <a:ext cx="2986014" cy="1705595"/>
          </a:xfrm>
          <a:prstGeom prst="rect">
            <a:avLst/>
          </a:prstGeom>
        </p:spPr>
        <p:txBody>
          <a:bodyPr wrap="square" lIns="0" tIns="0" rIns="0" bIns="0" rtlCol="0" anchor="t">
            <a:spAutoFit/>
          </a:bodyPr>
          <a:lstStyle/>
          <a:p>
            <a:pPr marL="0" lvl="0" indent="0" algn="l">
              <a:lnSpc>
                <a:spcPts val="1936"/>
              </a:lnSpc>
              <a:spcBef>
                <a:spcPct val="0"/>
              </a:spcBef>
            </a:pPr>
            <a:r>
              <a:rPr lang="en-US" sz="1600" b="1" u="none" strike="noStrike" dirty="0">
                <a:solidFill>
                  <a:srgbClr val="FFFFFF"/>
                </a:solidFill>
                <a:latin typeface="Red Hat Display"/>
                <a:ea typeface="Red Hat Display"/>
                <a:cs typeface="Red Hat Display"/>
                <a:sym typeface="Red Hat Display"/>
              </a:rPr>
              <a:t>Deployment</a:t>
            </a:r>
          </a:p>
          <a:p>
            <a:pPr marL="0" lvl="0" indent="0" algn="l">
              <a:lnSpc>
                <a:spcPts val="1936"/>
              </a:lnSpc>
              <a:spcBef>
                <a:spcPct val="0"/>
              </a:spcBef>
            </a:pPr>
            <a:endParaRPr lang="en-US" sz="1600" dirty="0">
              <a:solidFill>
                <a:srgbClr val="FFFFFF"/>
              </a:solidFill>
              <a:latin typeface="Red Hat Display"/>
              <a:ea typeface="Red Hat Display"/>
              <a:cs typeface="Red Hat Display"/>
              <a:sym typeface="Red Hat Display"/>
            </a:endParaRPr>
          </a:p>
          <a:p>
            <a:pPr marL="0" lvl="0" indent="0" algn="l">
              <a:lnSpc>
                <a:spcPts val="1936"/>
              </a:lnSpc>
              <a:spcBef>
                <a:spcPct val="0"/>
              </a:spcBef>
            </a:pPr>
            <a:r>
              <a:rPr lang="en-US" sz="1600" u="none" strike="noStrike" dirty="0">
                <a:solidFill>
                  <a:srgbClr val="FFFFFF"/>
                </a:solidFill>
                <a:latin typeface="Red Hat Display"/>
                <a:ea typeface="Red Hat Display"/>
                <a:cs typeface="Red Hat Display"/>
                <a:sym typeface="Red Hat Display"/>
              </a:rPr>
              <a:t>Package artefacts (.</a:t>
            </a:r>
            <a:r>
              <a:rPr lang="en-US" sz="1600" u="none" strike="noStrike" dirty="0" err="1">
                <a:solidFill>
                  <a:srgbClr val="FFFFFF"/>
                </a:solidFill>
                <a:latin typeface="Red Hat Display"/>
                <a:ea typeface="Red Hat Display"/>
                <a:cs typeface="Red Hat Display"/>
                <a:sym typeface="Red Hat Display"/>
              </a:rPr>
              <a:t>pkl</a:t>
            </a:r>
            <a:r>
              <a:rPr lang="en-US" sz="1600" u="none" strike="noStrike" dirty="0">
                <a:solidFill>
                  <a:srgbClr val="FFFFFF"/>
                </a:solidFill>
                <a:latin typeface="Red Hat Display"/>
                <a:ea typeface="Red Hat Display"/>
                <a:cs typeface="Red Hat Display"/>
                <a:sym typeface="Red Hat Display"/>
              </a:rPr>
              <a:t>, embeddings, metadata, sample data).</a:t>
            </a:r>
          </a:p>
          <a:p>
            <a:pPr marL="0" lvl="0" indent="0" algn="l">
              <a:lnSpc>
                <a:spcPts val="1936"/>
              </a:lnSpc>
              <a:spcBef>
                <a:spcPct val="0"/>
              </a:spcBef>
            </a:pPr>
            <a:r>
              <a:rPr lang="en-US" sz="1600" u="none" strike="noStrike" dirty="0">
                <a:solidFill>
                  <a:srgbClr val="FFFFFF"/>
                </a:solidFill>
                <a:latin typeface="Red Hat Display"/>
                <a:ea typeface="Red Hat Display"/>
                <a:cs typeface="Red Hat Display"/>
                <a:sym typeface="Red Hat Display"/>
              </a:rPr>
              <a:t>Deploy </a:t>
            </a:r>
            <a:r>
              <a:rPr lang="en-US" sz="1600" u="none" strike="noStrike" dirty="0" err="1">
                <a:solidFill>
                  <a:srgbClr val="FFFFFF"/>
                </a:solidFill>
                <a:latin typeface="Red Hat Display"/>
                <a:ea typeface="Red Hat Display"/>
                <a:cs typeface="Red Hat Display"/>
                <a:sym typeface="Red Hat Display"/>
              </a:rPr>
              <a:t>Streamlit</a:t>
            </a:r>
            <a:r>
              <a:rPr lang="en-US" sz="1600" u="none" strike="noStrike" dirty="0">
                <a:solidFill>
                  <a:srgbClr val="FFFFFF"/>
                </a:solidFill>
                <a:latin typeface="Red Hat Display"/>
                <a:ea typeface="Red Hat Display"/>
                <a:cs typeface="Red Hat Display"/>
                <a:sym typeface="Red Hat Display"/>
              </a:rPr>
              <a:t> app on </a:t>
            </a:r>
            <a:r>
              <a:rPr lang="en-US" sz="1600" u="none" strike="noStrike" dirty="0" err="1">
                <a:solidFill>
                  <a:srgbClr val="FFFFFF"/>
                </a:solidFill>
                <a:latin typeface="Red Hat Display"/>
                <a:ea typeface="Red Hat Display"/>
                <a:cs typeface="Red Hat Display"/>
                <a:sym typeface="Red Hat Display"/>
              </a:rPr>
              <a:t>Streamlit</a:t>
            </a:r>
            <a:r>
              <a:rPr lang="en-US" sz="1600" u="none" strike="noStrike" dirty="0">
                <a:solidFill>
                  <a:srgbClr val="FFFFFF"/>
                </a:solidFill>
                <a:latin typeface="Red Hat Display"/>
                <a:ea typeface="Red Hat Display"/>
                <a:cs typeface="Red Hat Display"/>
                <a:sym typeface="Red Hat Display"/>
              </a:rPr>
              <a:t> Cloud.</a:t>
            </a:r>
          </a:p>
        </p:txBody>
      </p:sp>
      <p:sp>
        <p:nvSpPr>
          <p:cNvPr id="54" name="Freeform 31">
            <a:extLst>
              <a:ext uri="{FF2B5EF4-FFF2-40B4-BE49-F238E27FC236}">
                <a16:creationId xmlns:a16="http://schemas.microsoft.com/office/drawing/2014/main" id="{ED56B742-CF38-0028-4F81-0D6C88C3D8C1}"/>
              </a:ext>
            </a:extLst>
          </p:cNvPr>
          <p:cNvSpPr/>
          <p:nvPr/>
        </p:nvSpPr>
        <p:spPr>
          <a:xfrm>
            <a:off x="6759054" y="7787754"/>
            <a:ext cx="2232546" cy="2232546"/>
          </a:xfrm>
          <a:custGeom>
            <a:avLst/>
            <a:gdLst/>
            <a:ahLst/>
            <a:cxnLst/>
            <a:rect l="l" t="t" r="r" b="b"/>
            <a:pathLst>
              <a:path w="2232546" h="2232546">
                <a:moveTo>
                  <a:pt x="0" y="0"/>
                </a:moveTo>
                <a:lnTo>
                  <a:pt x="2232546" y="0"/>
                </a:lnTo>
                <a:lnTo>
                  <a:pt x="2232546" y="2232545"/>
                </a:lnTo>
                <a:lnTo>
                  <a:pt x="0" y="223254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55" name="Freeform 39">
            <a:extLst>
              <a:ext uri="{FF2B5EF4-FFF2-40B4-BE49-F238E27FC236}">
                <a16:creationId xmlns:a16="http://schemas.microsoft.com/office/drawing/2014/main" id="{6CE2D878-D999-5CA1-0662-D9DF82DADF57}"/>
              </a:ext>
            </a:extLst>
          </p:cNvPr>
          <p:cNvSpPr/>
          <p:nvPr/>
        </p:nvSpPr>
        <p:spPr>
          <a:xfrm>
            <a:off x="17160240" y="230180"/>
            <a:ext cx="994760" cy="994760"/>
          </a:xfrm>
          <a:custGeom>
            <a:avLst/>
            <a:gdLst/>
            <a:ahLst/>
            <a:cxnLst/>
            <a:rect l="l" t="t" r="r" b="b"/>
            <a:pathLst>
              <a:path w="994760" h="994760">
                <a:moveTo>
                  <a:pt x="0" y="0"/>
                </a:moveTo>
                <a:lnTo>
                  <a:pt x="994760" y="0"/>
                </a:lnTo>
                <a:lnTo>
                  <a:pt x="994760" y="994761"/>
                </a:lnTo>
                <a:lnTo>
                  <a:pt x="0" y="99476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56" name="Freeform 40">
            <a:extLst>
              <a:ext uri="{FF2B5EF4-FFF2-40B4-BE49-F238E27FC236}">
                <a16:creationId xmlns:a16="http://schemas.microsoft.com/office/drawing/2014/main" id="{FAF251E9-2BF6-91BF-511E-5EE35DDC5856}"/>
              </a:ext>
            </a:extLst>
          </p:cNvPr>
          <p:cNvSpPr/>
          <p:nvPr/>
        </p:nvSpPr>
        <p:spPr>
          <a:xfrm>
            <a:off x="488342" y="2405681"/>
            <a:ext cx="540358" cy="540358"/>
          </a:xfrm>
          <a:custGeom>
            <a:avLst/>
            <a:gdLst/>
            <a:ahLst/>
            <a:cxnLst/>
            <a:rect l="l" t="t" r="r" b="b"/>
            <a:pathLst>
              <a:path w="540358" h="540358">
                <a:moveTo>
                  <a:pt x="0" y="0"/>
                </a:moveTo>
                <a:lnTo>
                  <a:pt x="540358" y="0"/>
                </a:lnTo>
                <a:lnTo>
                  <a:pt x="540358" y="540358"/>
                </a:lnTo>
                <a:lnTo>
                  <a:pt x="0" y="54035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57" name="TextBox 4">
            <a:extLst>
              <a:ext uri="{FF2B5EF4-FFF2-40B4-BE49-F238E27FC236}">
                <a16:creationId xmlns:a16="http://schemas.microsoft.com/office/drawing/2014/main" id="{BDC12044-C2E9-F885-BDE7-969A2EDADF74}"/>
              </a:ext>
            </a:extLst>
          </p:cNvPr>
          <p:cNvSpPr txBox="1"/>
          <p:nvPr/>
        </p:nvSpPr>
        <p:spPr>
          <a:xfrm rot="16200000">
            <a:off x="129306" y="8890751"/>
            <a:ext cx="1078468" cy="218008"/>
          </a:xfrm>
          <a:prstGeom prst="rect">
            <a:avLst/>
          </a:prstGeom>
        </p:spPr>
        <p:txBody>
          <a:bodyPr lIns="0" tIns="0" rIns="0" bIns="0" rtlCol="0" anchor="t">
            <a:spAutoFit/>
          </a:bodyPr>
          <a:lstStyle/>
          <a:p>
            <a:pPr algn="ctr">
              <a:lnSpc>
                <a:spcPts val="1725"/>
              </a:lnSpc>
              <a:spcBef>
                <a:spcPct val="0"/>
              </a:spcBef>
            </a:pPr>
            <a:r>
              <a:rPr lang="en-US" sz="1658" dirty="0">
                <a:solidFill>
                  <a:srgbClr val="FFFFFF"/>
                </a:solidFill>
                <a:latin typeface="Raleway"/>
                <a:ea typeface="Raleway"/>
                <a:cs typeface="Raleway"/>
                <a:sym typeface="Raleway"/>
              </a:rPr>
              <a:t>Page  5</a:t>
            </a:r>
          </a:p>
        </p:txBody>
      </p:sp>
      <p:sp>
        <p:nvSpPr>
          <p:cNvPr id="58" name="TextBox 8">
            <a:extLst>
              <a:ext uri="{FF2B5EF4-FFF2-40B4-BE49-F238E27FC236}">
                <a16:creationId xmlns:a16="http://schemas.microsoft.com/office/drawing/2014/main" id="{18F57062-3B74-348B-B271-277DC877C87A}"/>
              </a:ext>
            </a:extLst>
          </p:cNvPr>
          <p:cNvSpPr txBox="1"/>
          <p:nvPr/>
        </p:nvSpPr>
        <p:spPr>
          <a:xfrm>
            <a:off x="15953668" y="9779039"/>
            <a:ext cx="1716617" cy="277925"/>
          </a:xfrm>
          <a:prstGeom prst="rect">
            <a:avLst/>
          </a:prstGeom>
        </p:spPr>
        <p:txBody>
          <a:bodyPr lIns="0" tIns="0" rIns="0" bIns="0" rtlCol="0" anchor="t">
            <a:spAutoFit/>
          </a:bodyPr>
          <a:lstStyle/>
          <a:p>
            <a:pPr algn="l">
              <a:lnSpc>
                <a:spcPts val="2037"/>
              </a:lnSpc>
              <a:spcBef>
                <a:spcPct val="0"/>
              </a:spcBef>
            </a:pPr>
            <a:r>
              <a:rPr lang="en-US" sz="1958">
                <a:solidFill>
                  <a:srgbClr val="FFFFFF"/>
                </a:solidFill>
                <a:latin typeface="Raleway"/>
                <a:ea typeface="Raleway"/>
                <a:cs typeface="Raleway"/>
                <a:sym typeface="Raleway"/>
              </a:rPr>
              <a:t>Next Slide</a:t>
            </a:r>
          </a:p>
        </p:txBody>
      </p:sp>
      <p:sp>
        <p:nvSpPr>
          <p:cNvPr id="59" name="Freeform 9">
            <a:extLst>
              <a:ext uri="{FF2B5EF4-FFF2-40B4-BE49-F238E27FC236}">
                <a16:creationId xmlns:a16="http://schemas.microsoft.com/office/drawing/2014/main" id="{EC6F3A31-E814-5EA9-06D0-EB23021CBE72}"/>
              </a:ext>
            </a:extLst>
          </p:cNvPr>
          <p:cNvSpPr/>
          <p:nvPr/>
        </p:nvSpPr>
        <p:spPr>
          <a:xfrm flipH="1">
            <a:off x="17643383" y="9715500"/>
            <a:ext cx="416017" cy="418299"/>
          </a:xfrm>
          <a:custGeom>
            <a:avLst/>
            <a:gdLst/>
            <a:ahLst/>
            <a:cxnLst/>
            <a:rect l="l" t="t" r="r" b="b"/>
            <a:pathLst>
              <a:path w="416017" h="418299">
                <a:moveTo>
                  <a:pt x="416017" y="0"/>
                </a:moveTo>
                <a:lnTo>
                  <a:pt x="0" y="0"/>
                </a:lnTo>
                <a:lnTo>
                  <a:pt x="0" y="418299"/>
                </a:lnTo>
                <a:lnTo>
                  <a:pt x="416017" y="418299"/>
                </a:lnTo>
                <a:lnTo>
                  <a:pt x="416017" y="0"/>
                </a:lnTo>
                <a:close/>
              </a:path>
            </a:pathLst>
          </a:custGeom>
          <a:blipFill>
            <a:blip r:embed="rId10">
              <a:extLst>
                <a:ext uri="{96DAC541-7B7A-43D3-8B79-37D633B846F1}">
                  <asvg:svgBlip xmlns:asvg="http://schemas.microsoft.com/office/drawing/2016/SVG/main" r:embed="rId11"/>
                </a:ext>
              </a:extLst>
            </a:blip>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DAD18-83EC-30BE-DBE0-E109329CC89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DA5816A-6F18-ED54-CDB8-0F9D7A97038F}"/>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59" b="-9259"/>
            </a:stretch>
          </a:blipFill>
        </p:spPr>
      </p:sp>
      <p:grpSp>
        <p:nvGrpSpPr>
          <p:cNvPr id="42" name="Group 23">
            <a:extLst>
              <a:ext uri="{FF2B5EF4-FFF2-40B4-BE49-F238E27FC236}">
                <a16:creationId xmlns:a16="http://schemas.microsoft.com/office/drawing/2014/main" id="{B98E9F41-FBB6-70CB-32CB-297120B6F0AC}"/>
              </a:ext>
            </a:extLst>
          </p:cNvPr>
          <p:cNvGrpSpPr/>
          <p:nvPr/>
        </p:nvGrpSpPr>
        <p:grpSpPr>
          <a:xfrm>
            <a:off x="299295" y="626426"/>
            <a:ext cx="1827704" cy="799004"/>
            <a:chOff x="0" y="0"/>
            <a:chExt cx="481371" cy="210437"/>
          </a:xfrm>
        </p:grpSpPr>
        <p:sp>
          <p:nvSpPr>
            <p:cNvPr id="43" name="Freeform 24">
              <a:extLst>
                <a:ext uri="{FF2B5EF4-FFF2-40B4-BE49-F238E27FC236}">
                  <a16:creationId xmlns:a16="http://schemas.microsoft.com/office/drawing/2014/main" id="{D0D22336-057C-F1A4-4B05-CE89B981C9CA}"/>
                </a:ext>
              </a:extLst>
            </p:cNvPr>
            <p:cNvSpPr/>
            <p:nvPr/>
          </p:nvSpPr>
          <p:spPr>
            <a:xfrm>
              <a:off x="0" y="0"/>
              <a:ext cx="481371" cy="210437"/>
            </a:xfrm>
            <a:custGeom>
              <a:avLst/>
              <a:gdLst/>
              <a:ahLst/>
              <a:cxnLst/>
              <a:rect l="l" t="t" r="r" b="b"/>
              <a:pathLst>
                <a:path w="481371" h="210437">
                  <a:moveTo>
                    <a:pt x="0" y="0"/>
                  </a:moveTo>
                  <a:lnTo>
                    <a:pt x="481371" y="0"/>
                  </a:lnTo>
                  <a:lnTo>
                    <a:pt x="481371" y="210437"/>
                  </a:lnTo>
                  <a:lnTo>
                    <a:pt x="0" y="210437"/>
                  </a:lnTo>
                  <a:close/>
                </a:path>
              </a:pathLst>
            </a:custGeom>
            <a:gradFill rotWithShape="1">
              <a:gsLst>
                <a:gs pos="0">
                  <a:srgbClr val="C6269E">
                    <a:alpha val="100000"/>
                  </a:srgbClr>
                </a:gs>
                <a:gs pos="100000">
                  <a:srgbClr val="DDBAFF">
                    <a:alpha val="12000"/>
                  </a:srgbClr>
                </a:gs>
              </a:gsLst>
              <a:lin ang="0"/>
            </a:gradFill>
          </p:spPr>
        </p:sp>
        <p:sp>
          <p:nvSpPr>
            <p:cNvPr id="44" name="TextBox 25">
              <a:extLst>
                <a:ext uri="{FF2B5EF4-FFF2-40B4-BE49-F238E27FC236}">
                  <a16:creationId xmlns:a16="http://schemas.microsoft.com/office/drawing/2014/main" id="{DB3CBEC0-C911-873B-4FCB-8E76D3EE26B4}"/>
                </a:ext>
              </a:extLst>
            </p:cNvPr>
            <p:cNvSpPr txBox="1"/>
            <p:nvPr/>
          </p:nvSpPr>
          <p:spPr>
            <a:xfrm>
              <a:off x="0" y="28575"/>
              <a:ext cx="481371" cy="181862"/>
            </a:xfrm>
            <a:prstGeom prst="rect">
              <a:avLst/>
            </a:prstGeom>
          </p:spPr>
          <p:txBody>
            <a:bodyPr lIns="50800" tIns="50800" rIns="50800" bIns="50800" rtlCol="0" anchor="ctr"/>
            <a:lstStyle/>
            <a:p>
              <a:pPr algn="ctr">
                <a:lnSpc>
                  <a:spcPts val="2661"/>
                </a:lnSpc>
              </a:pPr>
              <a:endParaRPr/>
            </a:p>
          </p:txBody>
        </p:sp>
      </p:grpSp>
      <p:grpSp>
        <p:nvGrpSpPr>
          <p:cNvPr id="45" name="Group 23">
            <a:extLst>
              <a:ext uri="{FF2B5EF4-FFF2-40B4-BE49-F238E27FC236}">
                <a16:creationId xmlns:a16="http://schemas.microsoft.com/office/drawing/2014/main" id="{2B4B7AD6-F095-F83C-43FA-961C5F7732A6}"/>
              </a:ext>
            </a:extLst>
          </p:cNvPr>
          <p:cNvGrpSpPr/>
          <p:nvPr/>
        </p:nvGrpSpPr>
        <p:grpSpPr>
          <a:xfrm flipH="1">
            <a:off x="15884671" y="8914583"/>
            <a:ext cx="4003528" cy="799004"/>
            <a:chOff x="0" y="9218"/>
            <a:chExt cx="883264" cy="210437"/>
          </a:xfrm>
        </p:grpSpPr>
        <p:sp>
          <p:nvSpPr>
            <p:cNvPr id="46" name="Freeform 24">
              <a:extLst>
                <a:ext uri="{FF2B5EF4-FFF2-40B4-BE49-F238E27FC236}">
                  <a16:creationId xmlns:a16="http://schemas.microsoft.com/office/drawing/2014/main" id="{F42C1F0F-60E1-8371-321D-79127BFBA746}"/>
                </a:ext>
              </a:extLst>
            </p:cNvPr>
            <p:cNvSpPr/>
            <p:nvPr/>
          </p:nvSpPr>
          <p:spPr>
            <a:xfrm>
              <a:off x="401893" y="9218"/>
              <a:ext cx="481371" cy="210437"/>
            </a:xfrm>
            <a:custGeom>
              <a:avLst/>
              <a:gdLst/>
              <a:ahLst/>
              <a:cxnLst/>
              <a:rect l="l" t="t" r="r" b="b"/>
              <a:pathLst>
                <a:path w="481371" h="210437">
                  <a:moveTo>
                    <a:pt x="0" y="0"/>
                  </a:moveTo>
                  <a:lnTo>
                    <a:pt x="481371" y="0"/>
                  </a:lnTo>
                  <a:lnTo>
                    <a:pt x="481371" y="210437"/>
                  </a:lnTo>
                  <a:lnTo>
                    <a:pt x="0" y="210437"/>
                  </a:lnTo>
                  <a:close/>
                </a:path>
              </a:pathLst>
            </a:custGeom>
            <a:gradFill rotWithShape="1">
              <a:gsLst>
                <a:gs pos="0">
                  <a:srgbClr val="C6269E">
                    <a:alpha val="100000"/>
                  </a:srgbClr>
                </a:gs>
                <a:gs pos="100000">
                  <a:srgbClr val="DDBAFF">
                    <a:alpha val="12000"/>
                  </a:srgbClr>
                </a:gs>
              </a:gsLst>
              <a:lin ang="0"/>
            </a:gradFill>
          </p:spPr>
        </p:sp>
        <p:sp>
          <p:nvSpPr>
            <p:cNvPr id="47" name="TextBox 25">
              <a:extLst>
                <a:ext uri="{FF2B5EF4-FFF2-40B4-BE49-F238E27FC236}">
                  <a16:creationId xmlns:a16="http://schemas.microsoft.com/office/drawing/2014/main" id="{6CA6AFE5-FB79-195A-C562-BA76A1D3683B}"/>
                </a:ext>
              </a:extLst>
            </p:cNvPr>
            <p:cNvSpPr txBox="1"/>
            <p:nvPr/>
          </p:nvSpPr>
          <p:spPr>
            <a:xfrm>
              <a:off x="0" y="28575"/>
              <a:ext cx="481371" cy="181862"/>
            </a:xfrm>
            <a:prstGeom prst="rect">
              <a:avLst/>
            </a:prstGeom>
          </p:spPr>
          <p:txBody>
            <a:bodyPr lIns="50800" tIns="50800" rIns="50800" bIns="50800" rtlCol="0" anchor="ctr"/>
            <a:lstStyle/>
            <a:p>
              <a:pPr algn="ctr">
                <a:lnSpc>
                  <a:spcPts val="2661"/>
                </a:lnSpc>
              </a:pPr>
              <a:endParaRPr dirty="0"/>
            </a:p>
          </p:txBody>
        </p:sp>
      </p:grpSp>
      <p:sp>
        <p:nvSpPr>
          <p:cNvPr id="54" name="Freeform 31">
            <a:extLst>
              <a:ext uri="{FF2B5EF4-FFF2-40B4-BE49-F238E27FC236}">
                <a16:creationId xmlns:a16="http://schemas.microsoft.com/office/drawing/2014/main" id="{AAC90DFF-DD62-1DCF-1D03-227DCF3C6634}"/>
              </a:ext>
            </a:extLst>
          </p:cNvPr>
          <p:cNvSpPr/>
          <p:nvPr/>
        </p:nvSpPr>
        <p:spPr>
          <a:xfrm>
            <a:off x="6759054" y="7787754"/>
            <a:ext cx="2232546" cy="2232546"/>
          </a:xfrm>
          <a:custGeom>
            <a:avLst/>
            <a:gdLst/>
            <a:ahLst/>
            <a:cxnLst/>
            <a:rect l="l" t="t" r="r" b="b"/>
            <a:pathLst>
              <a:path w="2232546" h="2232546">
                <a:moveTo>
                  <a:pt x="0" y="0"/>
                </a:moveTo>
                <a:lnTo>
                  <a:pt x="2232546" y="0"/>
                </a:lnTo>
                <a:lnTo>
                  <a:pt x="2232546" y="2232545"/>
                </a:lnTo>
                <a:lnTo>
                  <a:pt x="0" y="223254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5" name="Freeform 39">
            <a:extLst>
              <a:ext uri="{FF2B5EF4-FFF2-40B4-BE49-F238E27FC236}">
                <a16:creationId xmlns:a16="http://schemas.microsoft.com/office/drawing/2014/main" id="{6440B04B-5E04-0862-BF38-3C9EBA8E250E}"/>
              </a:ext>
            </a:extLst>
          </p:cNvPr>
          <p:cNvSpPr/>
          <p:nvPr/>
        </p:nvSpPr>
        <p:spPr>
          <a:xfrm>
            <a:off x="17160240" y="230180"/>
            <a:ext cx="994760" cy="994760"/>
          </a:xfrm>
          <a:custGeom>
            <a:avLst/>
            <a:gdLst/>
            <a:ahLst/>
            <a:cxnLst/>
            <a:rect l="l" t="t" r="r" b="b"/>
            <a:pathLst>
              <a:path w="994760" h="994760">
                <a:moveTo>
                  <a:pt x="0" y="0"/>
                </a:moveTo>
                <a:lnTo>
                  <a:pt x="994760" y="0"/>
                </a:lnTo>
                <a:lnTo>
                  <a:pt x="994760" y="994761"/>
                </a:lnTo>
                <a:lnTo>
                  <a:pt x="0" y="99476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TextBox 8">
            <a:extLst>
              <a:ext uri="{FF2B5EF4-FFF2-40B4-BE49-F238E27FC236}">
                <a16:creationId xmlns:a16="http://schemas.microsoft.com/office/drawing/2014/main" id="{D5D1AB70-28DB-1158-7346-4A646A0D7EF9}"/>
              </a:ext>
            </a:extLst>
          </p:cNvPr>
          <p:cNvSpPr txBox="1"/>
          <p:nvPr/>
        </p:nvSpPr>
        <p:spPr>
          <a:xfrm>
            <a:off x="1463040" y="3314700"/>
            <a:ext cx="15697200" cy="2954655"/>
          </a:xfrm>
          <a:prstGeom prst="rect">
            <a:avLst/>
          </a:prstGeom>
        </p:spPr>
        <p:txBody>
          <a:bodyPr lIns="0" tIns="0" rIns="0" bIns="0" rtlCol="0" anchor="t">
            <a:spAutoFit/>
          </a:bodyPr>
          <a:lstStyle/>
          <a:p>
            <a:pPr marL="0" lvl="1" indent="0" algn="ctr">
              <a:spcBef>
                <a:spcPct val="0"/>
              </a:spcBef>
            </a:pPr>
            <a:r>
              <a:rPr lang="en-US" sz="9600" dirty="0">
                <a:solidFill>
                  <a:srgbClr val="FFFFFF"/>
                </a:solidFill>
                <a:latin typeface="Archivo Black"/>
                <a:ea typeface="Archivo Black"/>
                <a:cs typeface="Archivo Black"/>
                <a:sym typeface="Archivo Black"/>
              </a:rPr>
              <a:t>EXPLORATORY DATA ANALYSIS</a:t>
            </a:r>
          </a:p>
        </p:txBody>
      </p:sp>
      <p:sp>
        <p:nvSpPr>
          <p:cNvPr id="20" name="TextBox 4">
            <a:extLst>
              <a:ext uri="{FF2B5EF4-FFF2-40B4-BE49-F238E27FC236}">
                <a16:creationId xmlns:a16="http://schemas.microsoft.com/office/drawing/2014/main" id="{40370385-AFF3-2CDF-432A-1CB5B91F6489}"/>
              </a:ext>
            </a:extLst>
          </p:cNvPr>
          <p:cNvSpPr txBox="1"/>
          <p:nvPr/>
        </p:nvSpPr>
        <p:spPr>
          <a:xfrm rot="16200000">
            <a:off x="129306" y="8890751"/>
            <a:ext cx="1078468" cy="218008"/>
          </a:xfrm>
          <a:prstGeom prst="rect">
            <a:avLst/>
          </a:prstGeom>
        </p:spPr>
        <p:txBody>
          <a:bodyPr lIns="0" tIns="0" rIns="0" bIns="0" rtlCol="0" anchor="t">
            <a:spAutoFit/>
          </a:bodyPr>
          <a:lstStyle/>
          <a:p>
            <a:pPr algn="ctr">
              <a:lnSpc>
                <a:spcPts val="1725"/>
              </a:lnSpc>
              <a:spcBef>
                <a:spcPct val="0"/>
              </a:spcBef>
            </a:pPr>
            <a:r>
              <a:rPr lang="en-US" sz="1658" dirty="0">
                <a:solidFill>
                  <a:srgbClr val="FFFFFF"/>
                </a:solidFill>
                <a:latin typeface="Raleway"/>
                <a:ea typeface="Raleway"/>
                <a:cs typeface="Raleway"/>
                <a:sym typeface="Raleway"/>
              </a:rPr>
              <a:t>Page  6</a:t>
            </a:r>
          </a:p>
        </p:txBody>
      </p:sp>
      <p:sp>
        <p:nvSpPr>
          <p:cNvPr id="21" name="TextBox 8">
            <a:extLst>
              <a:ext uri="{FF2B5EF4-FFF2-40B4-BE49-F238E27FC236}">
                <a16:creationId xmlns:a16="http://schemas.microsoft.com/office/drawing/2014/main" id="{41F6A537-F44E-E371-94C9-ADE8E5D7B23B}"/>
              </a:ext>
            </a:extLst>
          </p:cNvPr>
          <p:cNvSpPr txBox="1"/>
          <p:nvPr/>
        </p:nvSpPr>
        <p:spPr>
          <a:xfrm>
            <a:off x="16049268" y="8390761"/>
            <a:ext cx="1716617" cy="277925"/>
          </a:xfrm>
          <a:prstGeom prst="rect">
            <a:avLst/>
          </a:prstGeom>
        </p:spPr>
        <p:txBody>
          <a:bodyPr lIns="0" tIns="0" rIns="0" bIns="0" rtlCol="0" anchor="t">
            <a:spAutoFit/>
          </a:bodyPr>
          <a:lstStyle/>
          <a:p>
            <a:pPr algn="l">
              <a:lnSpc>
                <a:spcPts val="2037"/>
              </a:lnSpc>
              <a:spcBef>
                <a:spcPct val="0"/>
              </a:spcBef>
            </a:pPr>
            <a:r>
              <a:rPr lang="en-US" sz="1958">
                <a:solidFill>
                  <a:srgbClr val="FFFFFF"/>
                </a:solidFill>
                <a:latin typeface="Raleway"/>
                <a:ea typeface="Raleway"/>
                <a:cs typeface="Raleway"/>
                <a:sym typeface="Raleway"/>
              </a:rPr>
              <a:t>Next Slide</a:t>
            </a:r>
          </a:p>
        </p:txBody>
      </p:sp>
      <p:sp>
        <p:nvSpPr>
          <p:cNvPr id="22" name="Freeform 9">
            <a:extLst>
              <a:ext uri="{FF2B5EF4-FFF2-40B4-BE49-F238E27FC236}">
                <a16:creationId xmlns:a16="http://schemas.microsoft.com/office/drawing/2014/main" id="{6855C795-A2A0-29A4-C32C-E39C98587624}"/>
              </a:ext>
            </a:extLst>
          </p:cNvPr>
          <p:cNvSpPr/>
          <p:nvPr/>
        </p:nvSpPr>
        <p:spPr>
          <a:xfrm flipH="1">
            <a:off x="17738983" y="8327222"/>
            <a:ext cx="416017" cy="418299"/>
          </a:xfrm>
          <a:custGeom>
            <a:avLst/>
            <a:gdLst/>
            <a:ahLst/>
            <a:cxnLst/>
            <a:rect l="l" t="t" r="r" b="b"/>
            <a:pathLst>
              <a:path w="416017" h="418299">
                <a:moveTo>
                  <a:pt x="416017" y="0"/>
                </a:moveTo>
                <a:lnTo>
                  <a:pt x="0" y="0"/>
                </a:lnTo>
                <a:lnTo>
                  <a:pt x="0" y="418299"/>
                </a:lnTo>
                <a:lnTo>
                  <a:pt x="416017" y="418299"/>
                </a:lnTo>
                <a:lnTo>
                  <a:pt x="416017" y="0"/>
                </a:lnTo>
                <a:close/>
              </a:path>
            </a:pathLst>
          </a:custGeom>
          <a:blipFill>
            <a:blip r:embed="rId6">
              <a:extLst>
                <a:ext uri="{96DAC541-7B7A-43D3-8B79-37D633B846F1}">
                  <asvg:svgBlip xmlns:asvg="http://schemas.microsoft.com/office/drawing/2016/SVG/main" r:embed="rId7"/>
                </a:ext>
              </a:extLst>
            </a:blip>
            <a:stretch>
              <a:fillRect/>
            </a:stretch>
          </a:blipFill>
        </p:spPr>
      </p:sp>
    </p:spTree>
    <p:extLst>
      <p:ext uri="{BB962C8B-B14F-4D97-AF65-F5344CB8AC3E}">
        <p14:creationId xmlns:p14="http://schemas.microsoft.com/office/powerpoint/2010/main" val="4840555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336799"/>
            <a:ext cx="18288000" cy="10287000"/>
            <a:chOff x="0" y="0"/>
            <a:chExt cx="2669893" cy="2709333"/>
          </a:xfrm>
          <a:gradFill>
            <a:gsLst>
              <a:gs pos="0">
                <a:srgbClr val="000000">
                  <a:alpha val="100000"/>
                </a:srgbClr>
              </a:gs>
              <a:gs pos="65000">
                <a:srgbClr val="32032F">
                  <a:alpha val="100000"/>
                </a:srgbClr>
              </a:gs>
              <a:gs pos="100000">
                <a:srgbClr val="002060"/>
              </a:gs>
            </a:gsLst>
            <a:lin ang="0" scaled="0"/>
          </a:gradFill>
        </p:grpSpPr>
        <p:sp>
          <p:nvSpPr>
            <p:cNvPr id="3" name="Freeform 3"/>
            <p:cNvSpPr/>
            <p:nvPr/>
          </p:nvSpPr>
          <p:spPr>
            <a:xfrm>
              <a:off x="0" y="0"/>
              <a:ext cx="2669893" cy="2709333"/>
            </a:xfrm>
            <a:custGeom>
              <a:avLst/>
              <a:gdLst/>
              <a:ahLst/>
              <a:cxnLst/>
              <a:rect l="l" t="t" r="r" b="b"/>
              <a:pathLst>
                <a:path w="2669893" h="2709333">
                  <a:moveTo>
                    <a:pt x="43531" y="0"/>
                  </a:moveTo>
                  <a:lnTo>
                    <a:pt x="2626361" y="0"/>
                  </a:lnTo>
                  <a:cubicBezTo>
                    <a:pt x="2650403" y="0"/>
                    <a:pt x="2669893" y="19490"/>
                    <a:pt x="2669893" y="43531"/>
                  </a:cubicBezTo>
                  <a:lnTo>
                    <a:pt x="2669893" y="2665802"/>
                  </a:lnTo>
                  <a:cubicBezTo>
                    <a:pt x="2669893" y="2689844"/>
                    <a:pt x="2650403" y="2709333"/>
                    <a:pt x="2626361" y="2709333"/>
                  </a:cubicBezTo>
                  <a:lnTo>
                    <a:pt x="43531" y="2709333"/>
                  </a:lnTo>
                  <a:cubicBezTo>
                    <a:pt x="19490" y="2709333"/>
                    <a:pt x="0" y="2689844"/>
                    <a:pt x="0" y="2665802"/>
                  </a:cubicBezTo>
                  <a:lnTo>
                    <a:pt x="0" y="43531"/>
                  </a:lnTo>
                  <a:cubicBezTo>
                    <a:pt x="0" y="19490"/>
                    <a:pt x="19490" y="0"/>
                    <a:pt x="43531" y="0"/>
                  </a:cubicBezTo>
                  <a:close/>
                </a:path>
              </a:pathLst>
            </a:custGeom>
            <a:grpFill/>
            <a:ln cap="rnd">
              <a:noFill/>
              <a:prstDash val="solid"/>
              <a:round/>
            </a:ln>
          </p:spPr>
          <p:txBody>
            <a:bodyPr/>
            <a:lstStyle/>
            <a:p>
              <a:endParaRPr lang="en-US" dirty="0"/>
            </a:p>
          </p:txBody>
        </p:sp>
        <p:sp>
          <p:nvSpPr>
            <p:cNvPr id="4" name="TextBox 4"/>
            <p:cNvSpPr txBox="1"/>
            <p:nvPr/>
          </p:nvSpPr>
          <p:spPr>
            <a:xfrm>
              <a:off x="0" y="-57150"/>
              <a:ext cx="2669893" cy="2766483"/>
            </a:xfrm>
            <a:prstGeom prst="rect">
              <a:avLst/>
            </a:prstGeom>
            <a:grpFill/>
          </p:spPr>
          <p:txBody>
            <a:bodyPr lIns="50800" tIns="50800" rIns="50800" bIns="50800" rtlCol="0" anchor="ctr"/>
            <a:lstStyle/>
            <a:p>
              <a:pPr marL="0" lvl="0" indent="0" algn="ctr">
                <a:lnSpc>
                  <a:spcPts val="3447"/>
                </a:lnSpc>
                <a:spcBef>
                  <a:spcPct val="0"/>
                </a:spcBef>
              </a:pPr>
              <a:endParaRPr/>
            </a:p>
          </p:txBody>
        </p:sp>
      </p:grpSp>
      <p:graphicFrame>
        <p:nvGraphicFramePr>
          <p:cNvPr id="28" name="Chart 27">
            <a:extLst>
              <a:ext uri="{FF2B5EF4-FFF2-40B4-BE49-F238E27FC236}">
                <a16:creationId xmlns:a16="http://schemas.microsoft.com/office/drawing/2014/main" id="{5EE8FB69-7E63-0CBF-F256-DD1310C479C9}"/>
              </a:ext>
            </a:extLst>
          </p:cNvPr>
          <p:cNvGraphicFramePr/>
          <p:nvPr>
            <p:extLst>
              <p:ext uri="{D42A27DB-BD31-4B8C-83A1-F6EECF244321}">
                <p14:modId xmlns:p14="http://schemas.microsoft.com/office/powerpoint/2010/main" val="1136443681"/>
              </p:ext>
            </p:extLst>
          </p:nvPr>
        </p:nvGraphicFramePr>
        <p:xfrm>
          <a:off x="763361" y="419100"/>
          <a:ext cx="9066439" cy="8918932"/>
        </p:xfrm>
        <a:graphic>
          <a:graphicData uri="http://schemas.openxmlformats.org/drawingml/2006/chart">
            <c:chart xmlns:c="http://schemas.openxmlformats.org/drawingml/2006/chart" xmlns:r="http://schemas.openxmlformats.org/officeDocument/2006/relationships" r:id="rId2"/>
          </a:graphicData>
        </a:graphic>
      </p:graphicFrame>
      <p:grpSp>
        <p:nvGrpSpPr>
          <p:cNvPr id="29" name="Group 28">
            <a:extLst>
              <a:ext uri="{FF2B5EF4-FFF2-40B4-BE49-F238E27FC236}">
                <a16:creationId xmlns:a16="http://schemas.microsoft.com/office/drawing/2014/main" id="{AB616093-0BC3-160F-180C-7106E60AC2A2}"/>
              </a:ext>
            </a:extLst>
          </p:cNvPr>
          <p:cNvGrpSpPr/>
          <p:nvPr/>
        </p:nvGrpSpPr>
        <p:grpSpPr>
          <a:xfrm>
            <a:off x="9986010" y="1549897"/>
            <a:ext cx="8115300" cy="7860803"/>
            <a:chOff x="0" y="-192881"/>
            <a:chExt cx="10820400" cy="10481071"/>
          </a:xfrm>
        </p:grpSpPr>
        <p:grpSp>
          <p:nvGrpSpPr>
            <p:cNvPr id="30" name="Group 29">
              <a:extLst>
                <a:ext uri="{FF2B5EF4-FFF2-40B4-BE49-F238E27FC236}">
                  <a16:creationId xmlns:a16="http://schemas.microsoft.com/office/drawing/2014/main" id="{BCA1E007-CD12-F3A1-ECAB-BBDA50F7AE29}"/>
                </a:ext>
              </a:extLst>
            </p:cNvPr>
            <p:cNvGrpSpPr/>
            <p:nvPr/>
          </p:nvGrpSpPr>
          <p:grpSpPr>
            <a:xfrm>
              <a:off x="0" y="-192881"/>
              <a:ext cx="10820400" cy="10481071"/>
              <a:chOff x="0" y="-38100"/>
              <a:chExt cx="2137363" cy="2070335"/>
            </a:xfrm>
          </p:grpSpPr>
          <p:sp>
            <p:nvSpPr>
              <p:cNvPr id="33" name="Freeform 6">
                <a:extLst>
                  <a:ext uri="{FF2B5EF4-FFF2-40B4-BE49-F238E27FC236}">
                    <a16:creationId xmlns:a16="http://schemas.microsoft.com/office/drawing/2014/main" id="{81307E72-63D5-2AA4-BA90-4256869EF068}"/>
                  </a:ext>
                </a:extLst>
              </p:cNvPr>
              <p:cNvSpPr/>
              <p:nvPr/>
            </p:nvSpPr>
            <p:spPr>
              <a:xfrm>
                <a:off x="0" y="102384"/>
                <a:ext cx="2137363" cy="1565393"/>
              </a:xfrm>
              <a:custGeom>
                <a:avLst/>
                <a:gdLst/>
                <a:ahLst/>
                <a:cxnLst/>
                <a:rect l="l" t="t" r="r" b="b"/>
                <a:pathLst>
                  <a:path w="2137363" h="2032235">
                    <a:moveTo>
                      <a:pt x="19080" y="0"/>
                    </a:moveTo>
                    <a:lnTo>
                      <a:pt x="2118283" y="0"/>
                    </a:lnTo>
                    <a:cubicBezTo>
                      <a:pt x="2123343" y="0"/>
                      <a:pt x="2128196" y="2010"/>
                      <a:pt x="2131775" y="5588"/>
                    </a:cubicBezTo>
                    <a:cubicBezTo>
                      <a:pt x="2135353" y="9167"/>
                      <a:pt x="2137363" y="14020"/>
                      <a:pt x="2137363" y="19080"/>
                    </a:cubicBezTo>
                    <a:lnTo>
                      <a:pt x="2137363" y="2013155"/>
                    </a:lnTo>
                    <a:cubicBezTo>
                      <a:pt x="2137363" y="2023693"/>
                      <a:pt x="2128821" y="2032235"/>
                      <a:pt x="2118283" y="2032235"/>
                    </a:cubicBezTo>
                    <a:lnTo>
                      <a:pt x="19080" y="2032235"/>
                    </a:lnTo>
                    <a:cubicBezTo>
                      <a:pt x="8542" y="2032235"/>
                      <a:pt x="0" y="2023693"/>
                      <a:pt x="0" y="2013155"/>
                    </a:cubicBezTo>
                    <a:lnTo>
                      <a:pt x="0" y="19080"/>
                    </a:lnTo>
                    <a:cubicBezTo>
                      <a:pt x="0" y="8542"/>
                      <a:pt x="8542" y="0"/>
                      <a:pt x="19080" y="0"/>
                    </a:cubicBezTo>
                    <a:close/>
                  </a:path>
                </a:pathLst>
              </a:custGeom>
              <a:gradFill>
                <a:gsLst>
                  <a:gs pos="0">
                    <a:srgbClr val="000000">
                      <a:alpha val="100000"/>
                    </a:srgbClr>
                  </a:gs>
                  <a:gs pos="65000">
                    <a:srgbClr val="32032F">
                      <a:alpha val="100000"/>
                    </a:srgbClr>
                  </a:gs>
                  <a:gs pos="100000">
                    <a:srgbClr val="002060"/>
                  </a:gs>
                </a:gsLst>
                <a:lin ang="0" scaled="0"/>
              </a:gradFill>
              <a:ln w="38100" cap="sq">
                <a:solidFill>
                  <a:srgbClr val="E5E1DA"/>
                </a:solidFill>
                <a:prstDash val="solid"/>
                <a:miter/>
              </a:ln>
            </p:spPr>
            <p:txBody>
              <a:bodyPr/>
              <a:lstStyle/>
              <a:p>
                <a:endParaRPr lang="en-US"/>
              </a:p>
            </p:txBody>
          </p:sp>
          <p:sp>
            <p:nvSpPr>
              <p:cNvPr id="34" name="TextBox 7">
                <a:extLst>
                  <a:ext uri="{FF2B5EF4-FFF2-40B4-BE49-F238E27FC236}">
                    <a16:creationId xmlns:a16="http://schemas.microsoft.com/office/drawing/2014/main" id="{A91F7851-9075-0B25-2AC0-0A251CC33AF7}"/>
                  </a:ext>
                </a:extLst>
              </p:cNvPr>
              <p:cNvSpPr txBox="1"/>
              <p:nvPr/>
            </p:nvSpPr>
            <p:spPr>
              <a:xfrm>
                <a:off x="0" y="-38100"/>
                <a:ext cx="2137363" cy="2070335"/>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sp>
          <p:nvSpPr>
            <p:cNvPr id="31" name="TextBox 8">
              <a:extLst>
                <a:ext uri="{FF2B5EF4-FFF2-40B4-BE49-F238E27FC236}">
                  <a16:creationId xmlns:a16="http://schemas.microsoft.com/office/drawing/2014/main" id="{A526B6A1-54AF-AC6E-D0BF-671370C24AA0}"/>
                </a:ext>
              </a:extLst>
            </p:cNvPr>
            <p:cNvSpPr txBox="1"/>
            <p:nvPr/>
          </p:nvSpPr>
          <p:spPr>
            <a:xfrm>
              <a:off x="404045" y="735728"/>
              <a:ext cx="10093591" cy="1359432"/>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ts val="8730"/>
                </a:lnSpc>
              </a:pPr>
              <a:r>
                <a:rPr lang="en-US" sz="5400" b="1" dirty="0">
                  <a:solidFill>
                    <a:srgbClr val="FFFFFF"/>
                  </a:solidFill>
                  <a:latin typeface="+mj-lt"/>
                  <a:ea typeface="Archivo Black"/>
                  <a:cs typeface="Archivo Black"/>
                  <a:sym typeface="Archivo Black"/>
                </a:rPr>
                <a:t>Seasonality and Retention</a:t>
              </a:r>
            </a:p>
          </p:txBody>
        </p:sp>
        <p:sp>
          <p:nvSpPr>
            <p:cNvPr id="32" name="TextBox 9">
              <a:extLst>
                <a:ext uri="{FF2B5EF4-FFF2-40B4-BE49-F238E27FC236}">
                  <a16:creationId xmlns:a16="http://schemas.microsoft.com/office/drawing/2014/main" id="{CD848FBD-828F-E37B-5BB1-E7970FF42197}"/>
                </a:ext>
              </a:extLst>
            </p:cNvPr>
            <p:cNvSpPr txBox="1"/>
            <p:nvPr/>
          </p:nvSpPr>
          <p:spPr>
            <a:xfrm>
              <a:off x="399504" y="2830888"/>
              <a:ext cx="10093591" cy="6576843"/>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lvl="0" indent="-342900" algn="l">
                <a:lnSpc>
                  <a:spcPct val="150000"/>
                </a:lnSpc>
                <a:spcBef>
                  <a:spcPct val="0"/>
                </a:spcBef>
                <a:buFont typeface="Arial" panose="020B0604020202020204" pitchFamily="34" charset="0"/>
                <a:buChar char="•"/>
              </a:pPr>
              <a:r>
                <a:rPr lang="en-US" sz="2400" u="none" dirty="0">
                  <a:solidFill>
                    <a:srgbClr val="FFFFFF"/>
                  </a:solidFill>
                  <a:latin typeface="Red Hat Display"/>
                  <a:ea typeface="Red Hat Display"/>
                  <a:cs typeface="Red Hat Display"/>
                  <a:sym typeface="Red Hat Display"/>
                </a:rPr>
                <a:t>User activity peaks in July (368K), while September drops sharply (170K).</a:t>
              </a:r>
              <a:endParaRPr lang="en-US" sz="2400" dirty="0">
                <a:solidFill>
                  <a:srgbClr val="FFFFFF"/>
                </a:solidFill>
                <a:latin typeface="Red Hat Display"/>
                <a:ea typeface="Red Hat Display"/>
                <a:cs typeface="Red Hat Display"/>
                <a:sym typeface="Red Hat Display"/>
              </a:endParaRPr>
            </a:p>
            <a:p>
              <a:pPr marL="342900" lvl="0" indent="-342900" algn="l">
                <a:lnSpc>
                  <a:spcPct val="150000"/>
                </a:lnSpc>
                <a:spcBef>
                  <a:spcPct val="0"/>
                </a:spcBef>
                <a:buFont typeface="Arial" panose="020B0604020202020204" pitchFamily="34" charset="0"/>
                <a:buChar char="•"/>
              </a:pPr>
              <a:r>
                <a:rPr lang="en-US" sz="2400" u="none" dirty="0">
                  <a:solidFill>
                    <a:srgbClr val="FFFFFF"/>
                  </a:solidFill>
                  <a:latin typeface="Red Hat Display"/>
                  <a:ea typeface="Red Hat Display"/>
                  <a:cs typeface="Red Hat Display"/>
                  <a:sym typeface="Red Hat Display"/>
                </a:rPr>
                <a:t>There is a seasonal effect, possibly linked to summer promotions, holidays, or marketing campaigns in July.</a:t>
              </a:r>
              <a:endParaRPr lang="en-US" sz="2400" dirty="0">
                <a:solidFill>
                  <a:srgbClr val="FFFFFF"/>
                </a:solidFill>
                <a:latin typeface="Red Hat Display"/>
                <a:ea typeface="Red Hat Display"/>
                <a:cs typeface="Red Hat Display"/>
                <a:sym typeface="Red Hat Display"/>
              </a:endParaRPr>
            </a:p>
            <a:p>
              <a:pPr marL="342900" lvl="0" indent="-342900" algn="l">
                <a:lnSpc>
                  <a:spcPct val="150000"/>
                </a:lnSpc>
                <a:spcBef>
                  <a:spcPct val="0"/>
                </a:spcBef>
                <a:buFont typeface="Arial" panose="020B0604020202020204" pitchFamily="34" charset="0"/>
                <a:buChar char="•"/>
              </a:pPr>
              <a:r>
                <a:rPr lang="en-US" sz="2400" u="none" dirty="0">
                  <a:solidFill>
                    <a:srgbClr val="FFFFFF"/>
                  </a:solidFill>
                  <a:latin typeface="Red Hat Display"/>
                  <a:ea typeface="Red Hat Display"/>
                  <a:cs typeface="Red Hat Display"/>
                  <a:sym typeface="Red Hat Display"/>
                </a:rPr>
                <a:t>Business could allocate higher budgets to peak seasons and design re-engagement strategies for off-peak months like September.</a:t>
              </a:r>
              <a:endParaRPr lang="en-US" sz="2400" dirty="0">
                <a:solidFill>
                  <a:srgbClr val="FFFFFF"/>
                </a:solidFill>
                <a:latin typeface="Red Hat Display"/>
                <a:ea typeface="Red Hat Display"/>
                <a:cs typeface="Red Hat Display"/>
                <a:sym typeface="Red Hat Display"/>
              </a:endParaRPr>
            </a:p>
            <a:p>
              <a:pPr marL="342900" lvl="0" indent="-342900" algn="l">
                <a:lnSpc>
                  <a:spcPct val="150000"/>
                </a:lnSpc>
                <a:spcBef>
                  <a:spcPct val="0"/>
                </a:spcBef>
                <a:buFont typeface="Arial" panose="020B0604020202020204" pitchFamily="34" charset="0"/>
                <a:buChar char="•"/>
              </a:pPr>
              <a:endParaRPr lang="en-US" sz="2400" u="none" dirty="0">
                <a:solidFill>
                  <a:srgbClr val="FFFFFF"/>
                </a:solidFill>
                <a:latin typeface="Red Hat Display"/>
                <a:ea typeface="Red Hat Display"/>
                <a:cs typeface="Red Hat Display"/>
                <a:sym typeface="Red Hat Display"/>
              </a:endParaRPr>
            </a:p>
            <a:p>
              <a:pPr marL="342900" lvl="0" indent="-342900" algn="l">
                <a:lnSpc>
                  <a:spcPct val="150000"/>
                </a:lnSpc>
                <a:spcBef>
                  <a:spcPct val="0"/>
                </a:spcBef>
                <a:buFont typeface="Arial" panose="020B0604020202020204" pitchFamily="34" charset="0"/>
                <a:buChar char="•"/>
              </a:pPr>
              <a:endParaRPr lang="en-US" sz="2400" u="none" dirty="0">
                <a:solidFill>
                  <a:srgbClr val="FFFFFF"/>
                </a:solidFill>
                <a:latin typeface="Red Hat Display"/>
                <a:ea typeface="Red Hat Display"/>
                <a:cs typeface="Red Hat Display"/>
                <a:sym typeface="Red Hat Display"/>
              </a:endParaRPr>
            </a:p>
          </p:txBody>
        </p:sp>
      </p:grpSp>
      <p:sp>
        <p:nvSpPr>
          <p:cNvPr id="41" name="TextBox 23">
            <a:extLst>
              <a:ext uri="{FF2B5EF4-FFF2-40B4-BE49-F238E27FC236}">
                <a16:creationId xmlns:a16="http://schemas.microsoft.com/office/drawing/2014/main" id="{9768C75D-0E48-80D6-4B70-F9DF7151F089}"/>
              </a:ext>
            </a:extLst>
          </p:cNvPr>
          <p:cNvSpPr txBox="1"/>
          <p:nvPr/>
        </p:nvSpPr>
        <p:spPr>
          <a:xfrm>
            <a:off x="13106400" y="674533"/>
            <a:ext cx="1584127" cy="1256947"/>
          </a:xfrm>
          <a:prstGeom prst="rect">
            <a:avLst/>
          </a:prstGeom>
        </p:spPr>
        <p:txBody>
          <a:bodyPr lIns="0" tIns="0" rIns="0" bIns="0" rtlCol="0" anchor="t">
            <a:spAutoFit/>
          </a:bodyPr>
          <a:lstStyle/>
          <a:p>
            <a:pPr algn="ctr">
              <a:lnSpc>
                <a:spcPts val="10411"/>
              </a:lnSpc>
              <a:spcBef>
                <a:spcPct val="0"/>
              </a:spcBef>
            </a:pPr>
            <a:r>
              <a:rPr lang="en-US" sz="7200" dirty="0">
                <a:solidFill>
                  <a:srgbClr val="FFFFFF"/>
                </a:solidFill>
                <a:latin typeface="Archivo Black"/>
                <a:ea typeface="Archivo Black"/>
                <a:cs typeface="Archivo Black"/>
                <a:sym typeface="Archivo Black"/>
              </a:rPr>
              <a:t>01.</a:t>
            </a:r>
          </a:p>
        </p:txBody>
      </p:sp>
      <p:sp>
        <p:nvSpPr>
          <p:cNvPr id="42" name="TextBox 4">
            <a:extLst>
              <a:ext uri="{FF2B5EF4-FFF2-40B4-BE49-F238E27FC236}">
                <a16:creationId xmlns:a16="http://schemas.microsoft.com/office/drawing/2014/main" id="{8E6AC36A-3F66-F67D-C8A9-A2E683EEFB18}"/>
              </a:ext>
            </a:extLst>
          </p:cNvPr>
          <p:cNvSpPr txBox="1"/>
          <p:nvPr/>
        </p:nvSpPr>
        <p:spPr>
          <a:xfrm rot="16200000">
            <a:off x="-36607" y="8890751"/>
            <a:ext cx="1078468" cy="218008"/>
          </a:xfrm>
          <a:prstGeom prst="rect">
            <a:avLst/>
          </a:prstGeom>
        </p:spPr>
        <p:txBody>
          <a:bodyPr lIns="0" tIns="0" rIns="0" bIns="0" rtlCol="0" anchor="t">
            <a:spAutoFit/>
          </a:bodyPr>
          <a:lstStyle/>
          <a:p>
            <a:pPr algn="ctr">
              <a:lnSpc>
                <a:spcPts val="1725"/>
              </a:lnSpc>
              <a:spcBef>
                <a:spcPct val="0"/>
              </a:spcBef>
            </a:pPr>
            <a:r>
              <a:rPr lang="en-US" sz="1658" dirty="0">
                <a:solidFill>
                  <a:srgbClr val="FFFFFF"/>
                </a:solidFill>
                <a:latin typeface="Raleway"/>
                <a:ea typeface="Raleway"/>
                <a:cs typeface="Raleway"/>
                <a:sym typeface="Raleway"/>
              </a:rPr>
              <a:t>Page  7</a:t>
            </a:r>
          </a:p>
        </p:txBody>
      </p:sp>
      <p:sp>
        <p:nvSpPr>
          <p:cNvPr id="43" name="TextBox 8">
            <a:extLst>
              <a:ext uri="{FF2B5EF4-FFF2-40B4-BE49-F238E27FC236}">
                <a16:creationId xmlns:a16="http://schemas.microsoft.com/office/drawing/2014/main" id="{53EA48AC-A1D4-6793-AE1A-68B4BAD57F44}"/>
              </a:ext>
            </a:extLst>
          </p:cNvPr>
          <p:cNvSpPr txBox="1"/>
          <p:nvPr/>
        </p:nvSpPr>
        <p:spPr>
          <a:xfrm>
            <a:off x="15309115" y="9063294"/>
            <a:ext cx="1716617" cy="277925"/>
          </a:xfrm>
          <a:prstGeom prst="rect">
            <a:avLst/>
          </a:prstGeom>
        </p:spPr>
        <p:txBody>
          <a:bodyPr lIns="0" tIns="0" rIns="0" bIns="0" rtlCol="0" anchor="t">
            <a:spAutoFit/>
          </a:bodyPr>
          <a:lstStyle/>
          <a:p>
            <a:pPr algn="l">
              <a:lnSpc>
                <a:spcPts val="2037"/>
              </a:lnSpc>
              <a:spcBef>
                <a:spcPct val="0"/>
              </a:spcBef>
            </a:pPr>
            <a:r>
              <a:rPr lang="en-US" sz="1958">
                <a:solidFill>
                  <a:srgbClr val="FFFFFF"/>
                </a:solidFill>
                <a:latin typeface="Raleway"/>
                <a:ea typeface="Raleway"/>
                <a:cs typeface="Raleway"/>
                <a:sym typeface="Raleway"/>
              </a:rPr>
              <a:t>Next Slide</a:t>
            </a:r>
          </a:p>
        </p:txBody>
      </p:sp>
      <p:sp>
        <p:nvSpPr>
          <p:cNvPr id="44" name="Freeform 9">
            <a:extLst>
              <a:ext uri="{FF2B5EF4-FFF2-40B4-BE49-F238E27FC236}">
                <a16:creationId xmlns:a16="http://schemas.microsoft.com/office/drawing/2014/main" id="{EE00B938-A8A0-43C1-6E50-EA711CC9D19C}"/>
              </a:ext>
            </a:extLst>
          </p:cNvPr>
          <p:cNvSpPr/>
          <p:nvPr/>
        </p:nvSpPr>
        <p:spPr>
          <a:xfrm flipH="1">
            <a:off x="16998830" y="8999755"/>
            <a:ext cx="416017" cy="418299"/>
          </a:xfrm>
          <a:custGeom>
            <a:avLst/>
            <a:gdLst/>
            <a:ahLst/>
            <a:cxnLst/>
            <a:rect l="l" t="t" r="r" b="b"/>
            <a:pathLst>
              <a:path w="416017" h="418299">
                <a:moveTo>
                  <a:pt x="416017" y="0"/>
                </a:moveTo>
                <a:lnTo>
                  <a:pt x="0" y="0"/>
                </a:lnTo>
                <a:lnTo>
                  <a:pt x="0" y="418299"/>
                </a:lnTo>
                <a:lnTo>
                  <a:pt x="416017" y="418299"/>
                </a:lnTo>
                <a:lnTo>
                  <a:pt x="416017" y="0"/>
                </a:lnTo>
                <a:close/>
              </a:path>
            </a:pathLst>
          </a:custGeom>
          <a:blipFill>
            <a:blip r:embed="rId3">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E0623-7512-2331-D209-6AA7B0D24BE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9B06D7D-431C-41D8-BCD2-693EB961FDB0}"/>
              </a:ext>
            </a:extLst>
          </p:cNvPr>
          <p:cNvGrpSpPr/>
          <p:nvPr/>
        </p:nvGrpSpPr>
        <p:grpSpPr>
          <a:xfrm>
            <a:off x="1" y="-38783"/>
            <a:ext cx="18288000" cy="10287000"/>
            <a:chOff x="0" y="0"/>
            <a:chExt cx="2669893" cy="2709333"/>
          </a:xfrm>
          <a:gradFill>
            <a:gsLst>
              <a:gs pos="0">
                <a:srgbClr val="000000">
                  <a:alpha val="100000"/>
                </a:srgbClr>
              </a:gs>
              <a:gs pos="65000">
                <a:srgbClr val="32032F">
                  <a:alpha val="100000"/>
                </a:srgbClr>
              </a:gs>
              <a:gs pos="100000">
                <a:srgbClr val="002060"/>
              </a:gs>
            </a:gsLst>
            <a:lin ang="0" scaled="0"/>
          </a:gradFill>
        </p:grpSpPr>
        <p:sp>
          <p:nvSpPr>
            <p:cNvPr id="3" name="Freeform 3">
              <a:extLst>
                <a:ext uri="{FF2B5EF4-FFF2-40B4-BE49-F238E27FC236}">
                  <a16:creationId xmlns:a16="http://schemas.microsoft.com/office/drawing/2014/main" id="{E9161019-1E0F-625B-FA83-A1AAF63AF871}"/>
                </a:ext>
              </a:extLst>
            </p:cNvPr>
            <p:cNvSpPr/>
            <p:nvPr/>
          </p:nvSpPr>
          <p:spPr>
            <a:xfrm>
              <a:off x="0" y="0"/>
              <a:ext cx="2669893" cy="2709333"/>
            </a:xfrm>
            <a:custGeom>
              <a:avLst/>
              <a:gdLst/>
              <a:ahLst/>
              <a:cxnLst/>
              <a:rect l="l" t="t" r="r" b="b"/>
              <a:pathLst>
                <a:path w="2669893" h="2709333">
                  <a:moveTo>
                    <a:pt x="43531" y="0"/>
                  </a:moveTo>
                  <a:lnTo>
                    <a:pt x="2626361" y="0"/>
                  </a:lnTo>
                  <a:cubicBezTo>
                    <a:pt x="2650403" y="0"/>
                    <a:pt x="2669893" y="19490"/>
                    <a:pt x="2669893" y="43531"/>
                  </a:cubicBezTo>
                  <a:lnTo>
                    <a:pt x="2669893" y="2665802"/>
                  </a:lnTo>
                  <a:cubicBezTo>
                    <a:pt x="2669893" y="2689844"/>
                    <a:pt x="2650403" y="2709333"/>
                    <a:pt x="2626361" y="2709333"/>
                  </a:cubicBezTo>
                  <a:lnTo>
                    <a:pt x="43531" y="2709333"/>
                  </a:lnTo>
                  <a:cubicBezTo>
                    <a:pt x="19490" y="2709333"/>
                    <a:pt x="0" y="2689844"/>
                    <a:pt x="0" y="2665802"/>
                  </a:cubicBezTo>
                  <a:lnTo>
                    <a:pt x="0" y="43531"/>
                  </a:lnTo>
                  <a:cubicBezTo>
                    <a:pt x="0" y="19490"/>
                    <a:pt x="19490" y="0"/>
                    <a:pt x="43531" y="0"/>
                  </a:cubicBezTo>
                  <a:close/>
                </a:path>
              </a:pathLst>
            </a:custGeom>
            <a:grpFill/>
            <a:ln cap="rnd">
              <a:noFill/>
              <a:prstDash val="solid"/>
              <a:round/>
            </a:ln>
          </p:spPr>
          <p:txBody>
            <a:bodyPr/>
            <a:lstStyle/>
            <a:p>
              <a:endParaRPr lang="en-US" dirty="0"/>
            </a:p>
          </p:txBody>
        </p:sp>
        <p:sp>
          <p:nvSpPr>
            <p:cNvPr id="4" name="TextBox 4">
              <a:extLst>
                <a:ext uri="{FF2B5EF4-FFF2-40B4-BE49-F238E27FC236}">
                  <a16:creationId xmlns:a16="http://schemas.microsoft.com/office/drawing/2014/main" id="{9CCAB6FD-FFD5-4DA1-4F81-E7FBE29D7F8F}"/>
                </a:ext>
              </a:extLst>
            </p:cNvPr>
            <p:cNvSpPr txBox="1"/>
            <p:nvPr/>
          </p:nvSpPr>
          <p:spPr>
            <a:xfrm>
              <a:off x="0" y="-57150"/>
              <a:ext cx="2669893" cy="2766483"/>
            </a:xfrm>
            <a:prstGeom prst="rect">
              <a:avLst/>
            </a:prstGeom>
            <a:grpFill/>
          </p:spPr>
          <p:txBody>
            <a:bodyPr lIns="50800" tIns="50800" rIns="50800" bIns="50800" rtlCol="0" anchor="ctr"/>
            <a:lstStyle/>
            <a:p>
              <a:pPr marL="0" lvl="0" indent="0" algn="ctr">
                <a:lnSpc>
                  <a:spcPts val="3447"/>
                </a:lnSpc>
                <a:spcBef>
                  <a:spcPct val="0"/>
                </a:spcBef>
              </a:pPr>
              <a:endParaRPr/>
            </a:p>
          </p:txBody>
        </p:sp>
      </p:grpSp>
      <p:graphicFrame>
        <p:nvGraphicFramePr>
          <p:cNvPr id="28" name="Chart 27">
            <a:extLst>
              <a:ext uri="{FF2B5EF4-FFF2-40B4-BE49-F238E27FC236}">
                <a16:creationId xmlns:a16="http://schemas.microsoft.com/office/drawing/2014/main" id="{B144A102-1486-4AFF-DEDE-D6B99DFF43E5}"/>
              </a:ext>
            </a:extLst>
          </p:cNvPr>
          <p:cNvGraphicFramePr/>
          <p:nvPr>
            <p:extLst>
              <p:ext uri="{D42A27DB-BD31-4B8C-83A1-F6EECF244321}">
                <p14:modId xmlns:p14="http://schemas.microsoft.com/office/powerpoint/2010/main" val="2464350759"/>
              </p:ext>
            </p:extLst>
          </p:nvPr>
        </p:nvGraphicFramePr>
        <p:xfrm>
          <a:off x="8610600" y="800100"/>
          <a:ext cx="9282928" cy="8503999"/>
        </p:xfrm>
        <a:graphic>
          <a:graphicData uri="http://schemas.openxmlformats.org/drawingml/2006/chart">
            <c:chart xmlns:c="http://schemas.openxmlformats.org/drawingml/2006/chart" xmlns:r="http://schemas.openxmlformats.org/officeDocument/2006/relationships" r:id="rId2"/>
          </a:graphicData>
        </a:graphic>
      </p:graphicFrame>
      <p:grpSp>
        <p:nvGrpSpPr>
          <p:cNvPr id="11" name="Group 10">
            <a:extLst>
              <a:ext uri="{FF2B5EF4-FFF2-40B4-BE49-F238E27FC236}">
                <a16:creationId xmlns:a16="http://schemas.microsoft.com/office/drawing/2014/main" id="{1FDFB6FE-C94A-6742-E73D-43F65491E2CC}"/>
              </a:ext>
            </a:extLst>
          </p:cNvPr>
          <p:cNvGrpSpPr/>
          <p:nvPr/>
        </p:nvGrpSpPr>
        <p:grpSpPr>
          <a:xfrm>
            <a:off x="266700" y="2247900"/>
            <a:ext cx="8115300" cy="6019801"/>
            <a:chOff x="0" y="-192881"/>
            <a:chExt cx="10820400" cy="10481071"/>
          </a:xfrm>
          <a:gradFill>
            <a:gsLst>
              <a:gs pos="0">
                <a:srgbClr val="000000">
                  <a:alpha val="100000"/>
                </a:srgbClr>
              </a:gs>
              <a:gs pos="65000">
                <a:srgbClr val="32032F">
                  <a:alpha val="100000"/>
                </a:srgbClr>
              </a:gs>
              <a:gs pos="100000">
                <a:srgbClr val="002060"/>
              </a:gs>
            </a:gsLst>
            <a:lin ang="0" scaled="0"/>
          </a:gradFill>
        </p:grpSpPr>
        <p:grpSp>
          <p:nvGrpSpPr>
            <p:cNvPr id="12" name="Group 11">
              <a:extLst>
                <a:ext uri="{FF2B5EF4-FFF2-40B4-BE49-F238E27FC236}">
                  <a16:creationId xmlns:a16="http://schemas.microsoft.com/office/drawing/2014/main" id="{1B8D54ED-F0BD-4AD3-7AC7-1048796DD118}"/>
                </a:ext>
              </a:extLst>
            </p:cNvPr>
            <p:cNvGrpSpPr/>
            <p:nvPr/>
          </p:nvGrpSpPr>
          <p:grpSpPr>
            <a:xfrm>
              <a:off x="0" y="-192881"/>
              <a:ext cx="10820400" cy="10481071"/>
              <a:chOff x="0" y="-38100"/>
              <a:chExt cx="2137363" cy="2070335"/>
            </a:xfrm>
            <a:grpFill/>
          </p:grpSpPr>
          <p:sp>
            <p:nvSpPr>
              <p:cNvPr id="16" name="Freeform 6">
                <a:extLst>
                  <a:ext uri="{FF2B5EF4-FFF2-40B4-BE49-F238E27FC236}">
                    <a16:creationId xmlns:a16="http://schemas.microsoft.com/office/drawing/2014/main" id="{FCDB7A2A-6702-9ECC-9182-BCBDC0F862B2}"/>
                  </a:ext>
                </a:extLst>
              </p:cNvPr>
              <p:cNvSpPr/>
              <p:nvPr/>
            </p:nvSpPr>
            <p:spPr>
              <a:xfrm>
                <a:off x="0" y="0"/>
                <a:ext cx="2137363" cy="2032235"/>
              </a:xfrm>
              <a:custGeom>
                <a:avLst/>
                <a:gdLst/>
                <a:ahLst/>
                <a:cxnLst/>
                <a:rect l="l" t="t" r="r" b="b"/>
                <a:pathLst>
                  <a:path w="2137363" h="2032235">
                    <a:moveTo>
                      <a:pt x="19080" y="0"/>
                    </a:moveTo>
                    <a:lnTo>
                      <a:pt x="2118283" y="0"/>
                    </a:lnTo>
                    <a:cubicBezTo>
                      <a:pt x="2123343" y="0"/>
                      <a:pt x="2128196" y="2010"/>
                      <a:pt x="2131775" y="5588"/>
                    </a:cubicBezTo>
                    <a:cubicBezTo>
                      <a:pt x="2135353" y="9167"/>
                      <a:pt x="2137363" y="14020"/>
                      <a:pt x="2137363" y="19080"/>
                    </a:cubicBezTo>
                    <a:lnTo>
                      <a:pt x="2137363" y="2013155"/>
                    </a:lnTo>
                    <a:cubicBezTo>
                      <a:pt x="2137363" y="2023693"/>
                      <a:pt x="2128821" y="2032235"/>
                      <a:pt x="2118283" y="2032235"/>
                    </a:cubicBezTo>
                    <a:lnTo>
                      <a:pt x="19080" y="2032235"/>
                    </a:lnTo>
                    <a:cubicBezTo>
                      <a:pt x="8542" y="2032235"/>
                      <a:pt x="0" y="2023693"/>
                      <a:pt x="0" y="2013155"/>
                    </a:cubicBezTo>
                    <a:lnTo>
                      <a:pt x="0" y="19080"/>
                    </a:lnTo>
                    <a:cubicBezTo>
                      <a:pt x="0" y="8542"/>
                      <a:pt x="8542" y="0"/>
                      <a:pt x="19080" y="0"/>
                    </a:cubicBezTo>
                    <a:close/>
                  </a:path>
                </a:pathLst>
              </a:custGeom>
              <a:grpFill/>
              <a:ln w="38100" cap="sq">
                <a:solidFill>
                  <a:srgbClr val="E5E1DA"/>
                </a:solidFill>
                <a:prstDash val="solid"/>
                <a:miter/>
              </a:ln>
            </p:spPr>
            <p:txBody>
              <a:bodyPr/>
              <a:lstStyle/>
              <a:p>
                <a:endParaRPr lang="en-US"/>
              </a:p>
            </p:txBody>
          </p:sp>
          <p:sp>
            <p:nvSpPr>
              <p:cNvPr id="17" name="TextBox 7">
                <a:extLst>
                  <a:ext uri="{FF2B5EF4-FFF2-40B4-BE49-F238E27FC236}">
                    <a16:creationId xmlns:a16="http://schemas.microsoft.com/office/drawing/2014/main" id="{495B18AD-5962-BD92-3988-BCB1BA8A7004}"/>
                  </a:ext>
                </a:extLst>
              </p:cNvPr>
              <p:cNvSpPr txBox="1"/>
              <p:nvPr/>
            </p:nvSpPr>
            <p:spPr>
              <a:xfrm>
                <a:off x="0" y="-38100"/>
                <a:ext cx="2137363" cy="2070335"/>
              </a:xfrm>
              <a:prstGeom prst="rect">
                <a:avLst/>
              </a:prstGeom>
              <a:grpFill/>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sp>
          <p:nvSpPr>
            <p:cNvPr id="13" name="TextBox 8">
              <a:extLst>
                <a:ext uri="{FF2B5EF4-FFF2-40B4-BE49-F238E27FC236}">
                  <a16:creationId xmlns:a16="http://schemas.microsoft.com/office/drawing/2014/main" id="{44D305B8-E8AC-4D5C-368D-2C02C9D3206A}"/>
                </a:ext>
              </a:extLst>
            </p:cNvPr>
            <p:cNvSpPr txBox="1"/>
            <p:nvPr/>
          </p:nvSpPr>
          <p:spPr>
            <a:xfrm>
              <a:off x="627563" y="506768"/>
              <a:ext cx="9913436" cy="1107996"/>
            </a:xfrm>
            <a:prstGeom prst="rect">
              <a:avLst/>
            </a:prstGeom>
            <a:grp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5400" b="1" dirty="0">
                  <a:solidFill>
                    <a:srgbClr val="FFFFFF"/>
                  </a:solidFill>
                  <a:ea typeface="Archivo Black"/>
                  <a:cs typeface="Archivo Black"/>
                  <a:sym typeface="Archivo Black"/>
                </a:rPr>
                <a:t>Category Popularity</a:t>
              </a:r>
            </a:p>
          </p:txBody>
        </p:sp>
        <p:sp>
          <p:nvSpPr>
            <p:cNvPr id="15" name="TextBox 9">
              <a:extLst>
                <a:ext uri="{FF2B5EF4-FFF2-40B4-BE49-F238E27FC236}">
                  <a16:creationId xmlns:a16="http://schemas.microsoft.com/office/drawing/2014/main" id="{D144F88C-00C5-9E31-DD92-DCBFBF8247C0}"/>
                </a:ext>
              </a:extLst>
            </p:cNvPr>
            <p:cNvSpPr txBox="1"/>
            <p:nvPr/>
          </p:nvSpPr>
          <p:spPr>
            <a:xfrm>
              <a:off x="238759" y="2327884"/>
              <a:ext cx="10261600" cy="5838179"/>
            </a:xfrm>
            <a:prstGeom prst="rect">
              <a:avLst/>
            </a:prstGeom>
            <a:grp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lvl="0" indent="-342900" algn="l">
                <a:lnSpc>
                  <a:spcPct val="150000"/>
                </a:lnSpc>
                <a:spcBef>
                  <a:spcPct val="0"/>
                </a:spcBef>
                <a:buFont typeface="Arial" panose="020B0604020202020204" pitchFamily="34" charset="0"/>
                <a:buChar char="•"/>
              </a:pPr>
              <a:r>
                <a:rPr lang="en-US" sz="2400" u="none" dirty="0">
                  <a:solidFill>
                    <a:srgbClr val="FFFFFF"/>
                  </a:solidFill>
                  <a:latin typeface="Red Hat Display"/>
                  <a:ea typeface="Red Hat Display"/>
                  <a:cs typeface="Red Hat Display"/>
                  <a:sym typeface="Red Hat Display"/>
                </a:rPr>
                <a:t>Observation: Category 250 dominates with over 6M interactions (606K views alone). Other strong categories include 679, 312, 620, and 561.</a:t>
              </a:r>
            </a:p>
            <a:p>
              <a:pPr marL="342900" lvl="0" indent="-342900" algn="l">
                <a:lnSpc>
                  <a:spcPct val="150000"/>
                </a:lnSpc>
                <a:spcBef>
                  <a:spcPct val="0"/>
                </a:spcBef>
                <a:buFont typeface="Arial" panose="020B0604020202020204" pitchFamily="34" charset="0"/>
                <a:buChar char="•"/>
              </a:pPr>
              <a:r>
                <a:rPr lang="en-US" sz="2400" u="none" dirty="0">
                  <a:solidFill>
                    <a:srgbClr val="FFFFFF"/>
                  </a:solidFill>
                  <a:latin typeface="Red Hat Display"/>
                  <a:ea typeface="Red Hat Display"/>
                  <a:cs typeface="Red Hat Display"/>
                  <a:sym typeface="Red Hat Display"/>
                </a:rPr>
                <a:t>User attention is highly skewed toward a few categories.</a:t>
              </a:r>
              <a:endParaRPr lang="en-US" sz="2400" dirty="0">
                <a:solidFill>
                  <a:srgbClr val="FFFFFF"/>
                </a:solidFill>
                <a:latin typeface="Red Hat Display"/>
                <a:ea typeface="Red Hat Display"/>
                <a:cs typeface="Red Hat Display"/>
                <a:sym typeface="Red Hat Display"/>
              </a:endParaRPr>
            </a:p>
            <a:p>
              <a:pPr marL="342900" lvl="0" indent="-342900" algn="l">
                <a:lnSpc>
                  <a:spcPct val="150000"/>
                </a:lnSpc>
                <a:spcBef>
                  <a:spcPct val="0"/>
                </a:spcBef>
                <a:buFont typeface="Arial" panose="020B0604020202020204" pitchFamily="34" charset="0"/>
                <a:buChar char="•"/>
              </a:pPr>
              <a:r>
                <a:rPr lang="en-US" sz="2400" u="none" dirty="0">
                  <a:solidFill>
                    <a:srgbClr val="FFFFFF"/>
                  </a:solidFill>
                  <a:latin typeface="Red Hat Display"/>
                  <a:ea typeface="Red Hat Display"/>
                  <a:cs typeface="Red Hat Display"/>
                  <a:sym typeface="Red Hat Display"/>
                </a:rPr>
                <a:t>These categories should be </a:t>
              </a:r>
              <a:r>
                <a:rPr lang="en-US" sz="2400" u="none" dirty="0" err="1">
                  <a:solidFill>
                    <a:srgbClr val="FFFFFF"/>
                  </a:solidFill>
                  <a:latin typeface="Red Hat Display"/>
                  <a:ea typeface="Red Hat Display"/>
                  <a:cs typeface="Red Hat Display"/>
                  <a:sym typeface="Red Hat Display"/>
                </a:rPr>
                <a:t>prioritised</a:t>
              </a:r>
              <a:r>
                <a:rPr lang="en-US" sz="2400" u="none" dirty="0">
                  <a:solidFill>
                    <a:srgbClr val="FFFFFF"/>
                  </a:solidFill>
                  <a:latin typeface="Red Hat Display"/>
                  <a:ea typeface="Red Hat Display"/>
                  <a:cs typeface="Red Hat Display"/>
                  <a:sym typeface="Red Hat Display"/>
                </a:rPr>
                <a:t> in recommendations, inventory management, and promotions.</a:t>
              </a:r>
            </a:p>
          </p:txBody>
        </p:sp>
      </p:grpSp>
      <p:sp>
        <p:nvSpPr>
          <p:cNvPr id="18" name="TextBox 23">
            <a:extLst>
              <a:ext uri="{FF2B5EF4-FFF2-40B4-BE49-F238E27FC236}">
                <a16:creationId xmlns:a16="http://schemas.microsoft.com/office/drawing/2014/main" id="{0A20969D-0E62-F010-3E85-1888D78797F2}"/>
              </a:ext>
            </a:extLst>
          </p:cNvPr>
          <p:cNvSpPr txBox="1"/>
          <p:nvPr/>
        </p:nvSpPr>
        <p:spPr>
          <a:xfrm>
            <a:off x="3387090" y="674533"/>
            <a:ext cx="1584127" cy="1256947"/>
          </a:xfrm>
          <a:prstGeom prst="rect">
            <a:avLst/>
          </a:prstGeom>
        </p:spPr>
        <p:txBody>
          <a:bodyPr lIns="0" tIns="0" rIns="0" bIns="0" rtlCol="0" anchor="t">
            <a:spAutoFit/>
          </a:bodyPr>
          <a:lstStyle/>
          <a:p>
            <a:pPr algn="ctr">
              <a:lnSpc>
                <a:spcPts val="10411"/>
              </a:lnSpc>
              <a:spcBef>
                <a:spcPct val="0"/>
              </a:spcBef>
            </a:pPr>
            <a:r>
              <a:rPr lang="en-US" sz="7200" dirty="0">
                <a:solidFill>
                  <a:srgbClr val="FFFFFF"/>
                </a:solidFill>
                <a:latin typeface="Archivo Black"/>
                <a:ea typeface="Archivo Black"/>
                <a:cs typeface="Archivo Black"/>
                <a:sym typeface="Archivo Black"/>
              </a:rPr>
              <a:t>02.</a:t>
            </a:r>
          </a:p>
        </p:txBody>
      </p:sp>
      <p:sp>
        <p:nvSpPr>
          <p:cNvPr id="19" name="TextBox 4">
            <a:extLst>
              <a:ext uri="{FF2B5EF4-FFF2-40B4-BE49-F238E27FC236}">
                <a16:creationId xmlns:a16="http://schemas.microsoft.com/office/drawing/2014/main" id="{70D0BE7B-589C-C825-CA93-BD1681215532}"/>
              </a:ext>
            </a:extLst>
          </p:cNvPr>
          <p:cNvSpPr txBox="1"/>
          <p:nvPr/>
        </p:nvSpPr>
        <p:spPr>
          <a:xfrm rot="16200000">
            <a:off x="129306" y="8890751"/>
            <a:ext cx="1078468" cy="218008"/>
          </a:xfrm>
          <a:prstGeom prst="rect">
            <a:avLst/>
          </a:prstGeom>
        </p:spPr>
        <p:txBody>
          <a:bodyPr lIns="0" tIns="0" rIns="0" bIns="0" rtlCol="0" anchor="t">
            <a:spAutoFit/>
          </a:bodyPr>
          <a:lstStyle/>
          <a:p>
            <a:pPr algn="ctr">
              <a:lnSpc>
                <a:spcPts val="1725"/>
              </a:lnSpc>
              <a:spcBef>
                <a:spcPct val="0"/>
              </a:spcBef>
            </a:pPr>
            <a:r>
              <a:rPr lang="en-US" sz="1658" dirty="0">
                <a:solidFill>
                  <a:srgbClr val="FFFFFF"/>
                </a:solidFill>
                <a:latin typeface="Raleway"/>
                <a:ea typeface="Raleway"/>
                <a:cs typeface="Raleway"/>
                <a:sym typeface="Raleway"/>
              </a:rPr>
              <a:t>Page  8</a:t>
            </a:r>
          </a:p>
        </p:txBody>
      </p:sp>
      <p:sp>
        <p:nvSpPr>
          <p:cNvPr id="20" name="TextBox 8">
            <a:extLst>
              <a:ext uri="{FF2B5EF4-FFF2-40B4-BE49-F238E27FC236}">
                <a16:creationId xmlns:a16="http://schemas.microsoft.com/office/drawing/2014/main" id="{C31B6F07-8CD7-D533-1FDB-73CEA9E78A20}"/>
              </a:ext>
            </a:extLst>
          </p:cNvPr>
          <p:cNvSpPr txBox="1"/>
          <p:nvPr/>
        </p:nvSpPr>
        <p:spPr>
          <a:xfrm>
            <a:off x="15309115" y="9589340"/>
            <a:ext cx="1716617" cy="277925"/>
          </a:xfrm>
          <a:prstGeom prst="rect">
            <a:avLst/>
          </a:prstGeom>
        </p:spPr>
        <p:txBody>
          <a:bodyPr lIns="0" tIns="0" rIns="0" bIns="0" rtlCol="0" anchor="t">
            <a:spAutoFit/>
          </a:bodyPr>
          <a:lstStyle/>
          <a:p>
            <a:pPr algn="l">
              <a:lnSpc>
                <a:spcPts val="2037"/>
              </a:lnSpc>
              <a:spcBef>
                <a:spcPct val="0"/>
              </a:spcBef>
            </a:pPr>
            <a:r>
              <a:rPr lang="en-US" sz="1958">
                <a:solidFill>
                  <a:srgbClr val="FFFFFF"/>
                </a:solidFill>
                <a:latin typeface="Raleway"/>
                <a:ea typeface="Raleway"/>
                <a:cs typeface="Raleway"/>
                <a:sym typeface="Raleway"/>
              </a:rPr>
              <a:t>Next Slide</a:t>
            </a:r>
          </a:p>
        </p:txBody>
      </p:sp>
      <p:sp>
        <p:nvSpPr>
          <p:cNvPr id="21" name="Freeform 9">
            <a:extLst>
              <a:ext uri="{FF2B5EF4-FFF2-40B4-BE49-F238E27FC236}">
                <a16:creationId xmlns:a16="http://schemas.microsoft.com/office/drawing/2014/main" id="{9C9DB8F6-A512-64C9-BE07-EB6F1D7B4170}"/>
              </a:ext>
            </a:extLst>
          </p:cNvPr>
          <p:cNvSpPr/>
          <p:nvPr/>
        </p:nvSpPr>
        <p:spPr>
          <a:xfrm flipH="1">
            <a:off x="16998830" y="9525801"/>
            <a:ext cx="416017" cy="418299"/>
          </a:xfrm>
          <a:custGeom>
            <a:avLst/>
            <a:gdLst/>
            <a:ahLst/>
            <a:cxnLst/>
            <a:rect l="l" t="t" r="r" b="b"/>
            <a:pathLst>
              <a:path w="416017" h="418299">
                <a:moveTo>
                  <a:pt x="416017" y="0"/>
                </a:moveTo>
                <a:lnTo>
                  <a:pt x="0" y="0"/>
                </a:lnTo>
                <a:lnTo>
                  <a:pt x="0" y="418299"/>
                </a:lnTo>
                <a:lnTo>
                  <a:pt x="416017" y="418299"/>
                </a:lnTo>
                <a:lnTo>
                  <a:pt x="416017" y="0"/>
                </a:lnTo>
                <a:close/>
              </a:path>
            </a:pathLst>
          </a:custGeom>
          <a:blipFill>
            <a:blip r:embed="rId3">
              <a:extLst>
                <a:ext uri="{96DAC541-7B7A-43D3-8B79-37D633B846F1}">
                  <asvg:svgBlip xmlns:asvg="http://schemas.microsoft.com/office/drawing/2016/SVG/main" r:embed="rId4"/>
                </a:ext>
              </a:extLst>
            </a:blip>
            <a:stretch>
              <a:fillRect/>
            </a:stretch>
          </a:blipFill>
        </p:spPr>
      </p:sp>
    </p:spTree>
    <p:extLst>
      <p:ext uri="{BB962C8B-B14F-4D97-AF65-F5344CB8AC3E}">
        <p14:creationId xmlns:p14="http://schemas.microsoft.com/office/powerpoint/2010/main" val="40728780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C6C00-F2C7-8A3B-5EFF-E07EF00E5FF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B7A7F4B-181F-CFBC-6C86-E1ADF56B397B}"/>
              </a:ext>
            </a:extLst>
          </p:cNvPr>
          <p:cNvGrpSpPr/>
          <p:nvPr/>
        </p:nvGrpSpPr>
        <p:grpSpPr>
          <a:xfrm>
            <a:off x="1" y="-38783"/>
            <a:ext cx="18288000" cy="10287000"/>
            <a:chOff x="0" y="0"/>
            <a:chExt cx="2669893" cy="2709333"/>
          </a:xfrm>
          <a:gradFill>
            <a:gsLst>
              <a:gs pos="0">
                <a:srgbClr val="000000">
                  <a:alpha val="100000"/>
                </a:srgbClr>
              </a:gs>
              <a:gs pos="65000">
                <a:srgbClr val="32032F">
                  <a:alpha val="100000"/>
                </a:srgbClr>
              </a:gs>
              <a:gs pos="100000">
                <a:srgbClr val="002060"/>
              </a:gs>
            </a:gsLst>
            <a:lin ang="0" scaled="0"/>
          </a:gradFill>
        </p:grpSpPr>
        <p:sp>
          <p:nvSpPr>
            <p:cNvPr id="3" name="Freeform 3">
              <a:extLst>
                <a:ext uri="{FF2B5EF4-FFF2-40B4-BE49-F238E27FC236}">
                  <a16:creationId xmlns:a16="http://schemas.microsoft.com/office/drawing/2014/main" id="{D75F6861-1AF9-CD65-594B-719A234F5D6F}"/>
                </a:ext>
              </a:extLst>
            </p:cNvPr>
            <p:cNvSpPr/>
            <p:nvPr/>
          </p:nvSpPr>
          <p:spPr>
            <a:xfrm>
              <a:off x="0" y="0"/>
              <a:ext cx="2669893" cy="2709333"/>
            </a:xfrm>
            <a:custGeom>
              <a:avLst/>
              <a:gdLst/>
              <a:ahLst/>
              <a:cxnLst/>
              <a:rect l="l" t="t" r="r" b="b"/>
              <a:pathLst>
                <a:path w="2669893" h="2709333">
                  <a:moveTo>
                    <a:pt x="43531" y="0"/>
                  </a:moveTo>
                  <a:lnTo>
                    <a:pt x="2626361" y="0"/>
                  </a:lnTo>
                  <a:cubicBezTo>
                    <a:pt x="2650403" y="0"/>
                    <a:pt x="2669893" y="19490"/>
                    <a:pt x="2669893" y="43531"/>
                  </a:cubicBezTo>
                  <a:lnTo>
                    <a:pt x="2669893" y="2665802"/>
                  </a:lnTo>
                  <a:cubicBezTo>
                    <a:pt x="2669893" y="2689844"/>
                    <a:pt x="2650403" y="2709333"/>
                    <a:pt x="2626361" y="2709333"/>
                  </a:cubicBezTo>
                  <a:lnTo>
                    <a:pt x="43531" y="2709333"/>
                  </a:lnTo>
                  <a:cubicBezTo>
                    <a:pt x="19490" y="2709333"/>
                    <a:pt x="0" y="2689844"/>
                    <a:pt x="0" y="2665802"/>
                  </a:cubicBezTo>
                  <a:lnTo>
                    <a:pt x="0" y="43531"/>
                  </a:lnTo>
                  <a:cubicBezTo>
                    <a:pt x="0" y="19490"/>
                    <a:pt x="19490" y="0"/>
                    <a:pt x="43531" y="0"/>
                  </a:cubicBezTo>
                  <a:close/>
                </a:path>
              </a:pathLst>
            </a:custGeom>
            <a:grpFill/>
            <a:ln cap="rnd">
              <a:noFill/>
              <a:prstDash val="solid"/>
              <a:round/>
            </a:ln>
          </p:spPr>
          <p:txBody>
            <a:bodyPr/>
            <a:lstStyle/>
            <a:p>
              <a:endParaRPr lang="en-US" dirty="0"/>
            </a:p>
          </p:txBody>
        </p:sp>
        <p:sp>
          <p:nvSpPr>
            <p:cNvPr id="4" name="TextBox 4">
              <a:extLst>
                <a:ext uri="{FF2B5EF4-FFF2-40B4-BE49-F238E27FC236}">
                  <a16:creationId xmlns:a16="http://schemas.microsoft.com/office/drawing/2014/main" id="{61C7B5CE-8C35-0976-129A-29E91779DCE2}"/>
                </a:ext>
              </a:extLst>
            </p:cNvPr>
            <p:cNvSpPr txBox="1"/>
            <p:nvPr/>
          </p:nvSpPr>
          <p:spPr>
            <a:xfrm>
              <a:off x="0" y="-57150"/>
              <a:ext cx="2669893" cy="2766483"/>
            </a:xfrm>
            <a:prstGeom prst="rect">
              <a:avLst/>
            </a:prstGeom>
            <a:grpFill/>
          </p:spPr>
          <p:txBody>
            <a:bodyPr lIns="50800" tIns="50800" rIns="50800" bIns="50800" rtlCol="0" anchor="ctr"/>
            <a:lstStyle/>
            <a:p>
              <a:pPr marL="0" lvl="0" indent="0" algn="ctr">
                <a:lnSpc>
                  <a:spcPts val="3447"/>
                </a:lnSpc>
                <a:spcBef>
                  <a:spcPct val="0"/>
                </a:spcBef>
              </a:pPr>
              <a:endParaRPr/>
            </a:p>
          </p:txBody>
        </p:sp>
      </p:grpSp>
      <p:graphicFrame>
        <p:nvGraphicFramePr>
          <p:cNvPr id="28" name="Chart 27">
            <a:extLst>
              <a:ext uri="{FF2B5EF4-FFF2-40B4-BE49-F238E27FC236}">
                <a16:creationId xmlns:a16="http://schemas.microsoft.com/office/drawing/2014/main" id="{B5608431-CE20-7468-BC8B-30A840BAC4CF}"/>
              </a:ext>
            </a:extLst>
          </p:cNvPr>
          <p:cNvGraphicFramePr/>
          <p:nvPr>
            <p:extLst>
              <p:ext uri="{D42A27DB-BD31-4B8C-83A1-F6EECF244321}">
                <p14:modId xmlns:p14="http://schemas.microsoft.com/office/powerpoint/2010/main" val="1953228148"/>
              </p:ext>
            </p:extLst>
          </p:nvPr>
        </p:nvGraphicFramePr>
        <p:xfrm>
          <a:off x="152400" y="800100"/>
          <a:ext cx="9718932" cy="8503999"/>
        </p:xfrm>
        <a:graphic>
          <a:graphicData uri="http://schemas.openxmlformats.org/drawingml/2006/chart">
            <c:chart xmlns:c="http://schemas.openxmlformats.org/drawingml/2006/chart" xmlns:r="http://schemas.openxmlformats.org/officeDocument/2006/relationships" r:id="rId2"/>
          </a:graphicData>
        </a:graphic>
      </p:graphicFrame>
      <p:grpSp>
        <p:nvGrpSpPr>
          <p:cNvPr id="5" name="Group 4">
            <a:extLst>
              <a:ext uri="{FF2B5EF4-FFF2-40B4-BE49-F238E27FC236}">
                <a16:creationId xmlns:a16="http://schemas.microsoft.com/office/drawing/2014/main" id="{738F8FFA-B1FD-79A0-5BB8-3AA0019ADF11}"/>
              </a:ext>
            </a:extLst>
          </p:cNvPr>
          <p:cNvGrpSpPr/>
          <p:nvPr/>
        </p:nvGrpSpPr>
        <p:grpSpPr>
          <a:xfrm>
            <a:off x="9986010" y="2247900"/>
            <a:ext cx="8115300" cy="6019801"/>
            <a:chOff x="0" y="-192881"/>
            <a:chExt cx="10820400" cy="10481071"/>
          </a:xfrm>
          <a:gradFill>
            <a:gsLst>
              <a:gs pos="0">
                <a:srgbClr val="000000">
                  <a:alpha val="100000"/>
                </a:srgbClr>
              </a:gs>
              <a:gs pos="65000">
                <a:srgbClr val="32032F">
                  <a:alpha val="100000"/>
                </a:srgbClr>
              </a:gs>
              <a:gs pos="100000">
                <a:srgbClr val="002060"/>
              </a:gs>
            </a:gsLst>
            <a:lin ang="0" scaled="0"/>
          </a:gradFill>
        </p:grpSpPr>
        <p:grpSp>
          <p:nvGrpSpPr>
            <p:cNvPr id="6" name="Group 5">
              <a:extLst>
                <a:ext uri="{FF2B5EF4-FFF2-40B4-BE49-F238E27FC236}">
                  <a16:creationId xmlns:a16="http://schemas.microsoft.com/office/drawing/2014/main" id="{67E90013-921D-F4B0-8DB5-0E85B907919E}"/>
                </a:ext>
              </a:extLst>
            </p:cNvPr>
            <p:cNvGrpSpPr/>
            <p:nvPr/>
          </p:nvGrpSpPr>
          <p:grpSpPr>
            <a:xfrm>
              <a:off x="0" y="-192881"/>
              <a:ext cx="10820400" cy="10481071"/>
              <a:chOff x="0" y="-38100"/>
              <a:chExt cx="2137363" cy="2070335"/>
            </a:xfrm>
            <a:grpFill/>
          </p:grpSpPr>
          <p:sp>
            <p:nvSpPr>
              <p:cNvPr id="9" name="Freeform 6">
                <a:extLst>
                  <a:ext uri="{FF2B5EF4-FFF2-40B4-BE49-F238E27FC236}">
                    <a16:creationId xmlns:a16="http://schemas.microsoft.com/office/drawing/2014/main" id="{17483646-E98E-0469-1E97-D81910312E51}"/>
                  </a:ext>
                </a:extLst>
              </p:cNvPr>
              <p:cNvSpPr/>
              <p:nvPr/>
            </p:nvSpPr>
            <p:spPr>
              <a:xfrm>
                <a:off x="0" y="0"/>
                <a:ext cx="2137363" cy="2032235"/>
              </a:xfrm>
              <a:custGeom>
                <a:avLst/>
                <a:gdLst/>
                <a:ahLst/>
                <a:cxnLst/>
                <a:rect l="l" t="t" r="r" b="b"/>
                <a:pathLst>
                  <a:path w="2137363" h="2032235">
                    <a:moveTo>
                      <a:pt x="19080" y="0"/>
                    </a:moveTo>
                    <a:lnTo>
                      <a:pt x="2118283" y="0"/>
                    </a:lnTo>
                    <a:cubicBezTo>
                      <a:pt x="2123343" y="0"/>
                      <a:pt x="2128196" y="2010"/>
                      <a:pt x="2131775" y="5588"/>
                    </a:cubicBezTo>
                    <a:cubicBezTo>
                      <a:pt x="2135353" y="9167"/>
                      <a:pt x="2137363" y="14020"/>
                      <a:pt x="2137363" y="19080"/>
                    </a:cubicBezTo>
                    <a:lnTo>
                      <a:pt x="2137363" y="2013155"/>
                    </a:lnTo>
                    <a:cubicBezTo>
                      <a:pt x="2137363" y="2023693"/>
                      <a:pt x="2128821" y="2032235"/>
                      <a:pt x="2118283" y="2032235"/>
                    </a:cubicBezTo>
                    <a:lnTo>
                      <a:pt x="19080" y="2032235"/>
                    </a:lnTo>
                    <a:cubicBezTo>
                      <a:pt x="8542" y="2032235"/>
                      <a:pt x="0" y="2023693"/>
                      <a:pt x="0" y="2013155"/>
                    </a:cubicBezTo>
                    <a:lnTo>
                      <a:pt x="0" y="19080"/>
                    </a:lnTo>
                    <a:cubicBezTo>
                      <a:pt x="0" y="8542"/>
                      <a:pt x="8542" y="0"/>
                      <a:pt x="19080" y="0"/>
                    </a:cubicBezTo>
                    <a:close/>
                  </a:path>
                </a:pathLst>
              </a:custGeom>
              <a:grpFill/>
              <a:ln w="38100" cap="sq">
                <a:solidFill>
                  <a:srgbClr val="E5E1DA"/>
                </a:solidFill>
                <a:prstDash val="solid"/>
                <a:miter/>
              </a:ln>
            </p:spPr>
            <p:txBody>
              <a:bodyPr/>
              <a:lstStyle/>
              <a:p>
                <a:endParaRPr lang="en-US"/>
              </a:p>
            </p:txBody>
          </p:sp>
          <p:sp>
            <p:nvSpPr>
              <p:cNvPr id="10" name="TextBox 7">
                <a:extLst>
                  <a:ext uri="{FF2B5EF4-FFF2-40B4-BE49-F238E27FC236}">
                    <a16:creationId xmlns:a16="http://schemas.microsoft.com/office/drawing/2014/main" id="{80791B8E-A546-7A2F-8D71-DF795011AAE4}"/>
                  </a:ext>
                </a:extLst>
              </p:cNvPr>
              <p:cNvSpPr txBox="1"/>
              <p:nvPr/>
            </p:nvSpPr>
            <p:spPr>
              <a:xfrm>
                <a:off x="0" y="-38100"/>
                <a:ext cx="2137363" cy="2070335"/>
              </a:xfrm>
              <a:prstGeom prst="rect">
                <a:avLst/>
              </a:prstGeom>
              <a:grpFill/>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sp>
          <p:nvSpPr>
            <p:cNvPr id="7" name="TextBox 8">
              <a:extLst>
                <a:ext uri="{FF2B5EF4-FFF2-40B4-BE49-F238E27FC236}">
                  <a16:creationId xmlns:a16="http://schemas.microsoft.com/office/drawing/2014/main" id="{F782BD3E-E485-33DE-23AD-F0882E333AE6}"/>
                </a:ext>
              </a:extLst>
            </p:cNvPr>
            <p:cNvSpPr txBox="1"/>
            <p:nvPr/>
          </p:nvSpPr>
          <p:spPr>
            <a:xfrm>
              <a:off x="627563" y="506768"/>
              <a:ext cx="9913436" cy="1107996"/>
            </a:xfrm>
            <a:prstGeom prst="rect">
              <a:avLst/>
            </a:prstGeom>
            <a:grp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5400" b="1" dirty="0">
                  <a:solidFill>
                    <a:srgbClr val="FFFFFF"/>
                  </a:solidFill>
                  <a:ea typeface="Archivo Black"/>
                  <a:cs typeface="Archivo Black"/>
                  <a:sym typeface="Archivo Black"/>
                </a:rPr>
                <a:t>Category Popularity</a:t>
              </a:r>
            </a:p>
          </p:txBody>
        </p:sp>
        <p:sp>
          <p:nvSpPr>
            <p:cNvPr id="8" name="TextBox 9">
              <a:extLst>
                <a:ext uri="{FF2B5EF4-FFF2-40B4-BE49-F238E27FC236}">
                  <a16:creationId xmlns:a16="http://schemas.microsoft.com/office/drawing/2014/main" id="{F16E4666-A82A-02BD-4910-E15F3017686A}"/>
                </a:ext>
              </a:extLst>
            </p:cNvPr>
            <p:cNvSpPr txBox="1"/>
            <p:nvPr/>
          </p:nvSpPr>
          <p:spPr>
            <a:xfrm>
              <a:off x="238759" y="2327884"/>
              <a:ext cx="10261600" cy="5838179"/>
            </a:xfrm>
            <a:prstGeom prst="rect">
              <a:avLst/>
            </a:prstGeom>
            <a:grp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lvl="0" indent="-342900" algn="l">
                <a:lnSpc>
                  <a:spcPct val="150000"/>
                </a:lnSpc>
                <a:spcBef>
                  <a:spcPct val="0"/>
                </a:spcBef>
                <a:buFont typeface="Arial" panose="020B0604020202020204" pitchFamily="34" charset="0"/>
                <a:buChar char="•"/>
              </a:pPr>
              <a:r>
                <a:rPr lang="en-US" sz="2400" u="none" dirty="0">
                  <a:solidFill>
                    <a:srgbClr val="FFFFFF"/>
                  </a:solidFill>
                  <a:latin typeface="Red Hat Display"/>
                  <a:ea typeface="Red Hat Display"/>
                  <a:cs typeface="Red Hat Display"/>
                  <a:sym typeface="Red Hat Display"/>
                </a:rPr>
                <a:t>Observation: Category 250 dominates with over 6M interactions (606K views alone). Other strong categories include 679, 312, 620, and 561.</a:t>
              </a:r>
            </a:p>
            <a:p>
              <a:pPr marL="342900" lvl="0" indent="-342900" algn="l">
                <a:lnSpc>
                  <a:spcPct val="150000"/>
                </a:lnSpc>
                <a:spcBef>
                  <a:spcPct val="0"/>
                </a:spcBef>
                <a:buFont typeface="Arial" panose="020B0604020202020204" pitchFamily="34" charset="0"/>
                <a:buChar char="•"/>
              </a:pPr>
              <a:r>
                <a:rPr lang="en-US" sz="2400" u="none" dirty="0">
                  <a:solidFill>
                    <a:srgbClr val="FFFFFF"/>
                  </a:solidFill>
                  <a:latin typeface="Red Hat Display"/>
                  <a:ea typeface="Red Hat Display"/>
                  <a:cs typeface="Red Hat Display"/>
                  <a:sym typeface="Red Hat Display"/>
                </a:rPr>
                <a:t>User attention is highly skewed toward a few categories.</a:t>
              </a:r>
              <a:endParaRPr lang="en-US" sz="2400" dirty="0">
                <a:solidFill>
                  <a:srgbClr val="FFFFFF"/>
                </a:solidFill>
                <a:latin typeface="Red Hat Display"/>
                <a:ea typeface="Red Hat Display"/>
                <a:cs typeface="Red Hat Display"/>
                <a:sym typeface="Red Hat Display"/>
              </a:endParaRPr>
            </a:p>
            <a:p>
              <a:pPr marL="342900" lvl="0" indent="-342900" algn="l">
                <a:lnSpc>
                  <a:spcPct val="150000"/>
                </a:lnSpc>
                <a:spcBef>
                  <a:spcPct val="0"/>
                </a:spcBef>
                <a:buFont typeface="Arial" panose="020B0604020202020204" pitchFamily="34" charset="0"/>
                <a:buChar char="•"/>
              </a:pPr>
              <a:r>
                <a:rPr lang="en-US" sz="2400" u="none" dirty="0">
                  <a:solidFill>
                    <a:srgbClr val="FFFFFF"/>
                  </a:solidFill>
                  <a:latin typeface="Red Hat Display"/>
                  <a:ea typeface="Red Hat Display"/>
                  <a:cs typeface="Red Hat Display"/>
                  <a:sym typeface="Red Hat Display"/>
                </a:rPr>
                <a:t>These categories should be </a:t>
              </a:r>
              <a:r>
                <a:rPr lang="en-US" sz="2400" u="none" dirty="0" err="1">
                  <a:solidFill>
                    <a:srgbClr val="FFFFFF"/>
                  </a:solidFill>
                  <a:latin typeface="Red Hat Display"/>
                  <a:ea typeface="Red Hat Display"/>
                  <a:cs typeface="Red Hat Display"/>
                  <a:sym typeface="Red Hat Display"/>
                </a:rPr>
                <a:t>prioritised</a:t>
              </a:r>
              <a:r>
                <a:rPr lang="en-US" sz="2400" u="none" dirty="0">
                  <a:solidFill>
                    <a:srgbClr val="FFFFFF"/>
                  </a:solidFill>
                  <a:latin typeface="Red Hat Display"/>
                  <a:ea typeface="Red Hat Display"/>
                  <a:cs typeface="Red Hat Display"/>
                  <a:sym typeface="Red Hat Display"/>
                </a:rPr>
                <a:t> in recommendations, inventory management, and promotions.</a:t>
              </a:r>
            </a:p>
          </p:txBody>
        </p:sp>
      </p:grpSp>
      <p:sp>
        <p:nvSpPr>
          <p:cNvPr id="14" name="TextBox 23">
            <a:extLst>
              <a:ext uri="{FF2B5EF4-FFF2-40B4-BE49-F238E27FC236}">
                <a16:creationId xmlns:a16="http://schemas.microsoft.com/office/drawing/2014/main" id="{428310AA-5F34-A47C-7C1D-F092ABFD466C}"/>
              </a:ext>
            </a:extLst>
          </p:cNvPr>
          <p:cNvSpPr txBox="1"/>
          <p:nvPr/>
        </p:nvSpPr>
        <p:spPr>
          <a:xfrm>
            <a:off x="13106400" y="674533"/>
            <a:ext cx="1584127" cy="1256947"/>
          </a:xfrm>
          <a:prstGeom prst="rect">
            <a:avLst/>
          </a:prstGeom>
        </p:spPr>
        <p:txBody>
          <a:bodyPr lIns="0" tIns="0" rIns="0" bIns="0" rtlCol="0" anchor="t">
            <a:spAutoFit/>
          </a:bodyPr>
          <a:lstStyle/>
          <a:p>
            <a:pPr algn="ctr">
              <a:lnSpc>
                <a:spcPts val="10411"/>
              </a:lnSpc>
              <a:spcBef>
                <a:spcPct val="0"/>
              </a:spcBef>
            </a:pPr>
            <a:r>
              <a:rPr lang="en-US" sz="7200" dirty="0">
                <a:solidFill>
                  <a:srgbClr val="FFFFFF"/>
                </a:solidFill>
                <a:latin typeface="Archivo Black"/>
                <a:ea typeface="Archivo Black"/>
                <a:cs typeface="Archivo Black"/>
                <a:sym typeface="Archivo Black"/>
              </a:rPr>
              <a:t>03.</a:t>
            </a:r>
          </a:p>
        </p:txBody>
      </p:sp>
      <p:sp>
        <p:nvSpPr>
          <p:cNvPr id="22" name="TextBox 4">
            <a:extLst>
              <a:ext uri="{FF2B5EF4-FFF2-40B4-BE49-F238E27FC236}">
                <a16:creationId xmlns:a16="http://schemas.microsoft.com/office/drawing/2014/main" id="{908FEE41-710E-D353-D8E8-DA5CE5CC28D3}"/>
              </a:ext>
            </a:extLst>
          </p:cNvPr>
          <p:cNvSpPr txBox="1"/>
          <p:nvPr/>
        </p:nvSpPr>
        <p:spPr>
          <a:xfrm>
            <a:off x="129306" y="9700846"/>
            <a:ext cx="1078468" cy="218008"/>
          </a:xfrm>
          <a:prstGeom prst="rect">
            <a:avLst/>
          </a:prstGeom>
        </p:spPr>
        <p:txBody>
          <a:bodyPr lIns="0" tIns="0" rIns="0" bIns="0" rtlCol="0" anchor="t">
            <a:spAutoFit/>
          </a:bodyPr>
          <a:lstStyle/>
          <a:p>
            <a:pPr algn="ctr">
              <a:lnSpc>
                <a:spcPts val="1725"/>
              </a:lnSpc>
              <a:spcBef>
                <a:spcPct val="0"/>
              </a:spcBef>
            </a:pPr>
            <a:r>
              <a:rPr lang="en-US" sz="1658" dirty="0">
                <a:solidFill>
                  <a:srgbClr val="FFFFFF"/>
                </a:solidFill>
                <a:latin typeface="Raleway"/>
                <a:ea typeface="Raleway"/>
                <a:cs typeface="Raleway"/>
                <a:sym typeface="Raleway"/>
              </a:rPr>
              <a:t>Page  9</a:t>
            </a:r>
          </a:p>
        </p:txBody>
      </p:sp>
      <p:sp>
        <p:nvSpPr>
          <p:cNvPr id="23" name="TextBox 8">
            <a:extLst>
              <a:ext uri="{FF2B5EF4-FFF2-40B4-BE49-F238E27FC236}">
                <a16:creationId xmlns:a16="http://schemas.microsoft.com/office/drawing/2014/main" id="{29BC233E-108F-21EE-2AEB-B6999B3408AD}"/>
              </a:ext>
            </a:extLst>
          </p:cNvPr>
          <p:cNvSpPr txBox="1"/>
          <p:nvPr/>
        </p:nvSpPr>
        <p:spPr>
          <a:xfrm>
            <a:off x="15309115" y="9063294"/>
            <a:ext cx="1716617" cy="277925"/>
          </a:xfrm>
          <a:prstGeom prst="rect">
            <a:avLst/>
          </a:prstGeom>
        </p:spPr>
        <p:txBody>
          <a:bodyPr lIns="0" tIns="0" rIns="0" bIns="0" rtlCol="0" anchor="t">
            <a:spAutoFit/>
          </a:bodyPr>
          <a:lstStyle/>
          <a:p>
            <a:pPr algn="l">
              <a:lnSpc>
                <a:spcPts val="2037"/>
              </a:lnSpc>
              <a:spcBef>
                <a:spcPct val="0"/>
              </a:spcBef>
            </a:pPr>
            <a:r>
              <a:rPr lang="en-US" sz="1958">
                <a:solidFill>
                  <a:srgbClr val="FFFFFF"/>
                </a:solidFill>
                <a:latin typeface="Raleway"/>
                <a:ea typeface="Raleway"/>
                <a:cs typeface="Raleway"/>
                <a:sym typeface="Raleway"/>
              </a:rPr>
              <a:t>Next Slide</a:t>
            </a:r>
          </a:p>
        </p:txBody>
      </p:sp>
      <p:sp>
        <p:nvSpPr>
          <p:cNvPr id="24" name="Freeform 9">
            <a:extLst>
              <a:ext uri="{FF2B5EF4-FFF2-40B4-BE49-F238E27FC236}">
                <a16:creationId xmlns:a16="http://schemas.microsoft.com/office/drawing/2014/main" id="{CDC59279-8297-C504-0A96-5AA50B2E86C1}"/>
              </a:ext>
            </a:extLst>
          </p:cNvPr>
          <p:cNvSpPr/>
          <p:nvPr/>
        </p:nvSpPr>
        <p:spPr>
          <a:xfrm flipH="1">
            <a:off x="16998830" y="8999755"/>
            <a:ext cx="416017" cy="418299"/>
          </a:xfrm>
          <a:custGeom>
            <a:avLst/>
            <a:gdLst/>
            <a:ahLst/>
            <a:cxnLst/>
            <a:rect l="l" t="t" r="r" b="b"/>
            <a:pathLst>
              <a:path w="416017" h="418299">
                <a:moveTo>
                  <a:pt x="416017" y="0"/>
                </a:moveTo>
                <a:lnTo>
                  <a:pt x="0" y="0"/>
                </a:lnTo>
                <a:lnTo>
                  <a:pt x="0" y="418299"/>
                </a:lnTo>
                <a:lnTo>
                  <a:pt x="416017" y="418299"/>
                </a:lnTo>
                <a:lnTo>
                  <a:pt x="416017" y="0"/>
                </a:lnTo>
                <a:close/>
              </a:path>
            </a:pathLst>
          </a:custGeom>
          <a:blipFill>
            <a:blip r:embed="rId3">
              <a:extLst>
                <a:ext uri="{96DAC541-7B7A-43D3-8B79-37D633B846F1}">
                  <asvg:svgBlip xmlns:asvg="http://schemas.microsoft.com/office/drawing/2016/SVG/main" r:embed="rId4"/>
                </a:ext>
              </a:extLst>
            </a:blip>
            <a:stretch>
              <a:fillRect/>
            </a:stretch>
          </a:blipFill>
        </p:spPr>
      </p:sp>
    </p:spTree>
    <p:extLst>
      <p:ext uri="{BB962C8B-B14F-4D97-AF65-F5344CB8AC3E}">
        <p14:creationId xmlns:p14="http://schemas.microsoft.com/office/powerpoint/2010/main" val="3307208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D40C9-B02F-E5F4-24F6-7FFC7F7B917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29F7066-ED58-C527-AD6B-BD9EFCC111C3}"/>
              </a:ext>
            </a:extLst>
          </p:cNvPr>
          <p:cNvGrpSpPr/>
          <p:nvPr/>
        </p:nvGrpSpPr>
        <p:grpSpPr>
          <a:xfrm>
            <a:off x="1" y="-38783"/>
            <a:ext cx="18288000" cy="10287000"/>
            <a:chOff x="0" y="0"/>
            <a:chExt cx="2669893" cy="2709333"/>
          </a:xfrm>
          <a:gradFill>
            <a:gsLst>
              <a:gs pos="0">
                <a:srgbClr val="000000">
                  <a:alpha val="100000"/>
                </a:srgbClr>
              </a:gs>
              <a:gs pos="65000">
                <a:srgbClr val="32032F">
                  <a:alpha val="100000"/>
                </a:srgbClr>
              </a:gs>
              <a:gs pos="100000">
                <a:srgbClr val="002060"/>
              </a:gs>
            </a:gsLst>
            <a:lin ang="0" scaled="0"/>
          </a:gradFill>
        </p:grpSpPr>
        <p:sp>
          <p:nvSpPr>
            <p:cNvPr id="3" name="Freeform 3">
              <a:extLst>
                <a:ext uri="{FF2B5EF4-FFF2-40B4-BE49-F238E27FC236}">
                  <a16:creationId xmlns:a16="http://schemas.microsoft.com/office/drawing/2014/main" id="{54DD8FCA-F8FA-0B2B-8A81-75CA40DE0ACB}"/>
                </a:ext>
              </a:extLst>
            </p:cNvPr>
            <p:cNvSpPr/>
            <p:nvPr/>
          </p:nvSpPr>
          <p:spPr>
            <a:xfrm>
              <a:off x="0" y="0"/>
              <a:ext cx="2669893" cy="2709333"/>
            </a:xfrm>
            <a:custGeom>
              <a:avLst/>
              <a:gdLst/>
              <a:ahLst/>
              <a:cxnLst/>
              <a:rect l="l" t="t" r="r" b="b"/>
              <a:pathLst>
                <a:path w="2669893" h="2709333">
                  <a:moveTo>
                    <a:pt x="43531" y="0"/>
                  </a:moveTo>
                  <a:lnTo>
                    <a:pt x="2626361" y="0"/>
                  </a:lnTo>
                  <a:cubicBezTo>
                    <a:pt x="2650403" y="0"/>
                    <a:pt x="2669893" y="19490"/>
                    <a:pt x="2669893" y="43531"/>
                  </a:cubicBezTo>
                  <a:lnTo>
                    <a:pt x="2669893" y="2665802"/>
                  </a:lnTo>
                  <a:cubicBezTo>
                    <a:pt x="2669893" y="2689844"/>
                    <a:pt x="2650403" y="2709333"/>
                    <a:pt x="2626361" y="2709333"/>
                  </a:cubicBezTo>
                  <a:lnTo>
                    <a:pt x="43531" y="2709333"/>
                  </a:lnTo>
                  <a:cubicBezTo>
                    <a:pt x="19490" y="2709333"/>
                    <a:pt x="0" y="2689844"/>
                    <a:pt x="0" y="2665802"/>
                  </a:cubicBezTo>
                  <a:lnTo>
                    <a:pt x="0" y="43531"/>
                  </a:lnTo>
                  <a:cubicBezTo>
                    <a:pt x="0" y="19490"/>
                    <a:pt x="19490" y="0"/>
                    <a:pt x="43531" y="0"/>
                  </a:cubicBezTo>
                  <a:close/>
                </a:path>
              </a:pathLst>
            </a:custGeom>
            <a:grpFill/>
            <a:ln cap="rnd">
              <a:noFill/>
              <a:prstDash val="solid"/>
              <a:round/>
            </a:ln>
          </p:spPr>
          <p:txBody>
            <a:bodyPr/>
            <a:lstStyle/>
            <a:p>
              <a:endParaRPr lang="en-US" dirty="0"/>
            </a:p>
          </p:txBody>
        </p:sp>
        <p:sp>
          <p:nvSpPr>
            <p:cNvPr id="4" name="TextBox 4">
              <a:extLst>
                <a:ext uri="{FF2B5EF4-FFF2-40B4-BE49-F238E27FC236}">
                  <a16:creationId xmlns:a16="http://schemas.microsoft.com/office/drawing/2014/main" id="{4FDE18B9-E7E3-DB2E-F47E-65602686968D}"/>
                </a:ext>
              </a:extLst>
            </p:cNvPr>
            <p:cNvSpPr txBox="1"/>
            <p:nvPr/>
          </p:nvSpPr>
          <p:spPr>
            <a:xfrm>
              <a:off x="0" y="-57150"/>
              <a:ext cx="2669893" cy="2766483"/>
            </a:xfrm>
            <a:prstGeom prst="rect">
              <a:avLst/>
            </a:prstGeom>
            <a:grpFill/>
          </p:spPr>
          <p:txBody>
            <a:bodyPr lIns="50800" tIns="50800" rIns="50800" bIns="50800" rtlCol="0" anchor="ctr"/>
            <a:lstStyle/>
            <a:p>
              <a:pPr marL="0" lvl="0" indent="0" algn="ctr">
                <a:lnSpc>
                  <a:spcPts val="3447"/>
                </a:lnSpc>
                <a:spcBef>
                  <a:spcPct val="0"/>
                </a:spcBef>
              </a:pPr>
              <a:endParaRPr/>
            </a:p>
          </p:txBody>
        </p:sp>
      </p:grpSp>
      <p:grpSp>
        <p:nvGrpSpPr>
          <p:cNvPr id="11" name="Group 4">
            <a:extLst>
              <a:ext uri="{FF2B5EF4-FFF2-40B4-BE49-F238E27FC236}">
                <a16:creationId xmlns:a16="http://schemas.microsoft.com/office/drawing/2014/main" id="{3939F522-2F28-FD25-2DB7-7EC57CE244A1}"/>
              </a:ext>
            </a:extLst>
          </p:cNvPr>
          <p:cNvGrpSpPr/>
          <p:nvPr/>
        </p:nvGrpSpPr>
        <p:grpSpPr>
          <a:xfrm>
            <a:off x="1397578" y="1943100"/>
            <a:ext cx="15214022" cy="7391400"/>
            <a:chOff x="0" y="0"/>
            <a:chExt cx="19248229" cy="10224128"/>
          </a:xfrm>
        </p:grpSpPr>
        <p:grpSp>
          <p:nvGrpSpPr>
            <p:cNvPr id="12" name="Group 5">
              <a:extLst>
                <a:ext uri="{FF2B5EF4-FFF2-40B4-BE49-F238E27FC236}">
                  <a16:creationId xmlns:a16="http://schemas.microsoft.com/office/drawing/2014/main" id="{FDF57904-E836-265B-42DB-FB831A794C7B}"/>
                </a:ext>
              </a:extLst>
            </p:cNvPr>
            <p:cNvGrpSpPr/>
            <p:nvPr/>
          </p:nvGrpSpPr>
          <p:grpSpPr>
            <a:xfrm>
              <a:off x="0" y="0"/>
              <a:ext cx="9061375" cy="4745688"/>
              <a:chOff x="0" y="0"/>
              <a:chExt cx="1414679" cy="740906"/>
            </a:xfrm>
          </p:grpSpPr>
          <p:sp>
            <p:nvSpPr>
              <p:cNvPr id="44" name="Freeform 6">
                <a:extLst>
                  <a:ext uri="{FF2B5EF4-FFF2-40B4-BE49-F238E27FC236}">
                    <a16:creationId xmlns:a16="http://schemas.microsoft.com/office/drawing/2014/main" id="{B5D1C970-1557-1370-80C1-3C861C9AF713}"/>
                  </a:ext>
                </a:extLst>
              </p:cNvPr>
              <p:cNvSpPr/>
              <p:nvPr/>
            </p:nvSpPr>
            <p:spPr>
              <a:xfrm>
                <a:off x="0" y="0"/>
                <a:ext cx="1414679" cy="740906"/>
              </a:xfrm>
              <a:custGeom>
                <a:avLst/>
                <a:gdLst/>
                <a:ahLst/>
                <a:cxnLst/>
                <a:rect l="l" t="t" r="r" b="b"/>
                <a:pathLst>
                  <a:path w="1414679" h="740906">
                    <a:moveTo>
                      <a:pt x="22784" y="0"/>
                    </a:moveTo>
                    <a:lnTo>
                      <a:pt x="1391895" y="0"/>
                    </a:lnTo>
                    <a:cubicBezTo>
                      <a:pt x="1404479" y="0"/>
                      <a:pt x="1414679" y="10201"/>
                      <a:pt x="1414679" y="22784"/>
                    </a:cubicBezTo>
                    <a:lnTo>
                      <a:pt x="1414679" y="718122"/>
                    </a:lnTo>
                    <a:cubicBezTo>
                      <a:pt x="1414679" y="730705"/>
                      <a:pt x="1404479" y="740906"/>
                      <a:pt x="1391895" y="740906"/>
                    </a:cubicBezTo>
                    <a:lnTo>
                      <a:pt x="22784" y="740906"/>
                    </a:lnTo>
                    <a:cubicBezTo>
                      <a:pt x="10201" y="740906"/>
                      <a:pt x="0" y="730705"/>
                      <a:pt x="0" y="718122"/>
                    </a:cubicBezTo>
                    <a:lnTo>
                      <a:pt x="0" y="22784"/>
                    </a:lnTo>
                    <a:cubicBezTo>
                      <a:pt x="0" y="10201"/>
                      <a:pt x="10201" y="0"/>
                      <a:pt x="22784" y="0"/>
                    </a:cubicBezTo>
                    <a:close/>
                  </a:path>
                </a:pathLst>
              </a:custGeom>
              <a:solidFill>
                <a:srgbClr val="04001E"/>
              </a:solidFill>
              <a:ln w="38100" cap="sq">
                <a:solidFill>
                  <a:srgbClr val="E5E1DA"/>
                </a:solidFill>
                <a:prstDash val="solid"/>
                <a:miter/>
              </a:ln>
            </p:spPr>
          </p:sp>
          <p:sp>
            <p:nvSpPr>
              <p:cNvPr id="45" name="TextBox 7">
                <a:extLst>
                  <a:ext uri="{FF2B5EF4-FFF2-40B4-BE49-F238E27FC236}">
                    <a16:creationId xmlns:a16="http://schemas.microsoft.com/office/drawing/2014/main" id="{7884D6B4-683F-61A9-5811-218704479CFC}"/>
                  </a:ext>
                </a:extLst>
              </p:cNvPr>
              <p:cNvSpPr txBox="1"/>
              <p:nvPr/>
            </p:nvSpPr>
            <p:spPr>
              <a:xfrm>
                <a:off x="0" y="-38100"/>
                <a:ext cx="1414679" cy="77900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3" name="Group 8">
              <a:extLst>
                <a:ext uri="{FF2B5EF4-FFF2-40B4-BE49-F238E27FC236}">
                  <a16:creationId xmlns:a16="http://schemas.microsoft.com/office/drawing/2014/main" id="{21F66863-62E2-2DA2-DA2E-A190B1565C12}"/>
                </a:ext>
              </a:extLst>
            </p:cNvPr>
            <p:cNvGrpSpPr/>
            <p:nvPr/>
          </p:nvGrpSpPr>
          <p:grpSpPr>
            <a:xfrm>
              <a:off x="0" y="5478440"/>
              <a:ext cx="9061375" cy="4745688"/>
              <a:chOff x="0" y="0"/>
              <a:chExt cx="1414679" cy="740906"/>
            </a:xfrm>
          </p:grpSpPr>
          <p:sp>
            <p:nvSpPr>
              <p:cNvPr id="42" name="Freeform 9">
                <a:extLst>
                  <a:ext uri="{FF2B5EF4-FFF2-40B4-BE49-F238E27FC236}">
                    <a16:creationId xmlns:a16="http://schemas.microsoft.com/office/drawing/2014/main" id="{DC40194A-4837-CF6A-E861-6EE0CFC9D1B7}"/>
                  </a:ext>
                </a:extLst>
              </p:cNvPr>
              <p:cNvSpPr/>
              <p:nvPr/>
            </p:nvSpPr>
            <p:spPr>
              <a:xfrm>
                <a:off x="0" y="0"/>
                <a:ext cx="1414679" cy="740906"/>
              </a:xfrm>
              <a:custGeom>
                <a:avLst/>
                <a:gdLst/>
                <a:ahLst/>
                <a:cxnLst/>
                <a:rect l="l" t="t" r="r" b="b"/>
                <a:pathLst>
                  <a:path w="1414679" h="740906">
                    <a:moveTo>
                      <a:pt x="22784" y="0"/>
                    </a:moveTo>
                    <a:lnTo>
                      <a:pt x="1391895" y="0"/>
                    </a:lnTo>
                    <a:cubicBezTo>
                      <a:pt x="1404479" y="0"/>
                      <a:pt x="1414679" y="10201"/>
                      <a:pt x="1414679" y="22784"/>
                    </a:cubicBezTo>
                    <a:lnTo>
                      <a:pt x="1414679" y="718122"/>
                    </a:lnTo>
                    <a:cubicBezTo>
                      <a:pt x="1414679" y="730705"/>
                      <a:pt x="1404479" y="740906"/>
                      <a:pt x="1391895" y="740906"/>
                    </a:cubicBezTo>
                    <a:lnTo>
                      <a:pt x="22784" y="740906"/>
                    </a:lnTo>
                    <a:cubicBezTo>
                      <a:pt x="10201" y="740906"/>
                      <a:pt x="0" y="730705"/>
                      <a:pt x="0" y="718122"/>
                    </a:cubicBezTo>
                    <a:lnTo>
                      <a:pt x="0" y="22784"/>
                    </a:lnTo>
                    <a:cubicBezTo>
                      <a:pt x="0" y="10201"/>
                      <a:pt x="10201" y="0"/>
                      <a:pt x="22784" y="0"/>
                    </a:cubicBezTo>
                    <a:close/>
                  </a:path>
                </a:pathLst>
              </a:custGeom>
              <a:solidFill>
                <a:srgbClr val="04001E"/>
              </a:solidFill>
              <a:ln w="38100" cap="sq">
                <a:solidFill>
                  <a:srgbClr val="E5E1DA"/>
                </a:solidFill>
                <a:prstDash val="solid"/>
                <a:miter/>
              </a:ln>
            </p:spPr>
            <p:txBody>
              <a:bodyPr/>
              <a:lstStyle/>
              <a:p>
                <a:endParaRPr lang="en-US"/>
              </a:p>
            </p:txBody>
          </p:sp>
          <p:sp>
            <p:nvSpPr>
              <p:cNvPr id="43" name="TextBox 10">
                <a:extLst>
                  <a:ext uri="{FF2B5EF4-FFF2-40B4-BE49-F238E27FC236}">
                    <a16:creationId xmlns:a16="http://schemas.microsoft.com/office/drawing/2014/main" id="{C2FA9B43-A357-9F8B-D87E-F315115F6634}"/>
                  </a:ext>
                </a:extLst>
              </p:cNvPr>
              <p:cNvSpPr txBox="1"/>
              <p:nvPr/>
            </p:nvSpPr>
            <p:spPr>
              <a:xfrm>
                <a:off x="0" y="-38100"/>
                <a:ext cx="1414679" cy="77900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5" name="Group 11">
              <a:extLst>
                <a:ext uri="{FF2B5EF4-FFF2-40B4-BE49-F238E27FC236}">
                  <a16:creationId xmlns:a16="http://schemas.microsoft.com/office/drawing/2014/main" id="{198F0F8C-36A9-2E90-9EE6-E32D38B0605F}"/>
                </a:ext>
              </a:extLst>
            </p:cNvPr>
            <p:cNvGrpSpPr/>
            <p:nvPr/>
          </p:nvGrpSpPr>
          <p:grpSpPr>
            <a:xfrm>
              <a:off x="10186854" y="0"/>
              <a:ext cx="9061375" cy="4745688"/>
              <a:chOff x="0" y="0"/>
              <a:chExt cx="1414679" cy="740906"/>
            </a:xfrm>
          </p:grpSpPr>
          <p:sp>
            <p:nvSpPr>
              <p:cNvPr id="40" name="Freeform 12">
                <a:extLst>
                  <a:ext uri="{FF2B5EF4-FFF2-40B4-BE49-F238E27FC236}">
                    <a16:creationId xmlns:a16="http://schemas.microsoft.com/office/drawing/2014/main" id="{4EAC2589-E134-5DA1-72A7-914C11CB3A7F}"/>
                  </a:ext>
                </a:extLst>
              </p:cNvPr>
              <p:cNvSpPr/>
              <p:nvPr/>
            </p:nvSpPr>
            <p:spPr>
              <a:xfrm>
                <a:off x="0" y="0"/>
                <a:ext cx="1414679" cy="740906"/>
              </a:xfrm>
              <a:custGeom>
                <a:avLst/>
                <a:gdLst/>
                <a:ahLst/>
                <a:cxnLst/>
                <a:rect l="l" t="t" r="r" b="b"/>
                <a:pathLst>
                  <a:path w="1414679" h="740906">
                    <a:moveTo>
                      <a:pt x="22784" y="0"/>
                    </a:moveTo>
                    <a:lnTo>
                      <a:pt x="1391895" y="0"/>
                    </a:lnTo>
                    <a:cubicBezTo>
                      <a:pt x="1404479" y="0"/>
                      <a:pt x="1414679" y="10201"/>
                      <a:pt x="1414679" y="22784"/>
                    </a:cubicBezTo>
                    <a:lnTo>
                      <a:pt x="1414679" y="718122"/>
                    </a:lnTo>
                    <a:cubicBezTo>
                      <a:pt x="1414679" y="730705"/>
                      <a:pt x="1404479" y="740906"/>
                      <a:pt x="1391895" y="740906"/>
                    </a:cubicBezTo>
                    <a:lnTo>
                      <a:pt x="22784" y="740906"/>
                    </a:lnTo>
                    <a:cubicBezTo>
                      <a:pt x="10201" y="740906"/>
                      <a:pt x="0" y="730705"/>
                      <a:pt x="0" y="718122"/>
                    </a:cubicBezTo>
                    <a:lnTo>
                      <a:pt x="0" y="22784"/>
                    </a:lnTo>
                    <a:cubicBezTo>
                      <a:pt x="0" y="10201"/>
                      <a:pt x="10201" y="0"/>
                      <a:pt x="22784" y="0"/>
                    </a:cubicBezTo>
                    <a:close/>
                  </a:path>
                </a:pathLst>
              </a:custGeom>
              <a:solidFill>
                <a:srgbClr val="04001E"/>
              </a:solidFill>
              <a:ln w="38100" cap="sq">
                <a:solidFill>
                  <a:srgbClr val="E5E1DA"/>
                </a:solidFill>
                <a:prstDash val="solid"/>
                <a:miter/>
              </a:ln>
            </p:spPr>
          </p:sp>
          <p:sp>
            <p:nvSpPr>
              <p:cNvPr id="41" name="TextBox 13">
                <a:extLst>
                  <a:ext uri="{FF2B5EF4-FFF2-40B4-BE49-F238E27FC236}">
                    <a16:creationId xmlns:a16="http://schemas.microsoft.com/office/drawing/2014/main" id="{8ECB6089-CBA9-EB88-51A9-0194A7E2241B}"/>
                  </a:ext>
                </a:extLst>
              </p:cNvPr>
              <p:cNvSpPr txBox="1"/>
              <p:nvPr/>
            </p:nvSpPr>
            <p:spPr>
              <a:xfrm>
                <a:off x="0" y="-38100"/>
                <a:ext cx="1414679" cy="77900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6" name="Group 14">
              <a:extLst>
                <a:ext uri="{FF2B5EF4-FFF2-40B4-BE49-F238E27FC236}">
                  <a16:creationId xmlns:a16="http://schemas.microsoft.com/office/drawing/2014/main" id="{FDB46DB5-6CB3-E400-BFFF-AEC14DC0AE27}"/>
                </a:ext>
              </a:extLst>
            </p:cNvPr>
            <p:cNvGrpSpPr/>
            <p:nvPr/>
          </p:nvGrpSpPr>
          <p:grpSpPr>
            <a:xfrm>
              <a:off x="10186854" y="5478440"/>
              <a:ext cx="9061375" cy="4745688"/>
              <a:chOff x="0" y="0"/>
              <a:chExt cx="1414679" cy="740906"/>
            </a:xfrm>
          </p:grpSpPr>
          <p:sp>
            <p:nvSpPr>
              <p:cNvPr id="38" name="Freeform 15">
                <a:extLst>
                  <a:ext uri="{FF2B5EF4-FFF2-40B4-BE49-F238E27FC236}">
                    <a16:creationId xmlns:a16="http://schemas.microsoft.com/office/drawing/2014/main" id="{74711766-E910-C37F-B403-A8C51CEA9AA0}"/>
                  </a:ext>
                </a:extLst>
              </p:cNvPr>
              <p:cNvSpPr/>
              <p:nvPr/>
            </p:nvSpPr>
            <p:spPr>
              <a:xfrm>
                <a:off x="0" y="0"/>
                <a:ext cx="1414679" cy="740906"/>
              </a:xfrm>
              <a:custGeom>
                <a:avLst/>
                <a:gdLst/>
                <a:ahLst/>
                <a:cxnLst/>
                <a:rect l="l" t="t" r="r" b="b"/>
                <a:pathLst>
                  <a:path w="1414679" h="740906">
                    <a:moveTo>
                      <a:pt x="22784" y="0"/>
                    </a:moveTo>
                    <a:lnTo>
                      <a:pt x="1391895" y="0"/>
                    </a:lnTo>
                    <a:cubicBezTo>
                      <a:pt x="1404479" y="0"/>
                      <a:pt x="1414679" y="10201"/>
                      <a:pt x="1414679" y="22784"/>
                    </a:cubicBezTo>
                    <a:lnTo>
                      <a:pt x="1414679" y="718122"/>
                    </a:lnTo>
                    <a:cubicBezTo>
                      <a:pt x="1414679" y="730705"/>
                      <a:pt x="1404479" y="740906"/>
                      <a:pt x="1391895" y="740906"/>
                    </a:cubicBezTo>
                    <a:lnTo>
                      <a:pt x="22784" y="740906"/>
                    </a:lnTo>
                    <a:cubicBezTo>
                      <a:pt x="10201" y="740906"/>
                      <a:pt x="0" y="730705"/>
                      <a:pt x="0" y="718122"/>
                    </a:cubicBezTo>
                    <a:lnTo>
                      <a:pt x="0" y="22784"/>
                    </a:lnTo>
                    <a:cubicBezTo>
                      <a:pt x="0" y="10201"/>
                      <a:pt x="10201" y="0"/>
                      <a:pt x="22784" y="0"/>
                    </a:cubicBezTo>
                    <a:close/>
                  </a:path>
                </a:pathLst>
              </a:custGeom>
              <a:solidFill>
                <a:srgbClr val="04001E"/>
              </a:solidFill>
              <a:ln w="38100" cap="sq">
                <a:solidFill>
                  <a:srgbClr val="E5E1DA"/>
                </a:solidFill>
                <a:prstDash val="solid"/>
                <a:miter/>
              </a:ln>
            </p:spPr>
            <p:txBody>
              <a:bodyPr/>
              <a:lstStyle/>
              <a:p>
                <a:endParaRPr lang="en-US" dirty="0"/>
              </a:p>
            </p:txBody>
          </p:sp>
          <p:sp>
            <p:nvSpPr>
              <p:cNvPr id="39" name="TextBox 16">
                <a:extLst>
                  <a:ext uri="{FF2B5EF4-FFF2-40B4-BE49-F238E27FC236}">
                    <a16:creationId xmlns:a16="http://schemas.microsoft.com/office/drawing/2014/main" id="{75A06523-DFA4-93CF-2DC0-FEBCDC9FCF93}"/>
                  </a:ext>
                </a:extLst>
              </p:cNvPr>
              <p:cNvSpPr txBox="1"/>
              <p:nvPr/>
            </p:nvSpPr>
            <p:spPr>
              <a:xfrm>
                <a:off x="0" y="-38100"/>
                <a:ext cx="1414679" cy="77900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7" name="Group 17">
              <a:extLst>
                <a:ext uri="{FF2B5EF4-FFF2-40B4-BE49-F238E27FC236}">
                  <a16:creationId xmlns:a16="http://schemas.microsoft.com/office/drawing/2014/main" id="{CC3CFEEB-C26A-E5BF-49AC-E105E6E18E21}"/>
                </a:ext>
              </a:extLst>
            </p:cNvPr>
            <p:cNvGrpSpPr/>
            <p:nvPr/>
          </p:nvGrpSpPr>
          <p:grpSpPr>
            <a:xfrm>
              <a:off x="0" y="0"/>
              <a:ext cx="9061375" cy="891648"/>
              <a:chOff x="0" y="0"/>
              <a:chExt cx="1414679" cy="139206"/>
            </a:xfrm>
          </p:grpSpPr>
          <p:sp>
            <p:nvSpPr>
              <p:cNvPr id="36" name="Freeform 18">
                <a:extLst>
                  <a:ext uri="{FF2B5EF4-FFF2-40B4-BE49-F238E27FC236}">
                    <a16:creationId xmlns:a16="http://schemas.microsoft.com/office/drawing/2014/main" id="{1C04D053-9D82-E18A-870E-233F8957AEF8}"/>
                  </a:ext>
                </a:extLst>
              </p:cNvPr>
              <p:cNvSpPr/>
              <p:nvPr/>
            </p:nvSpPr>
            <p:spPr>
              <a:xfrm>
                <a:off x="0" y="0"/>
                <a:ext cx="1414679" cy="139206"/>
              </a:xfrm>
              <a:custGeom>
                <a:avLst/>
                <a:gdLst/>
                <a:ahLst/>
                <a:cxnLst/>
                <a:rect l="l" t="t" r="r" b="b"/>
                <a:pathLst>
                  <a:path w="1414679" h="139206">
                    <a:moveTo>
                      <a:pt x="19366" y="0"/>
                    </a:moveTo>
                    <a:lnTo>
                      <a:pt x="1395313" y="0"/>
                    </a:lnTo>
                    <a:cubicBezTo>
                      <a:pt x="1400449" y="0"/>
                      <a:pt x="1405375" y="2040"/>
                      <a:pt x="1409007" y="5672"/>
                    </a:cubicBezTo>
                    <a:cubicBezTo>
                      <a:pt x="1412639" y="9304"/>
                      <a:pt x="1414679" y="14230"/>
                      <a:pt x="1414679" y="19366"/>
                    </a:cubicBezTo>
                    <a:lnTo>
                      <a:pt x="1414679" y="119840"/>
                    </a:lnTo>
                    <a:cubicBezTo>
                      <a:pt x="1414679" y="130535"/>
                      <a:pt x="1406009" y="139206"/>
                      <a:pt x="1395313" y="139206"/>
                    </a:cubicBezTo>
                    <a:lnTo>
                      <a:pt x="19366" y="139206"/>
                    </a:lnTo>
                    <a:cubicBezTo>
                      <a:pt x="14230" y="139206"/>
                      <a:pt x="9304" y="137165"/>
                      <a:pt x="5672" y="133534"/>
                    </a:cubicBezTo>
                    <a:cubicBezTo>
                      <a:pt x="2040" y="129902"/>
                      <a:pt x="0" y="124976"/>
                      <a:pt x="0" y="119840"/>
                    </a:cubicBezTo>
                    <a:lnTo>
                      <a:pt x="0" y="19366"/>
                    </a:lnTo>
                    <a:cubicBezTo>
                      <a:pt x="0" y="14230"/>
                      <a:pt x="2040" y="9304"/>
                      <a:pt x="5672" y="5672"/>
                    </a:cubicBezTo>
                    <a:cubicBezTo>
                      <a:pt x="9304" y="2040"/>
                      <a:pt x="14230" y="0"/>
                      <a:pt x="19366" y="0"/>
                    </a:cubicBezTo>
                    <a:close/>
                  </a:path>
                </a:pathLst>
              </a:custGeom>
              <a:solidFill>
                <a:srgbClr val="FFFFFF"/>
              </a:solidFill>
              <a:ln w="19050" cap="sq">
                <a:solidFill>
                  <a:srgbClr val="FFFFFF"/>
                </a:solidFill>
                <a:prstDash val="solid"/>
                <a:miter/>
              </a:ln>
            </p:spPr>
          </p:sp>
          <p:sp>
            <p:nvSpPr>
              <p:cNvPr id="37" name="TextBox 19">
                <a:extLst>
                  <a:ext uri="{FF2B5EF4-FFF2-40B4-BE49-F238E27FC236}">
                    <a16:creationId xmlns:a16="http://schemas.microsoft.com/office/drawing/2014/main" id="{0C1F54BF-F2FD-64D6-BD91-9E42D723615F}"/>
                  </a:ext>
                </a:extLst>
              </p:cNvPr>
              <p:cNvSpPr txBox="1"/>
              <p:nvPr/>
            </p:nvSpPr>
            <p:spPr>
              <a:xfrm>
                <a:off x="0" y="-38100"/>
                <a:ext cx="1414679" cy="177306"/>
              </a:xfrm>
              <a:prstGeom prst="rect">
                <a:avLst/>
              </a:prstGeom>
            </p:spPr>
            <p:txBody>
              <a:bodyPr lIns="50800" tIns="50800" rIns="50800" bIns="50800" rtlCol="0" anchor="ctr"/>
              <a:lstStyle/>
              <a:p>
                <a:pPr algn="ctr">
                  <a:lnSpc>
                    <a:spcPts val="2659"/>
                  </a:lnSpc>
                </a:pPr>
                <a:endParaRPr/>
              </a:p>
            </p:txBody>
          </p:sp>
        </p:grpSp>
        <p:grpSp>
          <p:nvGrpSpPr>
            <p:cNvPr id="18" name="Group 20">
              <a:extLst>
                <a:ext uri="{FF2B5EF4-FFF2-40B4-BE49-F238E27FC236}">
                  <a16:creationId xmlns:a16="http://schemas.microsoft.com/office/drawing/2014/main" id="{188DDE2F-2FDC-0224-AF25-7E1CB0D531D7}"/>
                </a:ext>
              </a:extLst>
            </p:cNvPr>
            <p:cNvGrpSpPr/>
            <p:nvPr/>
          </p:nvGrpSpPr>
          <p:grpSpPr>
            <a:xfrm>
              <a:off x="0" y="5478440"/>
              <a:ext cx="9061375" cy="891648"/>
              <a:chOff x="0" y="0"/>
              <a:chExt cx="1414679" cy="139206"/>
            </a:xfrm>
          </p:grpSpPr>
          <p:sp>
            <p:nvSpPr>
              <p:cNvPr id="34" name="Freeform 21">
                <a:extLst>
                  <a:ext uri="{FF2B5EF4-FFF2-40B4-BE49-F238E27FC236}">
                    <a16:creationId xmlns:a16="http://schemas.microsoft.com/office/drawing/2014/main" id="{AC481D3C-868D-A084-7D80-C9EF79E4AB20}"/>
                  </a:ext>
                </a:extLst>
              </p:cNvPr>
              <p:cNvSpPr/>
              <p:nvPr/>
            </p:nvSpPr>
            <p:spPr>
              <a:xfrm>
                <a:off x="0" y="0"/>
                <a:ext cx="1414679" cy="139206"/>
              </a:xfrm>
              <a:custGeom>
                <a:avLst/>
                <a:gdLst/>
                <a:ahLst/>
                <a:cxnLst/>
                <a:rect l="l" t="t" r="r" b="b"/>
                <a:pathLst>
                  <a:path w="1414679" h="139206">
                    <a:moveTo>
                      <a:pt x="19366" y="0"/>
                    </a:moveTo>
                    <a:lnTo>
                      <a:pt x="1395313" y="0"/>
                    </a:lnTo>
                    <a:cubicBezTo>
                      <a:pt x="1400449" y="0"/>
                      <a:pt x="1405375" y="2040"/>
                      <a:pt x="1409007" y="5672"/>
                    </a:cubicBezTo>
                    <a:cubicBezTo>
                      <a:pt x="1412639" y="9304"/>
                      <a:pt x="1414679" y="14230"/>
                      <a:pt x="1414679" y="19366"/>
                    </a:cubicBezTo>
                    <a:lnTo>
                      <a:pt x="1414679" y="119840"/>
                    </a:lnTo>
                    <a:cubicBezTo>
                      <a:pt x="1414679" y="130535"/>
                      <a:pt x="1406009" y="139206"/>
                      <a:pt x="1395313" y="139206"/>
                    </a:cubicBezTo>
                    <a:lnTo>
                      <a:pt x="19366" y="139206"/>
                    </a:lnTo>
                    <a:cubicBezTo>
                      <a:pt x="14230" y="139206"/>
                      <a:pt x="9304" y="137165"/>
                      <a:pt x="5672" y="133534"/>
                    </a:cubicBezTo>
                    <a:cubicBezTo>
                      <a:pt x="2040" y="129902"/>
                      <a:pt x="0" y="124976"/>
                      <a:pt x="0" y="119840"/>
                    </a:cubicBezTo>
                    <a:lnTo>
                      <a:pt x="0" y="19366"/>
                    </a:lnTo>
                    <a:cubicBezTo>
                      <a:pt x="0" y="14230"/>
                      <a:pt x="2040" y="9304"/>
                      <a:pt x="5672" y="5672"/>
                    </a:cubicBezTo>
                    <a:cubicBezTo>
                      <a:pt x="9304" y="2040"/>
                      <a:pt x="14230" y="0"/>
                      <a:pt x="19366" y="0"/>
                    </a:cubicBezTo>
                    <a:close/>
                  </a:path>
                </a:pathLst>
              </a:custGeom>
              <a:solidFill>
                <a:srgbClr val="FFFFFF"/>
              </a:solidFill>
              <a:ln w="19050" cap="sq">
                <a:solidFill>
                  <a:srgbClr val="FFFFFF"/>
                </a:solidFill>
                <a:prstDash val="solid"/>
                <a:miter/>
              </a:ln>
            </p:spPr>
          </p:sp>
          <p:sp>
            <p:nvSpPr>
              <p:cNvPr id="35" name="TextBox 22">
                <a:extLst>
                  <a:ext uri="{FF2B5EF4-FFF2-40B4-BE49-F238E27FC236}">
                    <a16:creationId xmlns:a16="http://schemas.microsoft.com/office/drawing/2014/main" id="{C082643F-EA16-0C91-F83B-DE2933D6D98A}"/>
                  </a:ext>
                </a:extLst>
              </p:cNvPr>
              <p:cNvSpPr txBox="1"/>
              <p:nvPr/>
            </p:nvSpPr>
            <p:spPr>
              <a:xfrm>
                <a:off x="0" y="-38100"/>
                <a:ext cx="1414679" cy="177306"/>
              </a:xfrm>
              <a:prstGeom prst="rect">
                <a:avLst/>
              </a:prstGeom>
            </p:spPr>
            <p:txBody>
              <a:bodyPr lIns="50800" tIns="50800" rIns="50800" bIns="50800" rtlCol="0" anchor="ctr"/>
              <a:lstStyle/>
              <a:p>
                <a:pPr algn="ctr">
                  <a:lnSpc>
                    <a:spcPts val="2659"/>
                  </a:lnSpc>
                </a:pPr>
                <a:endParaRPr/>
              </a:p>
            </p:txBody>
          </p:sp>
        </p:grpSp>
        <p:grpSp>
          <p:nvGrpSpPr>
            <p:cNvPr id="19" name="Group 23">
              <a:extLst>
                <a:ext uri="{FF2B5EF4-FFF2-40B4-BE49-F238E27FC236}">
                  <a16:creationId xmlns:a16="http://schemas.microsoft.com/office/drawing/2014/main" id="{6C5B36D0-80BE-C3A9-5DF1-A2DDBEC43ED8}"/>
                </a:ext>
              </a:extLst>
            </p:cNvPr>
            <p:cNvGrpSpPr/>
            <p:nvPr/>
          </p:nvGrpSpPr>
          <p:grpSpPr>
            <a:xfrm>
              <a:off x="10186854" y="0"/>
              <a:ext cx="9061375" cy="891648"/>
              <a:chOff x="0" y="0"/>
              <a:chExt cx="1414679" cy="139206"/>
            </a:xfrm>
          </p:grpSpPr>
          <p:sp>
            <p:nvSpPr>
              <p:cNvPr id="32" name="Freeform 24">
                <a:extLst>
                  <a:ext uri="{FF2B5EF4-FFF2-40B4-BE49-F238E27FC236}">
                    <a16:creationId xmlns:a16="http://schemas.microsoft.com/office/drawing/2014/main" id="{61811E4F-C05F-342A-6284-9D93016156F8}"/>
                  </a:ext>
                </a:extLst>
              </p:cNvPr>
              <p:cNvSpPr/>
              <p:nvPr/>
            </p:nvSpPr>
            <p:spPr>
              <a:xfrm>
                <a:off x="0" y="0"/>
                <a:ext cx="1414679" cy="139206"/>
              </a:xfrm>
              <a:custGeom>
                <a:avLst/>
                <a:gdLst/>
                <a:ahLst/>
                <a:cxnLst/>
                <a:rect l="l" t="t" r="r" b="b"/>
                <a:pathLst>
                  <a:path w="1414679" h="139206">
                    <a:moveTo>
                      <a:pt x="19366" y="0"/>
                    </a:moveTo>
                    <a:lnTo>
                      <a:pt x="1395313" y="0"/>
                    </a:lnTo>
                    <a:cubicBezTo>
                      <a:pt x="1400449" y="0"/>
                      <a:pt x="1405375" y="2040"/>
                      <a:pt x="1409007" y="5672"/>
                    </a:cubicBezTo>
                    <a:cubicBezTo>
                      <a:pt x="1412639" y="9304"/>
                      <a:pt x="1414679" y="14230"/>
                      <a:pt x="1414679" y="19366"/>
                    </a:cubicBezTo>
                    <a:lnTo>
                      <a:pt x="1414679" y="119840"/>
                    </a:lnTo>
                    <a:cubicBezTo>
                      <a:pt x="1414679" y="130535"/>
                      <a:pt x="1406009" y="139206"/>
                      <a:pt x="1395313" y="139206"/>
                    </a:cubicBezTo>
                    <a:lnTo>
                      <a:pt x="19366" y="139206"/>
                    </a:lnTo>
                    <a:cubicBezTo>
                      <a:pt x="14230" y="139206"/>
                      <a:pt x="9304" y="137165"/>
                      <a:pt x="5672" y="133534"/>
                    </a:cubicBezTo>
                    <a:cubicBezTo>
                      <a:pt x="2040" y="129902"/>
                      <a:pt x="0" y="124976"/>
                      <a:pt x="0" y="119840"/>
                    </a:cubicBezTo>
                    <a:lnTo>
                      <a:pt x="0" y="19366"/>
                    </a:lnTo>
                    <a:cubicBezTo>
                      <a:pt x="0" y="14230"/>
                      <a:pt x="2040" y="9304"/>
                      <a:pt x="5672" y="5672"/>
                    </a:cubicBezTo>
                    <a:cubicBezTo>
                      <a:pt x="9304" y="2040"/>
                      <a:pt x="14230" y="0"/>
                      <a:pt x="19366" y="0"/>
                    </a:cubicBezTo>
                    <a:close/>
                  </a:path>
                </a:pathLst>
              </a:custGeom>
              <a:solidFill>
                <a:srgbClr val="FFFFFF"/>
              </a:solidFill>
              <a:ln w="19050" cap="sq">
                <a:solidFill>
                  <a:srgbClr val="FFFFFF"/>
                </a:solidFill>
                <a:prstDash val="solid"/>
                <a:miter/>
              </a:ln>
            </p:spPr>
          </p:sp>
          <p:sp>
            <p:nvSpPr>
              <p:cNvPr id="33" name="TextBox 25">
                <a:extLst>
                  <a:ext uri="{FF2B5EF4-FFF2-40B4-BE49-F238E27FC236}">
                    <a16:creationId xmlns:a16="http://schemas.microsoft.com/office/drawing/2014/main" id="{596AB90C-8C56-0127-9D8E-FBDD587D2310}"/>
                  </a:ext>
                </a:extLst>
              </p:cNvPr>
              <p:cNvSpPr txBox="1"/>
              <p:nvPr/>
            </p:nvSpPr>
            <p:spPr>
              <a:xfrm>
                <a:off x="0" y="-38100"/>
                <a:ext cx="1414679" cy="177306"/>
              </a:xfrm>
              <a:prstGeom prst="rect">
                <a:avLst/>
              </a:prstGeom>
            </p:spPr>
            <p:txBody>
              <a:bodyPr lIns="50800" tIns="50800" rIns="50800" bIns="50800" rtlCol="0" anchor="ctr"/>
              <a:lstStyle/>
              <a:p>
                <a:pPr algn="ctr">
                  <a:lnSpc>
                    <a:spcPts val="2659"/>
                  </a:lnSpc>
                </a:pPr>
                <a:endParaRPr/>
              </a:p>
            </p:txBody>
          </p:sp>
        </p:grpSp>
        <p:grpSp>
          <p:nvGrpSpPr>
            <p:cNvPr id="20" name="Group 26">
              <a:extLst>
                <a:ext uri="{FF2B5EF4-FFF2-40B4-BE49-F238E27FC236}">
                  <a16:creationId xmlns:a16="http://schemas.microsoft.com/office/drawing/2014/main" id="{42DB2A0E-6F30-2B2E-449F-FD43CBB1AE76}"/>
                </a:ext>
              </a:extLst>
            </p:cNvPr>
            <p:cNvGrpSpPr/>
            <p:nvPr/>
          </p:nvGrpSpPr>
          <p:grpSpPr>
            <a:xfrm>
              <a:off x="10186854" y="5478440"/>
              <a:ext cx="9061375" cy="891648"/>
              <a:chOff x="0" y="0"/>
              <a:chExt cx="1414679" cy="139206"/>
            </a:xfrm>
          </p:grpSpPr>
          <p:sp>
            <p:nvSpPr>
              <p:cNvPr id="30" name="Freeform 27">
                <a:extLst>
                  <a:ext uri="{FF2B5EF4-FFF2-40B4-BE49-F238E27FC236}">
                    <a16:creationId xmlns:a16="http://schemas.microsoft.com/office/drawing/2014/main" id="{5A05FC93-7532-4978-7C18-BED6D018D5BE}"/>
                  </a:ext>
                </a:extLst>
              </p:cNvPr>
              <p:cNvSpPr/>
              <p:nvPr/>
            </p:nvSpPr>
            <p:spPr>
              <a:xfrm>
                <a:off x="0" y="0"/>
                <a:ext cx="1414679" cy="139206"/>
              </a:xfrm>
              <a:custGeom>
                <a:avLst/>
                <a:gdLst/>
                <a:ahLst/>
                <a:cxnLst/>
                <a:rect l="l" t="t" r="r" b="b"/>
                <a:pathLst>
                  <a:path w="1414679" h="139206">
                    <a:moveTo>
                      <a:pt x="19366" y="0"/>
                    </a:moveTo>
                    <a:lnTo>
                      <a:pt x="1395313" y="0"/>
                    </a:lnTo>
                    <a:cubicBezTo>
                      <a:pt x="1400449" y="0"/>
                      <a:pt x="1405375" y="2040"/>
                      <a:pt x="1409007" y="5672"/>
                    </a:cubicBezTo>
                    <a:cubicBezTo>
                      <a:pt x="1412639" y="9304"/>
                      <a:pt x="1414679" y="14230"/>
                      <a:pt x="1414679" y="19366"/>
                    </a:cubicBezTo>
                    <a:lnTo>
                      <a:pt x="1414679" y="119840"/>
                    </a:lnTo>
                    <a:cubicBezTo>
                      <a:pt x="1414679" y="130535"/>
                      <a:pt x="1406009" y="139206"/>
                      <a:pt x="1395313" y="139206"/>
                    </a:cubicBezTo>
                    <a:lnTo>
                      <a:pt x="19366" y="139206"/>
                    </a:lnTo>
                    <a:cubicBezTo>
                      <a:pt x="14230" y="139206"/>
                      <a:pt x="9304" y="137165"/>
                      <a:pt x="5672" y="133534"/>
                    </a:cubicBezTo>
                    <a:cubicBezTo>
                      <a:pt x="2040" y="129902"/>
                      <a:pt x="0" y="124976"/>
                      <a:pt x="0" y="119840"/>
                    </a:cubicBezTo>
                    <a:lnTo>
                      <a:pt x="0" y="19366"/>
                    </a:lnTo>
                    <a:cubicBezTo>
                      <a:pt x="0" y="14230"/>
                      <a:pt x="2040" y="9304"/>
                      <a:pt x="5672" y="5672"/>
                    </a:cubicBezTo>
                    <a:cubicBezTo>
                      <a:pt x="9304" y="2040"/>
                      <a:pt x="14230" y="0"/>
                      <a:pt x="19366" y="0"/>
                    </a:cubicBezTo>
                    <a:close/>
                  </a:path>
                </a:pathLst>
              </a:custGeom>
              <a:solidFill>
                <a:srgbClr val="FFFFFF"/>
              </a:solidFill>
              <a:ln w="19050" cap="sq">
                <a:solidFill>
                  <a:srgbClr val="FFFFFF"/>
                </a:solidFill>
                <a:prstDash val="solid"/>
                <a:miter/>
              </a:ln>
            </p:spPr>
          </p:sp>
          <p:sp>
            <p:nvSpPr>
              <p:cNvPr id="31" name="TextBox 28">
                <a:extLst>
                  <a:ext uri="{FF2B5EF4-FFF2-40B4-BE49-F238E27FC236}">
                    <a16:creationId xmlns:a16="http://schemas.microsoft.com/office/drawing/2014/main" id="{A87BB361-1CC3-DAA7-2B3B-CD9072FF1C5C}"/>
                  </a:ext>
                </a:extLst>
              </p:cNvPr>
              <p:cNvSpPr txBox="1"/>
              <p:nvPr/>
            </p:nvSpPr>
            <p:spPr>
              <a:xfrm>
                <a:off x="0" y="-38100"/>
                <a:ext cx="1414679" cy="177306"/>
              </a:xfrm>
              <a:prstGeom prst="rect">
                <a:avLst/>
              </a:prstGeom>
            </p:spPr>
            <p:txBody>
              <a:bodyPr lIns="50800" tIns="50800" rIns="50800" bIns="50800" rtlCol="0" anchor="ctr"/>
              <a:lstStyle/>
              <a:p>
                <a:pPr algn="ctr">
                  <a:lnSpc>
                    <a:spcPts val="2659"/>
                  </a:lnSpc>
                </a:pPr>
                <a:endParaRPr/>
              </a:p>
            </p:txBody>
          </p:sp>
        </p:grpSp>
        <p:sp>
          <p:nvSpPr>
            <p:cNvPr id="21" name="TextBox 29">
              <a:extLst>
                <a:ext uri="{FF2B5EF4-FFF2-40B4-BE49-F238E27FC236}">
                  <a16:creationId xmlns:a16="http://schemas.microsoft.com/office/drawing/2014/main" id="{2FA561D9-99C5-8B80-5186-96C3C2FD8FB2}"/>
                </a:ext>
              </a:extLst>
            </p:cNvPr>
            <p:cNvSpPr txBox="1"/>
            <p:nvPr/>
          </p:nvSpPr>
          <p:spPr>
            <a:xfrm>
              <a:off x="570172" y="251099"/>
              <a:ext cx="6725651" cy="427468"/>
            </a:xfrm>
            <a:prstGeom prst="rect">
              <a:avLst/>
            </a:prstGeom>
          </p:spPr>
          <p:txBody>
            <a:bodyPr lIns="0" tIns="0" rIns="0" bIns="0" rtlCol="0" anchor="t">
              <a:spAutoFit/>
            </a:bodyPr>
            <a:lstStyle/>
            <a:p>
              <a:pPr algn="l">
                <a:lnSpc>
                  <a:spcPts val="2495"/>
                </a:lnSpc>
              </a:pPr>
              <a:r>
                <a:rPr lang="en-US" sz="2132" b="1" dirty="0">
                  <a:solidFill>
                    <a:srgbClr val="04001E"/>
                  </a:solidFill>
                  <a:latin typeface="Red Hat Display Bold"/>
                  <a:ea typeface="Red Hat Display Bold"/>
                  <a:cs typeface="Red Hat Display Bold"/>
                  <a:sym typeface="Red Hat Display Bold"/>
                </a:rPr>
                <a:t>Feature Engineering</a:t>
              </a:r>
            </a:p>
          </p:txBody>
        </p:sp>
        <p:sp>
          <p:nvSpPr>
            <p:cNvPr id="22" name="TextBox 30">
              <a:extLst>
                <a:ext uri="{FF2B5EF4-FFF2-40B4-BE49-F238E27FC236}">
                  <a16:creationId xmlns:a16="http://schemas.microsoft.com/office/drawing/2014/main" id="{7DEFB2A3-D126-405F-C2B9-9193887B56A2}"/>
                </a:ext>
              </a:extLst>
            </p:cNvPr>
            <p:cNvSpPr txBox="1"/>
            <p:nvPr/>
          </p:nvSpPr>
          <p:spPr>
            <a:xfrm>
              <a:off x="10852861" y="251099"/>
              <a:ext cx="6725650" cy="443470"/>
            </a:xfrm>
            <a:prstGeom prst="rect">
              <a:avLst/>
            </a:prstGeom>
          </p:spPr>
          <p:txBody>
            <a:bodyPr lIns="0" tIns="0" rIns="0" bIns="0" rtlCol="0" anchor="t">
              <a:spAutoFit/>
            </a:bodyPr>
            <a:lstStyle/>
            <a:p>
              <a:pPr algn="l">
                <a:lnSpc>
                  <a:spcPts val="2495"/>
                </a:lnSpc>
              </a:pPr>
              <a:r>
                <a:rPr lang="en-US" sz="2132" b="1" dirty="0">
                  <a:solidFill>
                    <a:srgbClr val="04001E"/>
                  </a:solidFill>
                  <a:latin typeface="Red Hat Display Bold"/>
                  <a:ea typeface="Red Hat Display Bold"/>
                  <a:cs typeface="Red Hat Display Bold"/>
                  <a:sym typeface="Red Hat Display Bold"/>
                </a:rPr>
                <a:t>Model Training</a:t>
              </a:r>
            </a:p>
          </p:txBody>
        </p:sp>
        <p:sp>
          <p:nvSpPr>
            <p:cNvPr id="23" name="TextBox 31">
              <a:extLst>
                <a:ext uri="{FF2B5EF4-FFF2-40B4-BE49-F238E27FC236}">
                  <a16:creationId xmlns:a16="http://schemas.microsoft.com/office/drawing/2014/main" id="{E38EEF27-3F56-7EA2-D796-69652922F5B6}"/>
                </a:ext>
              </a:extLst>
            </p:cNvPr>
            <p:cNvSpPr txBox="1"/>
            <p:nvPr/>
          </p:nvSpPr>
          <p:spPr>
            <a:xfrm>
              <a:off x="570173" y="5719788"/>
              <a:ext cx="7442437" cy="443470"/>
            </a:xfrm>
            <a:prstGeom prst="rect">
              <a:avLst/>
            </a:prstGeom>
          </p:spPr>
          <p:txBody>
            <a:bodyPr lIns="0" tIns="0" rIns="0" bIns="0" rtlCol="0" anchor="t">
              <a:spAutoFit/>
            </a:bodyPr>
            <a:lstStyle/>
            <a:p>
              <a:pPr algn="l">
                <a:lnSpc>
                  <a:spcPts val="2495"/>
                </a:lnSpc>
              </a:pPr>
              <a:r>
                <a:rPr lang="en-US" sz="2132" b="1" dirty="0">
                  <a:solidFill>
                    <a:srgbClr val="04001E"/>
                  </a:solidFill>
                  <a:latin typeface="Red Hat Display Bold"/>
                  <a:ea typeface="Red Hat Display Bold"/>
                  <a:cs typeface="Red Hat Display Bold"/>
                  <a:sym typeface="Red Hat Display Bold"/>
                </a:rPr>
                <a:t>Task 1 Model Evaluation</a:t>
              </a:r>
            </a:p>
          </p:txBody>
        </p:sp>
        <p:sp>
          <p:nvSpPr>
            <p:cNvPr id="24" name="TextBox 32">
              <a:extLst>
                <a:ext uri="{FF2B5EF4-FFF2-40B4-BE49-F238E27FC236}">
                  <a16:creationId xmlns:a16="http://schemas.microsoft.com/office/drawing/2014/main" id="{5A7A6158-021E-1839-35EE-D7C04CD328E2}"/>
                </a:ext>
              </a:extLst>
            </p:cNvPr>
            <p:cNvSpPr txBox="1"/>
            <p:nvPr/>
          </p:nvSpPr>
          <p:spPr>
            <a:xfrm>
              <a:off x="10852861" y="5719788"/>
              <a:ext cx="6399394" cy="443470"/>
            </a:xfrm>
            <a:prstGeom prst="rect">
              <a:avLst/>
            </a:prstGeom>
          </p:spPr>
          <p:txBody>
            <a:bodyPr lIns="0" tIns="0" rIns="0" bIns="0" rtlCol="0" anchor="t">
              <a:spAutoFit/>
            </a:bodyPr>
            <a:lstStyle/>
            <a:p>
              <a:pPr>
                <a:lnSpc>
                  <a:spcPts val="2495"/>
                </a:lnSpc>
              </a:pPr>
              <a:r>
                <a:rPr lang="en-US" sz="2132" b="1" dirty="0">
                  <a:solidFill>
                    <a:srgbClr val="04001E"/>
                  </a:solidFill>
                  <a:latin typeface="Red Hat Display Bold"/>
                  <a:ea typeface="Red Hat Display Bold"/>
                  <a:cs typeface="Red Hat Display Bold"/>
                  <a:sym typeface="Red Hat Display Bold"/>
                </a:rPr>
                <a:t>Task 2 Model Evaluation</a:t>
              </a:r>
            </a:p>
          </p:txBody>
        </p:sp>
        <p:sp>
          <p:nvSpPr>
            <p:cNvPr id="25" name="TextBox 33">
              <a:extLst>
                <a:ext uri="{FF2B5EF4-FFF2-40B4-BE49-F238E27FC236}">
                  <a16:creationId xmlns:a16="http://schemas.microsoft.com/office/drawing/2014/main" id="{ECCF35CE-BE96-706C-B040-463E09273C3E}"/>
                </a:ext>
              </a:extLst>
            </p:cNvPr>
            <p:cNvSpPr txBox="1"/>
            <p:nvPr/>
          </p:nvSpPr>
          <p:spPr>
            <a:xfrm>
              <a:off x="570173" y="1512364"/>
              <a:ext cx="7442437" cy="1932198"/>
            </a:xfrm>
            <a:prstGeom prst="rect">
              <a:avLst/>
            </a:prstGeom>
          </p:spPr>
          <p:txBody>
            <a:bodyPr lIns="0" tIns="0" rIns="0" bIns="0" rtlCol="0" anchor="t">
              <a:spAutoFit/>
            </a:bodyPr>
            <a:lstStyle/>
            <a:p>
              <a:pPr marL="0" lvl="0" indent="0" algn="l">
                <a:lnSpc>
                  <a:spcPts val="2160"/>
                </a:lnSpc>
                <a:spcBef>
                  <a:spcPct val="0"/>
                </a:spcBef>
              </a:pPr>
              <a:r>
                <a:rPr lang="en-US" sz="1600" u="none" spc="96" dirty="0">
                  <a:solidFill>
                    <a:srgbClr val="FFFFFF"/>
                  </a:solidFill>
                  <a:latin typeface="Red Hat Display"/>
                  <a:ea typeface="Red Hat Display"/>
                  <a:cs typeface="Red Hat Display"/>
                  <a:sym typeface="Red Hat Display"/>
                </a:rPr>
                <a:t>• Preprocessing:</a:t>
              </a:r>
            </a:p>
            <a:p>
              <a:pPr marL="0" lvl="0" indent="0" algn="l">
                <a:lnSpc>
                  <a:spcPts val="2160"/>
                </a:lnSpc>
                <a:spcBef>
                  <a:spcPct val="0"/>
                </a:spcBef>
              </a:pPr>
              <a:r>
                <a:rPr lang="en-US" sz="1600" u="none" spc="96" dirty="0">
                  <a:solidFill>
                    <a:srgbClr val="FFFFFF"/>
                  </a:solidFill>
                  <a:latin typeface="Red Hat Display"/>
                  <a:ea typeface="Red Hat Display"/>
                  <a:cs typeface="Red Hat Display"/>
                  <a:sym typeface="Red Hat Display"/>
                </a:rPr>
                <a:t>   – Normalized timestamps</a:t>
              </a:r>
            </a:p>
            <a:p>
              <a:pPr marL="0" lvl="0" indent="0" algn="l">
                <a:lnSpc>
                  <a:spcPts val="2160"/>
                </a:lnSpc>
                <a:spcBef>
                  <a:spcPct val="0"/>
                </a:spcBef>
              </a:pPr>
              <a:r>
                <a:rPr lang="en-US" sz="1600" u="none" spc="96" dirty="0">
                  <a:solidFill>
                    <a:srgbClr val="FFFFFF"/>
                  </a:solidFill>
                  <a:latin typeface="Red Hat Display"/>
                  <a:ea typeface="Red Hat Display"/>
                  <a:cs typeface="Red Hat Display"/>
                  <a:sym typeface="Red Hat Display"/>
                </a:rPr>
                <a:t>   – Dropped invalid rows</a:t>
              </a:r>
            </a:p>
            <a:p>
              <a:pPr marL="0" lvl="0" indent="0" algn="l">
                <a:lnSpc>
                  <a:spcPts val="2160"/>
                </a:lnSpc>
                <a:spcBef>
                  <a:spcPct val="0"/>
                </a:spcBef>
              </a:pPr>
              <a:r>
                <a:rPr lang="en-US" sz="1600" u="none" spc="96" dirty="0">
                  <a:solidFill>
                    <a:srgbClr val="FFFFFF"/>
                  </a:solidFill>
                  <a:latin typeface="Red Hat Display"/>
                  <a:ea typeface="Red Hat Display"/>
                  <a:cs typeface="Red Hat Display"/>
                  <a:sym typeface="Red Hat Display"/>
                </a:rPr>
                <a:t>   – Sharded embeddings</a:t>
              </a:r>
            </a:p>
            <a:p>
              <a:pPr marL="0" lvl="0" indent="0" algn="l">
                <a:lnSpc>
                  <a:spcPts val="2160"/>
                </a:lnSpc>
                <a:spcBef>
                  <a:spcPct val="0"/>
                </a:spcBef>
              </a:pPr>
              <a:r>
                <a:rPr lang="en-US" sz="1600" u="none" spc="96" dirty="0">
                  <a:solidFill>
                    <a:srgbClr val="FFFFFF"/>
                  </a:solidFill>
                  <a:latin typeface="Red Hat Display"/>
                  <a:ea typeface="Red Hat Display"/>
                  <a:cs typeface="Red Hat Display"/>
                  <a:sym typeface="Red Hat Display"/>
                </a:rPr>
                <a:t>• Engineered user-level features for anomaly detection</a:t>
              </a:r>
            </a:p>
          </p:txBody>
        </p:sp>
        <p:sp>
          <p:nvSpPr>
            <p:cNvPr id="26" name="TextBox 34">
              <a:extLst>
                <a:ext uri="{FF2B5EF4-FFF2-40B4-BE49-F238E27FC236}">
                  <a16:creationId xmlns:a16="http://schemas.microsoft.com/office/drawing/2014/main" id="{707EC639-F25B-D9CA-2D35-2319A42E2504}"/>
                </a:ext>
              </a:extLst>
            </p:cNvPr>
            <p:cNvSpPr txBox="1"/>
            <p:nvPr/>
          </p:nvSpPr>
          <p:spPr>
            <a:xfrm>
              <a:off x="10852861" y="1296514"/>
              <a:ext cx="7442437" cy="2712704"/>
            </a:xfrm>
            <a:prstGeom prst="rect">
              <a:avLst/>
            </a:prstGeom>
          </p:spPr>
          <p:txBody>
            <a:bodyPr lIns="0" tIns="0" rIns="0" bIns="0" rtlCol="0" anchor="t">
              <a:spAutoFit/>
            </a:bodyPr>
            <a:lstStyle/>
            <a:p>
              <a:pPr marL="0" lvl="0" indent="0" algn="l">
                <a:lnSpc>
                  <a:spcPts val="2160"/>
                </a:lnSpc>
                <a:spcBef>
                  <a:spcPct val="0"/>
                </a:spcBef>
              </a:pPr>
              <a:r>
                <a:rPr lang="en-US" sz="1600" u="none" spc="96" dirty="0">
                  <a:solidFill>
                    <a:srgbClr val="FFFFFF"/>
                  </a:solidFill>
                  <a:latin typeface="Red Hat Display"/>
                  <a:ea typeface="Red Hat Display"/>
                  <a:cs typeface="Red Hat Display"/>
                  <a:sym typeface="Red Hat Display"/>
                </a:rPr>
                <a:t>Task 1 — Hybrid Recommender:</a:t>
              </a:r>
            </a:p>
            <a:p>
              <a:pPr marL="0" lvl="0" indent="0" algn="l">
                <a:lnSpc>
                  <a:spcPts val="2160"/>
                </a:lnSpc>
                <a:spcBef>
                  <a:spcPct val="0"/>
                </a:spcBef>
              </a:pPr>
              <a:r>
                <a:rPr lang="en-US" sz="1600" u="none" spc="96" dirty="0">
                  <a:solidFill>
                    <a:srgbClr val="FFFFFF"/>
                  </a:solidFill>
                  <a:latin typeface="Red Hat Display"/>
                  <a:ea typeface="Red Hat Display"/>
                  <a:cs typeface="Red Hat Display"/>
                  <a:sym typeface="Red Hat Display"/>
                </a:rPr>
                <a:t>• Logistic Regression, </a:t>
              </a:r>
              <a:r>
                <a:rPr lang="en-US" sz="1600" u="none" spc="96" dirty="0" err="1">
                  <a:solidFill>
                    <a:srgbClr val="FFFFFF"/>
                  </a:solidFill>
                  <a:latin typeface="Red Hat Display"/>
                  <a:ea typeface="Red Hat Display"/>
                  <a:cs typeface="Red Hat Display"/>
                  <a:sym typeface="Red Hat Display"/>
                </a:rPr>
                <a:t>R</a:t>
              </a:r>
              <a:r>
                <a:rPr lang="en-US" sz="1600" spc="96" dirty="0" err="1">
                  <a:solidFill>
                    <a:srgbClr val="FFFFFF"/>
                  </a:solidFill>
                  <a:latin typeface="Red Hat Display"/>
                  <a:ea typeface="Red Hat Display"/>
                  <a:cs typeface="Red Hat Display"/>
                  <a:sym typeface="Red Hat Display"/>
                </a:rPr>
                <a:t>andomForest</a:t>
              </a:r>
              <a:r>
                <a:rPr lang="en-US" sz="1600" spc="96" dirty="0">
                  <a:solidFill>
                    <a:srgbClr val="FFFFFF"/>
                  </a:solidFill>
                  <a:latin typeface="Red Hat Display"/>
                  <a:ea typeface="Red Hat Display"/>
                  <a:cs typeface="Red Hat Display"/>
                  <a:sym typeface="Red Hat Display"/>
                </a:rPr>
                <a:t>, </a:t>
              </a:r>
              <a:r>
                <a:rPr lang="en-US" sz="1600" spc="96" dirty="0" err="1">
                  <a:solidFill>
                    <a:srgbClr val="FFFFFF"/>
                  </a:solidFill>
                  <a:latin typeface="Red Hat Display"/>
                  <a:ea typeface="Red Hat Display"/>
                  <a:cs typeface="Red Hat Display"/>
                  <a:sym typeface="Red Hat Display"/>
                </a:rPr>
                <a:t>HistGradient</a:t>
              </a:r>
              <a:r>
                <a:rPr lang="en-US" sz="1600" spc="96" dirty="0">
                  <a:solidFill>
                    <a:srgbClr val="FFFFFF"/>
                  </a:solidFill>
                  <a:latin typeface="Red Hat Display"/>
                  <a:ea typeface="Red Hat Display"/>
                  <a:cs typeface="Red Hat Display"/>
                  <a:sym typeface="Red Hat Display"/>
                </a:rPr>
                <a:t>, SVD, Hybrid SVD. </a:t>
              </a:r>
              <a:endParaRPr lang="en-US" sz="1600" u="none" spc="96" dirty="0">
                <a:solidFill>
                  <a:srgbClr val="FFFFFF"/>
                </a:solidFill>
                <a:latin typeface="Red Hat Display"/>
                <a:ea typeface="Red Hat Display"/>
                <a:cs typeface="Red Hat Display"/>
                <a:sym typeface="Red Hat Display"/>
              </a:endParaRPr>
            </a:p>
            <a:p>
              <a:pPr marL="0" lvl="0" indent="0" algn="l">
                <a:lnSpc>
                  <a:spcPts val="2160"/>
                </a:lnSpc>
                <a:spcBef>
                  <a:spcPct val="0"/>
                </a:spcBef>
              </a:pPr>
              <a:endParaRPr lang="en-US" sz="1600" u="none" spc="96" dirty="0">
                <a:solidFill>
                  <a:srgbClr val="FFFFFF"/>
                </a:solidFill>
                <a:latin typeface="Red Hat Display"/>
                <a:ea typeface="Red Hat Display"/>
                <a:cs typeface="Red Hat Display"/>
                <a:sym typeface="Red Hat Display"/>
              </a:endParaRPr>
            </a:p>
            <a:p>
              <a:pPr marL="0" lvl="0" indent="0" algn="l">
                <a:lnSpc>
                  <a:spcPts val="2160"/>
                </a:lnSpc>
                <a:spcBef>
                  <a:spcPct val="0"/>
                </a:spcBef>
              </a:pPr>
              <a:r>
                <a:rPr lang="en-US" sz="1600" u="none" spc="96" dirty="0">
                  <a:solidFill>
                    <a:srgbClr val="FFFFFF"/>
                  </a:solidFill>
                  <a:latin typeface="Red Hat Display"/>
                  <a:ea typeface="Red Hat Display"/>
                  <a:cs typeface="Red Hat Display"/>
                  <a:sym typeface="Red Hat Display"/>
                </a:rPr>
                <a:t>Task 2 — Anomaly Detection:</a:t>
              </a:r>
            </a:p>
            <a:p>
              <a:pPr marL="0" lvl="0" indent="0" algn="l">
                <a:lnSpc>
                  <a:spcPts val="2160"/>
                </a:lnSpc>
                <a:spcBef>
                  <a:spcPct val="0"/>
                </a:spcBef>
              </a:pPr>
              <a:r>
                <a:rPr lang="en-US" sz="1600" u="none" spc="96" dirty="0">
                  <a:solidFill>
                    <a:srgbClr val="FFFFFF"/>
                  </a:solidFill>
                  <a:latin typeface="Red Hat Display"/>
                  <a:ea typeface="Red Hat Display"/>
                  <a:cs typeface="Red Hat Display"/>
                  <a:sym typeface="Red Hat Display"/>
                </a:rPr>
                <a:t>• Isolation Forest</a:t>
              </a:r>
            </a:p>
            <a:p>
              <a:pPr marL="0" lvl="0" indent="0" algn="l">
                <a:lnSpc>
                  <a:spcPts val="2160"/>
                </a:lnSpc>
                <a:spcBef>
                  <a:spcPct val="0"/>
                </a:spcBef>
              </a:pPr>
              <a:endParaRPr lang="en-US" sz="1600" u="none" spc="96" dirty="0">
                <a:solidFill>
                  <a:srgbClr val="FFFFFF"/>
                </a:solidFill>
                <a:latin typeface="Red Hat Display"/>
                <a:ea typeface="Red Hat Display"/>
                <a:cs typeface="Red Hat Display"/>
                <a:sym typeface="Red Hat Display"/>
              </a:endParaRPr>
            </a:p>
          </p:txBody>
        </p:sp>
        <p:sp>
          <p:nvSpPr>
            <p:cNvPr id="27" name="TextBox 35">
              <a:extLst>
                <a:ext uri="{FF2B5EF4-FFF2-40B4-BE49-F238E27FC236}">
                  <a16:creationId xmlns:a16="http://schemas.microsoft.com/office/drawing/2014/main" id="{D5DA29D4-8EFC-FE7B-EDBD-6634A62D6B87}"/>
                </a:ext>
              </a:extLst>
            </p:cNvPr>
            <p:cNvSpPr txBox="1"/>
            <p:nvPr/>
          </p:nvSpPr>
          <p:spPr>
            <a:xfrm>
              <a:off x="10829538" y="6745628"/>
              <a:ext cx="7442437" cy="2712704"/>
            </a:xfrm>
            <a:prstGeom prst="rect">
              <a:avLst/>
            </a:prstGeom>
          </p:spPr>
          <p:txBody>
            <a:bodyPr lIns="0" tIns="0" rIns="0" bIns="0" rtlCol="0" anchor="t">
              <a:spAutoFit/>
            </a:bodyPr>
            <a:lstStyle/>
            <a:p>
              <a:pPr marL="285750" lvl="0" indent="-285750" algn="l">
                <a:lnSpc>
                  <a:spcPts val="2160"/>
                </a:lnSpc>
                <a:spcBef>
                  <a:spcPct val="0"/>
                </a:spcBef>
                <a:buFont typeface="Arial" panose="020B0604020202020204" pitchFamily="34" charset="0"/>
                <a:buChar char="•"/>
              </a:pPr>
              <a:r>
                <a:rPr lang="en-US" sz="1600" u="none" spc="96" dirty="0">
                  <a:solidFill>
                    <a:srgbClr val="FFFFFF"/>
                  </a:solidFill>
                  <a:latin typeface="Red Hat Display"/>
                  <a:ea typeface="Red Hat Display"/>
                  <a:cs typeface="Red Hat Display"/>
                  <a:sym typeface="Red Hat Display"/>
                </a:rPr>
                <a:t>Proxy anomaly rate of ~2.08%</a:t>
              </a:r>
            </a:p>
            <a:p>
              <a:pPr marL="285750" lvl="0" indent="-285750" algn="l">
                <a:lnSpc>
                  <a:spcPts val="2160"/>
                </a:lnSpc>
                <a:spcBef>
                  <a:spcPct val="0"/>
                </a:spcBef>
                <a:buFont typeface="Arial" panose="020B0604020202020204" pitchFamily="34" charset="0"/>
                <a:buChar char="•"/>
              </a:pPr>
              <a:r>
                <a:rPr lang="en-US" sz="1600" u="none" spc="96" dirty="0">
                  <a:solidFill>
                    <a:srgbClr val="FFFFFF"/>
                  </a:solidFill>
                  <a:latin typeface="Red Hat Display"/>
                  <a:ea typeface="Red Hat Display"/>
                  <a:cs typeface="Red Hat Display"/>
                  <a:sym typeface="Red Hat Display"/>
                </a:rPr>
                <a:t>Model trained on engineered user </a:t>
              </a:r>
              <a:r>
                <a:rPr lang="en-US" sz="1600" u="none" spc="96" dirty="0" err="1">
                  <a:solidFill>
                    <a:srgbClr val="FFFFFF"/>
                  </a:solidFill>
                  <a:latin typeface="Red Hat Display"/>
                  <a:ea typeface="Red Hat Display"/>
                  <a:cs typeface="Red Hat Display"/>
                  <a:sym typeface="Red Hat Display"/>
                </a:rPr>
                <a:t>behaviour</a:t>
              </a:r>
              <a:r>
                <a:rPr lang="en-US" sz="1600" u="none" spc="96" dirty="0">
                  <a:solidFill>
                    <a:srgbClr val="FFFFFF"/>
                  </a:solidFill>
                  <a:latin typeface="Red Hat Display"/>
                  <a:ea typeface="Red Hat Display"/>
                  <a:cs typeface="Red Hat Display"/>
                  <a:sym typeface="Red Hat Display"/>
                </a:rPr>
                <a:t> features.</a:t>
              </a:r>
            </a:p>
            <a:p>
              <a:pPr marL="285750" lvl="0" indent="-285750" algn="l">
                <a:lnSpc>
                  <a:spcPts val="2160"/>
                </a:lnSpc>
                <a:spcBef>
                  <a:spcPct val="0"/>
                </a:spcBef>
                <a:buFont typeface="Arial" panose="020B0604020202020204" pitchFamily="34" charset="0"/>
                <a:buChar char="•"/>
              </a:pPr>
              <a:r>
                <a:rPr lang="en-US" sz="1600" u="none" spc="96" dirty="0">
                  <a:solidFill>
                    <a:srgbClr val="FFFFFF"/>
                  </a:solidFill>
                  <a:latin typeface="Red Hat Display"/>
                  <a:ea typeface="Red Hat Display"/>
                  <a:cs typeface="Red Hat Display"/>
                  <a:sym typeface="Red Hat Display"/>
                </a:rPr>
                <a:t>Chosen contamination: 0.05 → balances recall and precision.</a:t>
              </a:r>
            </a:p>
            <a:p>
              <a:pPr marL="285750" lvl="0" indent="-285750" algn="l">
                <a:lnSpc>
                  <a:spcPts val="2160"/>
                </a:lnSpc>
                <a:spcBef>
                  <a:spcPct val="0"/>
                </a:spcBef>
                <a:buFont typeface="Arial" panose="020B0604020202020204" pitchFamily="34" charset="0"/>
                <a:buChar char="•"/>
              </a:pPr>
              <a:r>
                <a:rPr lang="en-US" sz="1600" u="none" spc="96" dirty="0">
                  <a:solidFill>
                    <a:srgbClr val="FFFFFF"/>
                  </a:solidFill>
                  <a:latin typeface="Red Hat Display"/>
                  <a:ea typeface="Red Hat Display"/>
                  <a:cs typeface="Red Hat Display"/>
                  <a:sym typeface="Red Hat Display"/>
                </a:rPr>
                <a:t>Performance: Precision = 31%, Recall = 75%, F1 = 0.44.</a:t>
              </a:r>
            </a:p>
            <a:p>
              <a:pPr marL="285750" lvl="0" indent="-285750" algn="l">
                <a:lnSpc>
                  <a:spcPts val="2160"/>
                </a:lnSpc>
                <a:spcBef>
                  <a:spcPct val="0"/>
                </a:spcBef>
                <a:buFont typeface="Arial" panose="020B0604020202020204" pitchFamily="34" charset="0"/>
                <a:buChar char="•"/>
              </a:pPr>
              <a:r>
                <a:rPr lang="en-US" sz="1600" u="none" spc="96" dirty="0">
                  <a:solidFill>
                    <a:srgbClr val="FFFFFF"/>
                  </a:solidFill>
                  <a:latin typeface="Red Hat Display"/>
                  <a:ea typeface="Red Hat Display"/>
                  <a:cs typeface="Red Hat Display"/>
                  <a:sym typeface="Red Hat Display"/>
                </a:rPr>
                <a:t>Flagged share: 5% of users identified as potentially anomalous.</a:t>
              </a:r>
            </a:p>
          </p:txBody>
        </p:sp>
        <p:sp>
          <p:nvSpPr>
            <p:cNvPr id="29" name="TextBox 36">
              <a:extLst>
                <a:ext uri="{FF2B5EF4-FFF2-40B4-BE49-F238E27FC236}">
                  <a16:creationId xmlns:a16="http://schemas.microsoft.com/office/drawing/2014/main" id="{9F9763AD-235B-37B9-70A8-BC2B04CB7697}"/>
                </a:ext>
              </a:extLst>
            </p:cNvPr>
            <p:cNvSpPr txBox="1"/>
            <p:nvPr/>
          </p:nvSpPr>
          <p:spPr>
            <a:xfrm>
              <a:off x="570173" y="6986038"/>
              <a:ext cx="7442437" cy="1932198"/>
            </a:xfrm>
            <a:prstGeom prst="rect">
              <a:avLst/>
            </a:prstGeom>
          </p:spPr>
          <p:txBody>
            <a:bodyPr lIns="0" tIns="0" rIns="0" bIns="0" rtlCol="0" anchor="t">
              <a:spAutoFit/>
            </a:bodyPr>
            <a:lstStyle/>
            <a:p>
              <a:pPr marL="285750" lvl="0" indent="-285750" algn="l">
                <a:lnSpc>
                  <a:spcPts val="2160"/>
                </a:lnSpc>
                <a:spcBef>
                  <a:spcPct val="0"/>
                </a:spcBef>
                <a:buFont typeface="Arial" panose="020B0604020202020204" pitchFamily="34" charset="0"/>
                <a:buChar char="•"/>
              </a:pPr>
              <a:r>
                <a:rPr lang="en-US" sz="1600" u="none" spc="96" dirty="0">
                  <a:solidFill>
                    <a:srgbClr val="FFFFFF"/>
                  </a:solidFill>
                  <a:latin typeface="Red Hat Display"/>
                  <a:ea typeface="Red Hat Display"/>
                  <a:cs typeface="Red Hat Display"/>
                  <a:sym typeface="Red Hat Display"/>
                </a:rPr>
                <a:t>Hybrid SVD (Champion Model)</a:t>
              </a:r>
            </a:p>
            <a:p>
              <a:pPr marL="285750" lvl="0" indent="-285750" algn="l">
                <a:lnSpc>
                  <a:spcPts val="2160"/>
                </a:lnSpc>
                <a:spcBef>
                  <a:spcPct val="0"/>
                </a:spcBef>
                <a:buFont typeface="Arial" panose="020B0604020202020204" pitchFamily="34" charset="0"/>
                <a:buChar char="•"/>
              </a:pPr>
              <a:r>
                <a:rPr lang="en-US" sz="1600" u="none" spc="96" dirty="0">
                  <a:solidFill>
                    <a:srgbClr val="FFFFFF"/>
                  </a:solidFill>
                  <a:latin typeface="Red Hat Display"/>
                  <a:ea typeface="Red Hat Display"/>
                  <a:cs typeface="Red Hat Display"/>
                  <a:sym typeface="Red Hat Display"/>
                </a:rPr>
                <a:t>Combined handcrafted baseline features + SVD embeddings into a hybrid feature set</a:t>
              </a:r>
            </a:p>
            <a:p>
              <a:pPr marL="285750" lvl="0" indent="-285750" algn="l">
                <a:lnSpc>
                  <a:spcPts val="2160"/>
                </a:lnSpc>
                <a:spcBef>
                  <a:spcPct val="0"/>
                </a:spcBef>
                <a:buFont typeface="Arial" panose="020B0604020202020204" pitchFamily="34" charset="0"/>
                <a:buChar char="•"/>
              </a:pPr>
              <a:r>
                <a:rPr lang="en-US" sz="1600" u="none" spc="96" dirty="0">
                  <a:solidFill>
                    <a:srgbClr val="FFFFFF"/>
                  </a:solidFill>
                  <a:latin typeface="Red Hat Display"/>
                  <a:ea typeface="Red Hat Display"/>
                  <a:cs typeface="Red Hat Display"/>
                  <a:sym typeface="Red Hat Display"/>
                </a:rPr>
                <a:t>.Performance: Coverage ~91.6%, Top1 ~85.6%, Top3 ~99.5%. Selected as production champion.</a:t>
              </a:r>
            </a:p>
          </p:txBody>
        </p:sp>
      </p:grpSp>
      <p:sp>
        <p:nvSpPr>
          <p:cNvPr id="47" name="TextBox 46">
            <a:extLst>
              <a:ext uri="{FF2B5EF4-FFF2-40B4-BE49-F238E27FC236}">
                <a16:creationId xmlns:a16="http://schemas.microsoft.com/office/drawing/2014/main" id="{C55D5566-4ED4-B1A5-F92B-C147DDE2E64A}"/>
              </a:ext>
            </a:extLst>
          </p:cNvPr>
          <p:cNvSpPr txBox="1"/>
          <p:nvPr/>
        </p:nvSpPr>
        <p:spPr>
          <a:xfrm>
            <a:off x="1189119" y="454104"/>
            <a:ext cx="15697200" cy="1107996"/>
          </a:xfrm>
          <a:prstGeom prst="rect">
            <a:avLst/>
          </a:prstGeom>
        </p:spPr>
        <p:txBody>
          <a:bodyPr lIns="0" tIns="0" rIns="0" bIns="0" rtlCol="0" anchor="t">
            <a:spAutoFit/>
          </a:bodyPr>
          <a:lstStyle/>
          <a:p>
            <a:pPr marL="0" lvl="1" indent="0" algn="ctr">
              <a:spcBef>
                <a:spcPct val="0"/>
              </a:spcBef>
            </a:pPr>
            <a:r>
              <a:rPr lang="en-US" sz="7200" dirty="0">
                <a:solidFill>
                  <a:srgbClr val="FFFFFF"/>
                </a:solidFill>
                <a:latin typeface="Archivo Black"/>
                <a:ea typeface="Archivo Black"/>
                <a:cs typeface="Archivo Black"/>
                <a:sym typeface="Archivo Black"/>
              </a:rPr>
              <a:t>MACHINE LEARNING</a:t>
            </a:r>
          </a:p>
        </p:txBody>
      </p:sp>
      <p:grpSp>
        <p:nvGrpSpPr>
          <p:cNvPr id="48" name="Group 23">
            <a:extLst>
              <a:ext uri="{FF2B5EF4-FFF2-40B4-BE49-F238E27FC236}">
                <a16:creationId xmlns:a16="http://schemas.microsoft.com/office/drawing/2014/main" id="{32CD292B-FAEB-0BAA-6C84-9694ACB0A03E}"/>
              </a:ext>
            </a:extLst>
          </p:cNvPr>
          <p:cNvGrpSpPr/>
          <p:nvPr/>
        </p:nvGrpSpPr>
        <p:grpSpPr>
          <a:xfrm>
            <a:off x="299295" y="626426"/>
            <a:ext cx="1827704" cy="799004"/>
            <a:chOff x="0" y="0"/>
            <a:chExt cx="481371" cy="210437"/>
          </a:xfrm>
        </p:grpSpPr>
        <p:sp>
          <p:nvSpPr>
            <p:cNvPr id="49" name="Freeform 24">
              <a:extLst>
                <a:ext uri="{FF2B5EF4-FFF2-40B4-BE49-F238E27FC236}">
                  <a16:creationId xmlns:a16="http://schemas.microsoft.com/office/drawing/2014/main" id="{F7B062BC-95C3-1DCA-6017-60D05889CBE4}"/>
                </a:ext>
              </a:extLst>
            </p:cNvPr>
            <p:cNvSpPr/>
            <p:nvPr/>
          </p:nvSpPr>
          <p:spPr>
            <a:xfrm>
              <a:off x="0" y="0"/>
              <a:ext cx="481371" cy="210437"/>
            </a:xfrm>
            <a:custGeom>
              <a:avLst/>
              <a:gdLst/>
              <a:ahLst/>
              <a:cxnLst/>
              <a:rect l="l" t="t" r="r" b="b"/>
              <a:pathLst>
                <a:path w="481371" h="210437">
                  <a:moveTo>
                    <a:pt x="0" y="0"/>
                  </a:moveTo>
                  <a:lnTo>
                    <a:pt x="481371" y="0"/>
                  </a:lnTo>
                  <a:lnTo>
                    <a:pt x="481371" y="210437"/>
                  </a:lnTo>
                  <a:lnTo>
                    <a:pt x="0" y="210437"/>
                  </a:lnTo>
                  <a:close/>
                </a:path>
              </a:pathLst>
            </a:custGeom>
            <a:gradFill rotWithShape="1">
              <a:gsLst>
                <a:gs pos="0">
                  <a:srgbClr val="C6269E">
                    <a:alpha val="100000"/>
                  </a:srgbClr>
                </a:gs>
                <a:gs pos="100000">
                  <a:srgbClr val="DDBAFF">
                    <a:alpha val="12000"/>
                  </a:srgbClr>
                </a:gs>
              </a:gsLst>
              <a:lin ang="0"/>
            </a:gradFill>
          </p:spPr>
        </p:sp>
        <p:sp>
          <p:nvSpPr>
            <p:cNvPr id="50" name="TextBox 25">
              <a:extLst>
                <a:ext uri="{FF2B5EF4-FFF2-40B4-BE49-F238E27FC236}">
                  <a16:creationId xmlns:a16="http://schemas.microsoft.com/office/drawing/2014/main" id="{7785369D-994D-307A-65A1-7F5AB4D41CAE}"/>
                </a:ext>
              </a:extLst>
            </p:cNvPr>
            <p:cNvSpPr txBox="1"/>
            <p:nvPr/>
          </p:nvSpPr>
          <p:spPr>
            <a:xfrm>
              <a:off x="0" y="28575"/>
              <a:ext cx="481371" cy="181862"/>
            </a:xfrm>
            <a:prstGeom prst="rect">
              <a:avLst/>
            </a:prstGeom>
          </p:spPr>
          <p:txBody>
            <a:bodyPr lIns="50800" tIns="50800" rIns="50800" bIns="50800" rtlCol="0" anchor="ctr"/>
            <a:lstStyle/>
            <a:p>
              <a:pPr algn="ctr">
                <a:lnSpc>
                  <a:spcPts val="2661"/>
                </a:lnSpc>
              </a:pPr>
              <a:endParaRPr/>
            </a:p>
          </p:txBody>
        </p:sp>
      </p:grpSp>
      <p:sp>
        <p:nvSpPr>
          <p:cNvPr id="57" name="TextBox 4">
            <a:extLst>
              <a:ext uri="{FF2B5EF4-FFF2-40B4-BE49-F238E27FC236}">
                <a16:creationId xmlns:a16="http://schemas.microsoft.com/office/drawing/2014/main" id="{3C984336-3851-B83D-0924-8249F6CF9AAB}"/>
              </a:ext>
            </a:extLst>
          </p:cNvPr>
          <p:cNvSpPr txBox="1"/>
          <p:nvPr/>
        </p:nvSpPr>
        <p:spPr>
          <a:xfrm rot="16200000">
            <a:off x="129306" y="8890751"/>
            <a:ext cx="1078468" cy="218008"/>
          </a:xfrm>
          <a:prstGeom prst="rect">
            <a:avLst/>
          </a:prstGeom>
        </p:spPr>
        <p:txBody>
          <a:bodyPr lIns="0" tIns="0" rIns="0" bIns="0" rtlCol="0" anchor="t">
            <a:spAutoFit/>
          </a:bodyPr>
          <a:lstStyle/>
          <a:p>
            <a:pPr algn="ctr">
              <a:lnSpc>
                <a:spcPts val="1725"/>
              </a:lnSpc>
              <a:spcBef>
                <a:spcPct val="0"/>
              </a:spcBef>
            </a:pPr>
            <a:r>
              <a:rPr lang="en-US" sz="1658" dirty="0">
                <a:solidFill>
                  <a:srgbClr val="FFFFFF"/>
                </a:solidFill>
                <a:latin typeface="Raleway"/>
                <a:ea typeface="Raleway"/>
                <a:cs typeface="Raleway"/>
                <a:sym typeface="Raleway"/>
              </a:rPr>
              <a:t>Page  10</a:t>
            </a:r>
          </a:p>
        </p:txBody>
      </p:sp>
      <p:sp>
        <p:nvSpPr>
          <p:cNvPr id="59" name="TextBox 8">
            <a:extLst>
              <a:ext uri="{FF2B5EF4-FFF2-40B4-BE49-F238E27FC236}">
                <a16:creationId xmlns:a16="http://schemas.microsoft.com/office/drawing/2014/main" id="{71678DF4-F952-96A0-1469-B5B7B6F3E5F2}"/>
              </a:ext>
            </a:extLst>
          </p:cNvPr>
          <p:cNvSpPr txBox="1"/>
          <p:nvPr/>
        </p:nvSpPr>
        <p:spPr>
          <a:xfrm>
            <a:off x="15309115" y="9589340"/>
            <a:ext cx="1716617" cy="277925"/>
          </a:xfrm>
          <a:prstGeom prst="rect">
            <a:avLst/>
          </a:prstGeom>
        </p:spPr>
        <p:txBody>
          <a:bodyPr lIns="0" tIns="0" rIns="0" bIns="0" rtlCol="0" anchor="t">
            <a:spAutoFit/>
          </a:bodyPr>
          <a:lstStyle/>
          <a:p>
            <a:pPr algn="l">
              <a:lnSpc>
                <a:spcPts val="2037"/>
              </a:lnSpc>
              <a:spcBef>
                <a:spcPct val="0"/>
              </a:spcBef>
            </a:pPr>
            <a:r>
              <a:rPr lang="en-US" sz="1958">
                <a:solidFill>
                  <a:srgbClr val="FFFFFF"/>
                </a:solidFill>
                <a:latin typeface="Raleway"/>
                <a:ea typeface="Raleway"/>
                <a:cs typeface="Raleway"/>
                <a:sym typeface="Raleway"/>
              </a:rPr>
              <a:t>Next Slide</a:t>
            </a:r>
          </a:p>
        </p:txBody>
      </p:sp>
      <p:sp>
        <p:nvSpPr>
          <p:cNvPr id="60" name="Freeform 9">
            <a:extLst>
              <a:ext uri="{FF2B5EF4-FFF2-40B4-BE49-F238E27FC236}">
                <a16:creationId xmlns:a16="http://schemas.microsoft.com/office/drawing/2014/main" id="{BA2B602B-9C61-BACA-F9FF-ADB47A93B32D}"/>
              </a:ext>
            </a:extLst>
          </p:cNvPr>
          <p:cNvSpPr/>
          <p:nvPr/>
        </p:nvSpPr>
        <p:spPr>
          <a:xfrm flipH="1">
            <a:off x="16998830" y="9525801"/>
            <a:ext cx="416017" cy="418299"/>
          </a:xfrm>
          <a:custGeom>
            <a:avLst/>
            <a:gdLst/>
            <a:ahLst/>
            <a:cxnLst/>
            <a:rect l="l" t="t" r="r" b="b"/>
            <a:pathLst>
              <a:path w="416017" h="418299">
                <a:moveTo>
                  <a:pt x="416017" y="0"/>
                </a:moveTo>
                <a:lnTo>
                  <a:pt x="0" y="0"/>
                </a:lnTo>
                <a:lnTo>
                  <a:pt x="0" y="418299"/>
                </a:lnTo>
                <a:lnTo>
                  <a:pt x="416017" y="418299"/>
                </a:lnTo>
                <a:lnTo>
                  <a:pt x="416017" y="0"/>
                </a:lnTo>
                <a:close/>
              </a:path>
            </a:pathLst>
          </a:custGeom>
          <a:blipFill>
            <a:blip r:embed="rId2">
              <a:extLst>
                <a:ext uri="{96DAC541-7B7A-43D3-8B79-37D633B846F1}">
                  <asvg:svgBlip xmlns:asvg="http://schemas.microsoft.com/office/drawing/2016/SVG/main" r:embed="rId3"/>
                </a:ext>
              </a:extLst>
            </a:blip>
            <a:stretch>
              <a:fillRect/>
            </a:stretch>
          </a:blipFill>
        </p:spPr>
      </p:sp>
    </p:spTree>
    <p:extLst>
      <p:ext uri="{BB962C8B-B14F-4D97-AF65-F5344CB8AC3E}">
        <p14:creationId xmlns:p14="http://schemas.microsoft.com/office/powerpoint/2010/main" val="36163992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9E854-FB21-910E-4B53-F67EB9B32281}"/>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47A5F858-D2F4-ED59-0BBC-46D67238BF48}"/>
              </a:ext>
            </a:extLst>
          </p:cNvPr>
          <p:cNvSpPr/>
          <p:nvPr/>
        </p:nvSpPr>
        <p:spPr>
          <a:xfrm>
            <a:off x="1" y="-38783"/>
            <a:ext cx="18288000" cy="10287000"/>
          </a:xfrm>
          <a:custGeom>
            <a:avLst/>
            <a:gdLst/>
            <a:ahLst/>
            <a:cxnLst/>
            <a:rect l="l" t="t" r="r" b="b"/>
            <a:pathLst>
              <a:path w="2669893" h="2709333">
                <a:moveTo>
                  <a:pt x="43531" y="0"/>
                </a:moveTo>
                <a:lnTo>
                  <a:pt x="2626361" y="0"/>
                </a:lnTo>
                <a:cubicBezTo>
                  <a:pt x="2650403" y="0"/>
                  <a:pt x="2669893" y="19490"/>
                  <a:pt x="2669893" y="43531"/>
                </a:cubicBezTo>
                <a:lnTo>
                  <a:pt x="2669893" y="2665802"/>
                </a:lnTo>
                <a:cubicBezTo>
                  <a:pt x="2669893" y="2689844"/>
                  <a:pt x="2650403" y="2709333"/>
                  <a:pt x="2626361" y="2709333"/>
                </a:cubicBezTo>
                <a:lnTo>
                  <a:pt x="43531" y="2709333"/>
                </a:lnTo>
                <a:cubicBezTo>
                  <a:pt x="19490" y="2709333"/>
                  <a:pt x="0" y="2689844"/>
                  <a:pt x="0" y="2665802"/>
                </a:cubicBezTo>
                <a:lnTo>
                  <a:pt x="0" y="43531"/>
                </a:lnTo>
                <a:cubicBezTo>
                  <a:pt x="0" y="19490"/>
                  <a:pt x="19490" y="0"/>
                  <a:pt x="43531" y="0"/>
                </a:cubicBezTo>
                <a:close/>
              </a:path>
            </a:pathLst>
          </a:custGeom>
          <a:gradFill>
            <a:gsLst>
              <a:gs pos="0">
                <a:srgbClr val="000000">
                  <a:alpha val="100000"/>
                </a:srgbClr>
              </a:gs>
              <a:gs pos="56000">
                <a:srgbClr val="32032F">
                  <a:alpha val="100000"/>
                </a:srgbClr>
              </a:gs>
              <a:gs pos="100000">
                <a:srgbClr val="002060"/>
              </a:gs>
            </a:gsLst>
            <a:lin ang="0" scaled="0"/>
          </a:gradFill>
          <a:ln cap="rnd">
            <a:noFill/>
            <a:prstDash val="solid"/>
            <a:round/>
          </a:ln>
        </p:spPr>
        <p:txBody>
          <a:bodyPr/>
          <a:lstStyle/>
          <a:p>
            <a:endParaRPr lang="en-US" sz="2000" dirty="0"/>
          </a:p>
        </p:txBody>
      </p:sp>
      <p:grpSp>
        <p:nvGrpSpPr>
          <p:cNvPr id="18" name="Group 8"/>
          <p:cNvGrpSpPr/>
          <p:nvPr/>
        </p:nvGrpSpPr>
        <p:grpSpPr>
          <a:xfrm>
            <a:off x="11723750" y="1799673"/>
            <a:ext cx="5679812" cy="7474054"/>
            <a:chOff x="0" y="0"/>
            <a:chExt cx="809471" cy="1245295"/>
          </a:xfrm>
        </p:grpSpPr>
        <p:sp>
          <p:nvSpPr>
            <p:cNvPr id="19" name="Freeform 9"/>
            <p:cNvSpPr/>
            <p:nvPr/>
          </p:nvSpPr>
          <p:spPr>
            <a:xfrm>
              <a:off x="0" y="0"/>
              <a:ext cx="809471" cy="1245295"/>
            </a:xfrm>
            <a:custGeom>
              <a:avLst/>
              <a:gdLst/>
              <a:ahLst/>
              <a:cxnLst/>
              <a:rect l="l" t="t" r="r" b="b"/>
              <a:pathLst>
                <a:path w="809471" h="1245295">
                  <a:moveTo>
                    <a:pt x="87423" y="0"/>
                  </a:moveTo>
                  <a:lnTo>
                    <a:pt x="722048" y="0"/>
                  </a:lnTo>
                  <a:cubicBezTo>
                    <a:pt x="770330" y="0"/>
                    <a:pt x="809471" y="39140"/>
                    <a:pt x="809471" y="87423"/>
                  </a:cubicBezTo>
                  <a:lnTo>
                    <a:pt x="809471" y="1157873"/>
                  </a:lnTo>
                  <a:cubicBezTo>
                    <a:pt x="809471" y="1181059"/>
                    <a:pt x="800260" y="1203295"/>
                    <a:pt x="783865" y="1219690"/>
                  </a:cubicBezTo>
                  <a:cubicBezTo>
                    <a:pt x="767470" y="1236085"/>
                    <a:pt x="745234" y="1245295"/>
                    <a:pt x="722048" y="1245295"/>
                  </a:cubicBezTo>
                  <a:lnTo>
                    <a:pt x="87423" y="1245295"/>
                  </a:lnTo>
                  <a:cubicBezTo>
                    <a:pt x="64237" y="1245295"/>
                    <a:pt x="42000" y="1236085"/>
                    <a:pt x="25606" y="1219690"/>
                  </a:cubicBezTo>
                  <a:cubicBezTo>
                    <a:pt x="9211" y="1203295"/>
                    <a:pt x="0" y="1181059"/>
                    <a:pt x="0" y="1157873"/>
                  </a:cubicBezTo>
                  <a:lnTo>
                    <a:pt x="0" y="87423"/>
                  </a:lnTo>
                  <a:cubicBezTo>
                    <a:pt x="0" y="64237"/>
                    <a:pt x="9211" y="42000"/>
                    <a:pt x="25606" y="25606"/>
                  </a:cubicBezTo>
                  <a:cubicBezTo>
                    <a:pt x="42000" y="9211"/>
                    <a:pt x="64237" y="0"/>
                    <a:pt x="87423" y="0"/>
                  </a:cubicBezTo>
                  <a:close/>
                </a:path>
              </a:pathLst>
            </a:custGeom>
            <a:blipFill>
              <a:blip r:embed="rId3"/>
              <a:stretch>
                <a:fillRect l="-108115" r="-22645"/>
              </a:stretch>
            </a:blipFill>
          </p:spPr>
        </p:sp>
      </p:grpSp>
      <p:grpSp>
        <p:nvGrpSpPr>
          <p:cNvPr id="82" name="Group 81">
            <a:extLst>
              <a:ext uri="{FF2B5EF4-FFF2-40B4-BE49-F238E27FC236}">
                <a16:creationId xmlns:a16="http://schemas.microsoft.com/office/drawing/2014/main" id="{46B4185E-DAF0-74FB-746C-3A5721879DC3}"/>
              </a:ext>
            </a:extLst>
          </p:cNvPr>
          <p:cNvGrpSpPr/>
          <p:nvPr/>
        </p:nvGrpSpPr>
        <p:grpSpPr>
          <a:xfrm>
            <a:off x="1371600" y="715376"/>
            <a:ext cx="2818520" cy="694324"/>
            <a:chOff x="1371600" y="715376"/>
            <a:chExt cx="2818520" cy="694324"/>
          </a:xfrm>
        </p:grpSpPr>
        <p:sp>
          <p:nvSpPr>
            <p:cNvPr id="30" name="Freeform 6">
              <a:extLst>
                <a:ext uri="{FF2B5EF4-FFF2-40B4-BE49-F238E27FC236}">
                  <a16:creationId xmlns:a16="http://schemas.microsoft.com/office/drawing/2014/main" id="{04F50B4D-39D6-32F3-CF5D-8BFE6A6AAD29}"/>
                </a:ext>
              </a:extLst>
            </p:cNvPr>
            <p:cNvSpPr/>
            <p:nvPr/>
          </p:nvSpPr>
          <p:spPr>
            <a:xfrm>
              <a:off x="1371600" y="715376"/>
              <a:ext cx="2818520" cy="694324"/>
            </a:xfrm>
            <a:custGeom>
              <a:avLst/>
              <a:gdLst/>
              <a:ahLst/>
              <a:cxnLst/>
              <a:rect l="l" t="t" r="r" b="b"/>
              <a:pathLst>
                <a:path w="812800" h="200228">
                  <a:moveTo>
                    <a:pt x="68670" y="0"/>
                  </a:moveTo>
                  <a:lnTo>
                    <a:pt x="744130" y="0"/>
                  </a:lnTo>
                  <a:cubicBezTo>
                    <a:pt x="782055" y="0"/>
                    <a:pt x="812800" y="30745"/>
                    <a:pt x="812800" y="68670"/>
                  </a:cubicBezTo>
                  <a:lnTo>
                    <a:pt x="812800" y="131558"/>
                  </a:lnTo>
                  <a:cubicBezTo>
                    <a:pt x="812800" y="169483"/>
                    <a:pt x="782055" y="200228"/>
                    <a:pt x="744130" y="200228"/>
                  </a:cubicBezTo>
                  <a:lnTo>
                    <a:pt x="68670" y="200228"/>
                  </a:lnTo>
                  <a:cubicBezTo>
                    <a:pt x="30745" y="200228"/>
                    <a:pt x="0" y="169483"/>
                    <a:pt x="0" y="131558"/>
                  </a:cubicBezTo>
                  <a:lnTo>
                    <a:pt x="0" y="68670"/>
                  </a:lnTo>
                  <a:cubicBezTo>
                    <a:pt x="0" y="30745"/>
                    <a:pt x="30745" y="0"/>
                    <a:pt x="68670" y="0"/>
                  </a:cubicBezTo>
                  <a:close/>
                </a:path>
              </a:pathLst>
            </a:custGeom>
            <a:solidFill>
              <a:srgbClr val="000000">
                <a:alpha val="0"/>
              </a:srgbClr>
            </a:solidFill>
            <a:ln w="19050" cap="rnd">
              <a:solidFill>
                <a:srgbClr val="BB3DAE"/>
              </a:solidFill>
              <a:prstDash val="solid"/>
              <a:round/>
            </a:ln>
          </p:spPr>
          <p:txBody>
            <a:bodyPr/>
            <a:lstStyle/>
            <a:p>
              <a:endParaRPr lang="en-US" dirty="0"/>
            </a:p>
          </p:txBody>
        </p:sp>
        <p:sp>
          <p:nvSpPr>
            <p:cNvPr id="31" name="Freeform 8">
              <a:extLst>
                <a:ext uri="{FF2B5EF4-FFF2-40B4-BE49-F238E27FC236}">
                  <a16:creationId xmlns:a16="http://schemas.microsoft.com/office/drawing/2014/main" id="{7403168E-E4EE-22A8-1558-33FAB6313EA9}"/>
                </a:ext>
              </a:extLst>
            </p:cNvPr>
            <p:cNvSpPr/>
            <p:nvPr/>
          </p:nvSpPr>
          <p:spPr>
            <a:xfrm>
              <a:off x="3625025" y="875240"/>
              <a:ext cx="374595" cy="374595"/>
            </a:xfrm>
            <a:custGeom>
              <a:avLst/>
              <a:gdLst/>
              <a:ahLst/>
              <a:cxnLst/>
              <a:rect l="l" t="t" r="r" b="b"/>
              <a:pathLst>
                <a:path w="374595" h="374595">
                  <a:moveTo>
                    <a:pt x="0" y="0"/>
                  </a:moveTo>
                  <a:lnTo>
                    <a:pt x="374595" y="0"/>
                  </a:lnTo>
                  <a:lnTo>
                    <a:pt x="374595" y="374596"/>
                  </a:lnTo>
                  <a:lnTo>
                    <a:pt x="0" y="37459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32" name="TextBox 33">
              <a:extLst>
                <a:ext uri="{FF2B5EF4-FFF2-40B4-BE49-F238E27FC236}">
                  <a16:creationId xmlns:a16="http://schemas.microsoft.com/office/drawing/2014/main" id="{0520C157-4A75-7E0E-1BDD-F52426D167A2}"/>
                </a:ext>
              </a:extLst>
            </p:cNvPr>
            <p:cNvSpPr txBox="1"/>
            <p:nvPr/>
          </p:nvSpPr>
          <p:spPr>
            <a:xfrm>
              <a:off x="1846655" y="790968"/>
              <a:ext cx="1825995" cy="398827"/>
            </a:xfrm>
            <a:prstGeom prst="rect">
              <a:avLst/>
            </a:prstGeom>
          </p:spPr>
          <p:txBody>
            <a:bodyPr lIns="0" tIns="0" rIns="0" bIns="0" rtlCol="0" anchor="t">
              <a:spAutoFit/>
            </a:bodyPr>
            <a:lstStyle/>
            <a:p>
              <a:pPr>
                <a:lnSpc>
                  <a:spcPts val="3400"/>
                </a:lnSpc>
              </a:pPr>
              <a:r>
                <a:rPr lang="en-US" sz="2000" dirty="0">
                  <a:solidFill>
                    <a:schemeClr val="bg1"/>
                  </a:solidFill>
                  <a:latin typeface="Poppins"/>
                  <a:ea typeface="Poppins"/>
                  <a:cs typeface="Poppins"/>
                  <a:sym typeface="Poppins"/>
                  <a:hlinkClick r:id="rId6">
                    <a:extLst>
                      <a:ext uri="{A12FA001-AC4F-418D-AE19-62706E023703}">
                        <ahyp:hlinkClr xmlns:ahyp="http://schemas.microsoft.com/office/drawing/2018/hyperlinkcolor" val="tx"/>
                      </a:ext>
                    </a:extLst>
                  </a:hlinkClick>
                </a:rPr>
                <a:t>Live Demo</a:t>
              </a:r>
              <a:endParaRPr lang="en-US" sz="2000" dirty="0">
                <a:solidFill>
                  <a:schemeClr val="bg1"/>
                </a:solidFill>
                <a:latin typeface="Poppins"/>
                <a:ea typeface="Poppins"/>
                <a:cs typeface="Poppins"/>
                <a:sym typeface="Poppins"/>
              </a:endParaRPr>
            </a:p>
          </p:txBody>
        </p:sp>
      </p:grpSp>
      <p:sp>
        <p:nvSpPr>
          <p:cNvPr id="33" name="TextBox 4">
            <a:extLst>
              <a:ext uri="{FF2B5EF4-FFF2-40B4-BE49-F238E27FC236}">
                <a16:creationId xmlns:a16="http://schemas.microsoft.com/office/drawing/2014/main" id="{5C762AE0-C11E-06BB-D93F-EF4C3E81A58B}"/>
              </a:ext>
            </a:extLst>
          </p:cNvPr>
          <p:cNvSpPr txBox="1"/>
          <p:nvPr/>
        </p:nvSpPr>
        <p:spPr>
          <a:xfrm rot="16200000">
            <a:off x="129306" y="8890751"/>
            <a:ext cx="1078468" cy="218008"/>
          </a:xfrm>
          <a:prstGeom prst="rect">
            <a:avLst/>
          </a:prstGeom>
        </p:spPr>
        <p:txBody>
          <a:bodyPr lIns="0" tIns="0" rIns="0" bIns="0" rtlCol="0" anchor="t">
            <a:spAutoFit/>
          </a:bodyPr>
          <a:lstStyle/>
          <a:p>
            <a:pPr algn="ctr">
              <a:lnSpc>
                <a:spcPts val="1725"/>
              </a:lnSpc>
              <a:spcBef>
                <a:spcPct val="0"/>
              </a:spcBef>
            </a:pPr>
            <a:r>
              <a:rPr lang="en-US" sz="1658" dirty="0">
                <a:solidFill>
                  <a:srgbClr val="FFFFFF"/>
                </a:solidFill>
                <a:latin typeface="Raleway"/>
                <a:ea typeface="Raleway"/>
                <a:cs typeface="Raleway"/>
                <a:sym typeface="Raleway"/>
              </a:rPr>
              <a:t>Page  11</a:t>
            </a:r>
          </a:p>
        </p:txBody>
      </p:sp>
      <p:sp>
        <p:nvSpPr>
          <p:cNvPr id="36" name="TextBox 25">
            <a:extLst>
              <a:ext uri="{FF2B5EF4-FFF2-40B4-BE49-F238E27FC236}">
                <a16:creationId xmlns:a16="http://schemas.microsoft.com/office/drawing/2014/main" id="{EE583401-71D5-3551-4A4D-C7AF586480D0}"/>
              </a:ext>
            </a:extLst>
          </p:cNvPr>
          <p:cNvSpPr txBox="1"/>
          <p:nvPr/>
        </p:nvSpPr>
        <p:spPr>
          <a:xfrm>
            <a:off x="216110" y="1631576"/>
            <a:ext cx="1827704" cy="690508"/>
          </a:xfrm>
          <a:prstGeom prst="rect">
            <a:avLst/>
          </a:prstGeom>
        </p:spPr>
        <p:txBody>
          <a:bodyPr lIns="50800" tIns="50800" rIns="50800" bIns="50800" rtlCol="0" anchor="ctr"/>
          <a:lstStyle/>
          <a:p>
            <a:pPr algn="ctr">
              <a:lnSpc>
                <a:spcPts val="2661"/>
              </a:lnSpc>
            </a:pPr>
            <a:endParaRPr/>
          </a:p>
        </p:txBody>
      </p:sp>
      <p:sp>
        <p:nvSpPr>
          <p:cNvPr id="37" name="TextBox 8">
            <a:extLst>
              <a:ext uri="{FF2B5EF4-FFF2-40B4-BE49-F238E27FC236}">
                <a16:creationId xmlns:a16="http://schemas.microsoft.com/office/drawing/2014/main" id="{1040254E-B9EF-7699-4B0D-7E47EC8C15D9}"/>
              </a:ext>
            </a:extLst>
          </p:cNvPr>
          <p:cNvSpPr txBox="1"/>
          <p:nvPr/>
        </p:nvSpPr>
        <p:spPr>
          <a:xfrm>
            <a:off x="15309115" y="9665540"/>
            <a:ext cx="1716617" cy="277925"/>
          </a:xfrm>
          <a:prstGeom prst="rect">
            <a:avLst/>
          </a:prstGeom>
        </p:spPr>
        <p:txBody>
          <a:bodyPr lIns="0" tIns="0" rIns="0" bIns="0" rtlCol="0" anchor="t">
            <a:spAutoFit/>
          </a:bodyPr>
          <a:lstStyle/>
          <a:p>
            <a:pPr algn="l">
              <a:lnSpc>
                <a:spcPts val="2037"/>
              </a:lnSpc>
              <a:spcBef>
                <a:spcPct val="0"/>
              </a:spcBef>
            </a:pPr>
            <a:r>
              <a:rPr lang="en-US" sz="1958">
                <a:solidFill>
                  <a:srgbClr val="FFFFFF"/>
                </a:solidFill>
                <a:latin typeface="Raleway"/>
                <a:ea typeface="Raleway"/>
                <a:cs typeface="Raleway"/>
                <a:sym typeface="Raleway"/>
              </a:rPr>
              <a:t>Next Slide</a:t>
            </a:r>
          </a:p>
        </p:txBody>
      </p:sp>
      <p:sp>
        <p:nvSpPr>
          <p:cNvPr id="38" name="Freeform 9">
            <a:extLst>
              <a:ext uri="{FF2B5EF4-FFF2-40B4-BE49-F238E27FC236}">
                <a16:creationId xmlns:a16="http://schemas.microsoft.com/office/drawing/2014/main" id="{C8F7E24E-A7F7-7DFB-551F-17E5F315BA37}"/>
              </a:ext>
            </a:extLst>
          </p:cNvPr>
          <p:cNvSpPr/>
          <p:nvPr/>
        </p:nvSpPr>
        <p:spPr>
          <a:xfrm flipH="1">
            <a:off x="16998830" y="9602001"/>
            <a:ext cx="416017" cy="418299"/>
          </a:xfrm>
          <a:custGeom>
            <a:avLst/>
            <a:gdLst/>
            <a:ahLst/>
            <a:cxnLst/>
            <a:rect l="l" t="t" r="r" b="b"/>
            <a:pathLst>
              <a:path w="416017" h="418299">
                <a:moveTo>
                  <a:pt x="416017" y="0"/>
                </a:moveTo>
                <a:lnTo>
                  <a:pt x="0" y="0"/>
                </a:lnTo>
                <a:lnTo>
                  <a:pt x="0" y="418299"/>
                </a:lnTo>
                <a:lnTo>
                  <a:pt x="416017" y="418299"/>
                </a:lnTo>
                <a:lnTo>
                  <a:pt x="416017" y="0"/>
                </a:lnTo>
                <a:close/>
              </a:path>
            </a:pathLst>
          </a:custGeom>
          <a:blipFill>
            <a:blip r:embed="rId7">
              <a:extLst>
                <a:ext uri="{96DAC541-7B7A-43D3-8B79-37D633B846F1}">
                  <asvg:svgBlip xmlns:asvg="http://schemas.microsoft.com/office/drawing/2016/SVG/main" r:embed="rId8"/>
                </a:ext>
              </a:extLst>
            </a:blip>
            <a:stretch>
              <a:fillRect/>
            </a:stretch>
          </a:blipFill>
        </p:spPr>
      </p:sp>
      <p:grpSp>
        <p:nvGrpSpPr>
          <p:cNvPr id="40" name="Group 4">
            <a:extLst>
              <a:ext uri="{FF2B5EF4-FFF2-40B4-BE49-F238E27FC236}">
                <a16:creationId xmlns:a16="http://schemas.microsoft.com/office/drawing/2014/main" id="{6D5FABC4-0489-6599-00AD-E867C8A5036C}"/>
              </a:ext>
            </a:extLst>
          </p:cNvPr>
          <p:cNvGrpSpPr/>
          <p:nvPr/>
        </p:nvGrpSpPr>
        <p:grpSpPr>
          <a:xfrm>
            <a:off x="990600" y="1546320"/>
            <a:ext cx="10284037" cy="7980760"/>
            <a:chOff x="0" y="0"/>
            <a:chExt cx="2708553" cy="2101929"/>
          </a:xfrm>
        </p:grpSpPr>
        <p:sp>
          <p:nvSpPr>
            <p:cNvPr id="43" name="Freeform 5">
              <a:extLst>
                <a:ext uri="{FF2B5EF4-FFF2-40B4-BE49-F238E27FC236}">
                  <a16:creationId xmlns:a16="http://schemas.microsoft.com/office/drawing/2014/main" id="{C4A27B08-2FDF-EE91-1227-3BF6AA42B498}"/>
                </a:ext>
              </a:extLst>
            </p:cNvPr>
            <p:cNvSpPr/>
            <p:nvPr/>
          </p:nvSpPr>
          <p:spPr>
            <a:xfrm>
              <a:off x="0" y="0"/>
              <a:ext cx="2708553" cy="2101929"/>
            </a:xfrm>
            <a:custGeom>
              <a:avLst/>
              <a:gdLst/>
              <a:ahLst/>
              <a:cxnLst/>
              <a:rect l="l" t="t" r="r" b="b"/>
              <a:pathLst>
                <a:path w="2708553" h="2101929">
                  <a:moveTo>
                    <a:pt x="15056" y="0"/>
                  </a:moveTo>
                  <a:lnTo>
                    <a:pt x="2693497" y="0"/>
                  </a:lnTo>
                  <a:cubicBezTo>
                    <a:pt x="2701812" y="0"/>
                    <a:pt x="2708553" y="6741"/>
                    <a:pt x="2708553" y="15056"/>
                  </a:cubicBezTo>
                  <a:lnTo>
                    <a:pt x="2708553" y="2086872"/>
                  </a:lnTo>
                  <a:cubicBezTo>
                    <a:pt x="2708553" y="2090866"/>
                    <a:pt x="2706967" y="2094695"/>
                    <a:pt x="2704143" y="2097519"/>
                  </a:cubicBezTo>
                  <a:cubicBezTo>
                    <a:pt x="2701320" y="2100342"/>
                    <a:pt x="2697490" y="2101929"/>
                    <a:pt x="2693497" y="2101929"/>
                  </a:cubicBezTo>
                  <a:lnTo>
                    <a:pt x="15056" y="2101929"/>
                  </a:lnTo>
                  <a:cubicBezTo>
                    <a:pt x="6741" y="2101929"/>
                    <a:pt x="0" y="2095188"/>
                    <a:pt x="0" y="2086872"/>
                  </a:cubicBezTo>
                  <a:lnTo>
                    <a:pt x="0" y="15056"/>
                  </a:lnTo>
                  <a:cubicBezTo>
                    <a:pt x="0" y="11063"/>
                    <a:pt x="1586" y="7233"/>
                    <a:pt x="4410" y="4410"/>
                  </a:cubicBezTo>
                  <a:cubicBezTo>
                    <a:pt x="7233" y="1586"/>
                    <a:pt x="11063" y="0"/>
                    <a:pt x="15056" y="0"/>
                  </a:cubicBezTo>
                  <a:close/>
                </a:path>
              </a:pathLst>
            </a:custGeom>
            <a:solidFill>
              <a:srgbClr val="04001E">
                <a:alpha val="32000"/>
              </a:srgbClr>
            </a:solidFill>
            <a:ln w="38100" cap="sq">
              <a:solidFill>
                <a:srgbClr val="E5E1DA"/>
              </a:solidFill>
              <a:prstDash val="solid"/>
              <a:miter/>
            </a:ln>
          </p:spPr>
          <p:txBody>
            <a:bodyPr/>
            <a:lstStyle/>
            <a:p>
              <a:endParaRPr lang="en-US"/>
            </a:p>
          </p:txBody>
        </p:sp>
        <p:sp>
          <p:nvSpPr>
            <p:cNvPr id="44" name="TextBox 6">
              <a:extLst>
                <a:ext uri="{FF2B5EF4-FFF2-40B4-BE49-F238E27FC236}">
                  <a16:creationId xmlns:a16="http://schemas.microsoft.com/office/drawing/2014/main" id="{B5D2E8E0-12F5-65F4-4EA2-380A0FAF6730}"/>
                </a:ext>
              </a:extLst>
            </p:cNvPr>
            <p:cNvSpPr txBox="1"/>
            <p:nvPr/>
          </p:nvSpPr>
          <p:spPr>
            <a:xfrm>
              <a:off x="0" y="-38100"/>
              <a:ext cx="2708553" cy="2140029"/>
            </a:xfrm>
            <a:prstGeom prst="rect">
              <a:avLst/>
            </a:prstGeom>
          </p:spPr>
          <p:txBody>
            <a:bodyPr lIns="50800" tIns="50800" rIns="50800" bIns="50800" rtlCol="0" anchor="ctr"/>
            <a:lstStyle/>
            <a:p>
              <a:pPr algn="ctr">
                <a:lnSpc>
                  <a:spcPts val="2659"/>
                </a:lnSpc>
              </a:pPr>
              <a:endParaRPr/>
            </a:p>
          </p:txBody>
        </p:sp>
      </p:grpSp>
      <p:grpSp>
        <p:nvGrpSpPr>
          <p:cNvPr id="68" name="Group 2">
            <a:extLst>
              <a:ext uri="{FF2B5EF4-FFF2-40B4-BE49-F238E27FC236}">
                <a16:creationId xmlns:a16="http://schemas.microsoft.com/office/drawing/2014/main" id="{A36E703D-DC62-87EF-56C8-F5028CD6B8E5}"/>
              </a:ext>
            </a:extLst>
          </p:cNvPr>
          <p:cNvGrpSpPr/>
          <p:nvPr/>
        </p:nvGrpSpPr>
        <p:grpSpPr>
          <a:xfrm>
            <a:off x="1764807" y="3848100"/>
            <a:ext cx="1414095" cy="1308560"/>
            <a:chOff x="0" y="0"/>
            <a:chExt cx="576559" cy="533530"/>
          </a:xfrm>
        </p:grpSpPr>
        <p:sp>
          <p:nvSpPr>
            <p:cNvPr id="69" name="Freeform 3">
              <a:extLst>
                <a:ext uri="{FF2B5EF4-FFF2-40B4-BE49-F238E27FC236}">
                  <a16:creationId xmlns:a16="http://schemas.microsoft.com/office/drawing/2014/main" id="{C14FCEFD-4DDB-6940-EFCC-EDF47C25AF05}"/>
                </a:ext>
              </a:extLst>
            </p:cNvPr>
            <p:cNvSpPr/>
            <p:nvPr/>
          </p:nvSpPr>
          <p:spPr>
            <a:xfrm>
              <a:off x="0" y="0"/>
              <a:ext cx="576559" cy="533530"/>
            </a:xfrm>
            <a:custGeom>
              <a:avLst/>
              <a:gdLst/>
              <a:ahLst/>
              <a:cxnLst/>
              <a:rect l="l" t="t" r="r" b="b"/>
              <a:pathLst>
                <a:path w="576559" h="533530">
                  <a:moveTo>
                    <a:pt x="158770" y="0"/>
                  </a:moveTo>
                  <a:lnTo>
                    <a:pt x="417789" y="0"/>
                  </a:lnTo>
                  <a:cubicBezTo>
                    <a:pt x="505475" y="0"/>
                    <a:pt x="576559" y="71084"/>
                    <a:pt x="576559" y="158770"/>
                  </a:cubicBezTo>
                  <a:lnTo>
                    <a:pt x="576559" y="374760"/>
                  </a:lnTo>
                  <a:cubicBezTo>
                    <a:pt x="576559" y="462446"/>
                    <a:pt x="505475" y="533530"/>
                    <a:pt x="417789" y="533530"/>
                  </a:cubicBezTo>
                  <a:lnTo>
                    <a:pt x="158770" y="533530"/>
                  </a:lnTo>
                  <a:cubicBezTo>
                    <a:pt x="71084" y="533530"/>
                    <a:pt x="0" y="462446"/>
                    <a:pt x="0" y="374760"/>
                  </a:cubicBezTo>
                  <a:lnTo>
                    <a:pt x="0" y="158770"/>
                  </a:lnTo>
                  <a:cubicBezTo>
                    <a:pt x="0" y="71084"/>
                    <a:pt x="71084" y="0"/>
                    <a:pt x="158770" y="0"/>
                  </a:cubicBezTo>
                  <a:close/>
                </a:path>
              </a:pathLst>
            </a:custGeom>
            <a:gradFill rotWithShape="1">
              <a:gsLst>
                <a:gs pos="0">
                  <a:srgbClr val="000000">
                    <a:alpha val="100000"/>
                  </a:srgbClr>
                </a:gs>
                <a:gs pos="50000">
                  <a:srgbClr val="32032F">
                    <a:alpha val="100000"/>
                  </a:srgbClr>
                </a:gs>
                <a:gs pos="100000">
                  <a:srgbClr val="911896">
                    <a:alpha val="100000"/>
                  </a:srgbClr>
                </a:gs>
              </a:gsLst>
              <a:path path="circle">
                <a:fillToRect r="100000" b="100000"/>
              </a:path>
              <a:tileRect l="-100000" t="-100000"/>
            </a:gradFill>
            <a:ln cap="rnd">
              <a:noFill/>
              <a:prstDash val="solid"/>
              <a:round/>
            </a:ln>
          </p:spPr>
        </p:sp>
        <p:sp>
          <p:nvSpPr>
            <p:cNvPr id="70" name="TextBox 4">
              <a:extLst>
                <a:ext uri="{FF2B5EF4-FFF2-40B4-BE49-F238E27FC236}">
                  <a16:creationId xmlns:a16="http://schemas.microsoft.com/office/drawing/2014/main" id="{AF95C18E-698D-382C-D74E-73FEE33ABB25}"/>
                </a:ext>
              </a:extLst>
            </p:cNvPr>
            <p:cNvSpPr txBox="1"/>
            <p:nvPr/>
          </p:nvSpPr>
          <p:spPr>
            <a:xfrm>
              <a:off x="0" y="-57150"/>
              <a:ext cx="576559" cy="590680"/>
            </a:xfrm>
            <a:prstGeom prst="rect">
              <a:avLst/>
            </a:prstGeom>
          </p:spPr>
          <p:txBody>
            <a:bodyPr lIns="50800" tIns="50800" rIns="50800" bIns="50800" rtlCol="0" anchor="ctr"/>
            <a:lstStyle/>
            <a:p>
              <a:pPr marL="0" lvl="0" indent="0" algn="ctr">
                <a:lnSpc>
                  <a:spcPts val="3727"/>
                </a:lnSpc>
                <a:spcBef>
                  <a:spcPct val="0"/>
                </a:spcBef>
              </a:pPr>
              <a:endParaRPr>
                <a:solidFill>
                  <a:schemeClr val="bg1"/>
                </a:solidFill>
              </a:endParaRPr>
            </a:p>
          </p:txBody>
        </p:sp>
      </p:grpSp>
      <p:grpSp>
        <p:nvGrpSpPr>
          <p:cNvPr id="71" name="Group 5">
            <a:extLst>
              <a:ext uri="{FF2B5EF4-FFF2-40B4-BE49-F238E27FC236}">
                <a16:creationId xmlns:a16="http://schemas.microsoft.com/office/drawing/2014/main" id="{394A7D0D-D61E-982D-5EE6-9488E37DCBDF}"/>
              </a:ext>
            </a:extLst>
          </p:cNvPr>
          <p:cNvGrpSpPr/>
          <p:nvPr/>
        </p:nvGrpSpPr>
        <p:grpSpPr>
          <a:xfrm>
            <a:off x="1764807" y="6782665"/>
            <a:ext cx="1414095" cy="1308560"/>
            <a:chOff x="0" y="0"/>
            <a:chExt cx="576559" cy="533530"/>
          </a:xfrm>
        </p:grpSpPr>
        <p:sp>
          <p:nvSpPr>
            <p:cNvPr id="72" name="Freeform 6">
              <a:extLst>
                <a:ext uri="{FF2B5EF4-FFF2-40B4-BE49-F238E27FC236}">
                  <a16:creationId xmlns:a16="http://schemas.microsoft.com/office/drawing/2014/main" id="{5EA2C336-4479-8845-B2E9-E8CF92C5EF76}"/>
                </a:ext>
              </a:extLst>
            </p:cNvPr>
            <p:cNvSpPr/>
            <p:nvPr/>
          </p:nvSpPr>
          <p:spPr>
            <a:xfrm>
              <a:off x="0" y="0"/>
              <a:ext cx="576559" cy="533530"/>
            </a:xfrm>
            <a:custGeom>
              <a:avLst/>
              <a:gdLst/>
              <a:ahLst/>
              <a:cxnLst/>
              <a:rect l="l" t="t" r="r" b="b"/>
              <a:pathLst>
                <a:path w="576559" h="533530">
                  <a:moveTo>
                    <a:pt x="158770" y="0"/>
                  </a:moveTo>
                  <a:lnTo>
                    <a:pt x="417789" y="0"/>
                  </a:lnTo>
                  <a:cubicBezTo>
                    <a:pt x="505475" y="0"/>
                    <a:pt x="576559" y="71084"/>
                    <a:pt x="576559" y="158770"/>
                  </a:cubicBezTo>
                  <a:lnTo>
                    <a:pt x="576559" y="374760"/>
                  </a:lnTo>
                  <a:cubicBezTo>
                    <a:pt x="576559" y="462446"/>
                    <a:pt x="505475" y="533530"/>
                    <a:pt x="417789" y="533530"/>
                  </a:cubicBezTo>
                  <a:lnTo>
                    <a:pt x="158770" y="533530"/>
                  </a:lnTo>
                  <a:cubicBezTo>
                    <a:pt x="71084" y="533530"/>
                    <a:pt x="0" y="462446"/>
                    <a:pt x="0" y="374760"/>
                  </a:cubicBezTo>
                  <a:lnTo>
                    <a:pt x="0" y="158770"/>
                  </a:lnTo>
                  <a:cubicBezTo>
                    <a:pt x="0" y="71084"/>
                    <a:pt x="71084" y="0"/>
                    <a:pt x="158770" y="0"/>
                  </a:cubicBezTo>
                  <a:close/>
                </a:path>
              </a:pathLst>
            </a:custGeom>
            <a:gradFill rotWithShape="1">
              <a:gsLst>
                <a:gs pos="0">
                  <a:srgbClr val="000000">
                    <a:alpha val="100000"/>
                  </a:srgbClr>
                </a:gs>
                <a:gs pos="50000">
                  <a:srgbClr val="32032F">
                    <a:alpha val="100000"/>
                  </a:srgbClr>
                </a:gs>
                <a:gs pos="100000">
                  <a:srgbClr val="911896">
                    <a:alpha val="100000"/>
                  </a:srgbClr>
                </a:gs>
              </a:gsLst>
              <a:path path="circle">
                <a:fillToRect r="100000" b="100000"/>
              </a:path>
              <a:tileRect l="-100000" t="-100000"/>
            </a:gradFill>
            <a:ln cap="rnd">
              <a:noFill/>
              <a:prstDash val="solid"/>
              <a:round/>
            </a:ln>
          </p:spPr>
        </p:sp>
        <p:sp>
          <p:nvSpPr>
            <p:cNvPr id="73" name="TextBox 7">
              <a:extLst>
                <a:ext uri="{FF2B5EF4-FFF2-40B4-BE49-F238E27FC236}">
                  <a16:creationId xmlns:a16="http://schemas.microsoft.com/office/drawing/2014/main" id="{F8CAD675-7584-FC88-5398-8DFB818B45DF}"/>
                </a:ext>
              </a:extLst>
            </p:cNvPr>
            <p:cNvSpPr txBox="1"/>
            <p:nvPr/>
          </p:nvSpPr>
          <p:spPr>
            <a:xfrm>
              <a:off x="0" y="-57150"/>
              <a:ext cx="576559" cy="590680"/>
            </a:xfrm>
            <a:prstGeom prst="rect">
              <a:avLst/>
            </a:prstGeom>
          </p:spPr>
          <p:txBody>
            <a:bodyPr lIns="50800" tIns="50800" rIns="50800" bIns="50800" rtlCol="0" anchor="ctr"/>
            <a:lstStyle/>
            <a:p>
              <a:pPr marL="0" lvl="0" indent="0" algn="ctr">
                <a:lnSpc>
                  <a:spcPts val="3727"/>
                </a:lnSpc>
                <a:spcBef>
                  <a:spcPct val="0"/>
                </a:spcBef>
              </a:pPr>
              <a:endParaRPr>
                <a:solidFill>
                  <a:schemeClr val="bg1"/>
                </a:solidFill>
              </a:endParaRPr>
            </a:p>
          </p:txBody>
        </p:sp>
      </p:grpSp>
      <p:sp>
        <p:nvSpPr>
          <p:cNvPr id="74" name="TextBox 11">
            <a:extLst>
              <a:ext uri="{FF2B5EF4-FFF2-40B4-BE49-F238E27FC236}">
                <a16:creationId xmlns:a16="http://schemas.microsoft.com/office/drawing/2014/main" id="{5CCCF380-C053-1683-CCF9-DDB585C3E7FA}"/>
              </a:ext>
            </a:extLst>
          </p:cNvPr>
          <p:cNvSpPr txBox="1"/>
          <p:nvPr/>
        </p:nvSpPr>
        <p:spPr>
          <a:xfrm>
            <a:off x="3573335" y="3886200"/>
            <a:ext cx="3783457" cy="388311"/>
          </a:xfrm>
          <a:prstGeom prst="rect">
            <a:avLst/>
          </a:prstGeom>
        </p:spPr>
        <p:txBody>
          <a:bodyPr wrap="square" lIns="0" tIns="0" rIns="0" bIns="0" rtlCol="0" anchor="t">
            <a:spAutoFit/>
          </a:bodyPr>
          <a:lstStyle/>
          <a:p>
            <a:pPr algn="l">
              <a:lnSpc>
                <a:spcPts val="3007"/>
              </a:lnSpc>
            </a:pPr>
            <a:r>
              <a:rPr lang="en-US" sz="2800" dirty="0">
                <a:solidFill>
                  <a:schemeClr val="bg1"/>
                </a:solidFill>
                <a:latin typeface="Archivo Black"/>
                <a:ea typeface="Archivo Black"/>
                <a:cs typeface="Archivo Black"/>
                <a:sym typeface="Archivo Black"/>
              </a:rPr>
              <a:t>Recommendations </a:t>
            </a:r>
          </a:p>
        </p:txBody>
      </p:sp>
      <p:sp>
        <p:nvSpPr>
          <p:cNvPr id="75" name="TextBox 12">
            <a:extLst>
              <a:ext uri="{FF2B5EF4-FFF2-40B4-BE49-F238E27FC236}">
                <a16:creationId xmlns:a16="http://schemas.microsoft.com/office/drawing/2014/main" id="{95020C23-64A1-92AD-0797-04A66EF2E59E}"/>
              </a:ext>
            </a:extLst>
          </p:cNvPr>
          <p:cNvSpPr txBox="1"/>
          <p:nvPr/>
        </p:nvSpPr>
        <p:spPr>
          <a:xfrm>
            <a:off x="3573335" y="6820956"/>
            <a:ext cx="3783457" cy="388311"/>
          </a:xfrm>
          <a:prstGeom prst="rect">
            <a:avLst/>
          </a:prstGeom>
        </p:spPr>
        <p:txBody>
          <a:bodyPr wrap="square" lIns="0" tIns="0" rIns="0" bIns="0" rtlCol="0" anchor="t">
            <a:spAutoFit/>
          </a:bodyPr>
          <a:lstStyle/>
          <a:p>
            <a:pPr algn="l">
              <a:lnSpc>
                <a:spcPts val="3007"/>
              </a:lnSpc>
            </a:pPr>
            <a:r>
              <a:rPr lang="en-US" sz="2800" dirty="0">
                <a:solidFill>
                  <a:schemeClr val="bg1"/>
                </a:solidFill>
                <a:latin typeface="Archivo Black"/>
                <a:ea typeface="Archivo Black"/>
                <a:cs typeface="Archivo Black"/>
                <a:sym typeface="Archivo Black"/>
              </a:rPr>
              <a:t>Anomaly Audit</a:t>
            </a:r>
          </a:p>
        </p:txBody>
      </p:sp>
      <p:sp>
        <p:nvSpPr>
          <p:cNvPr id="76" name="Freeform 15">
            <a:extLst>
              <a:ext uri="{FF2B5EF4-FFF2-40B4-BE49-F238E27FC236}">
                <a16:creationId xmlns:a16="http://schemas.microsoft.com/office/drawing/2014/main" id="{7B5C9C46-B045-F2B7-309D-9C728183ACA7}"/>
              </a:ext>
            </a:extLst>
          </p:cNvPr>
          <p:cNvSpPr/>
          <p:nvPr/>
        </p:nvSpPr>
        <p:spPr>
          <a:xfrm>
            <a:off x="2026670" y="4057195"/>
            <a:ext cx="890370" cy="890370"/>
          </a:xfrm>
          <a:custGeom>
            <a:avLst/>
            <a:gdLst/>
            <a:ahLst/>
            <a:cxnLst/>
            <a:rect l="l" t="t" r="r" b="b"/>
            <a:pathLst>
              <a:path w="890370" h="890370">
                <a:moveTo>
                  <a:pt x="0" y="0"/>
                </a:moveTo>
                <a:lnTo>
                  <a:pt x="890370" y="0"/>
                </a:lnTo>
                <a:lnTo>
                  <a:pt x="890370" y="890370"/>
                </a:lnTo>
                <a:lnTo>
                  <a:pt x="0" y="89037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7" name="Freeform 16">
            <a:extLst>
              <a:ext uri="{FF2B5EF4-FFF2-40B4-BE49-F238E27FC236}">
                <a16:creationId xmlns:a16="http://schemas.microsoft.com/office/drawing/2014/main" id="{781461A5-A454-B37A-0941-31E37F88C637}"/>
              </a:ext>
            </a:extLst>
          </p:cNvPr>
          <p:cNvSpPr/>
          <p:nvPr/>
        </p:nvSpPr>
        <p:spPr>
          <a:xfrm>
            <a:off x="2043814" y="6928473"/>
            <a:ext cx="856081" cy="1016943"/>
          </a:xfrm>
          <a:custGeom>
            <a:avLst/>
            <a:gdLst/>
            <a:ahLst/>
            <a:cxnLst/>
            <a:rect l="l" t="t" r="r" b="b"/>
            <a:pathLst>
              <a:path w="856081" h="1016943">
                <a:moveTo>
                  <a:pt x="0" y="0"/>
                </a:moveTo>
                <a:lnTo>
                  <a:pt x="856081" y="0"/>
                </a:lnTo>
                <a:lnTo>
                  <a:pt x="856081" y="1016943"/>
                </a:lnTo>
                <a:lnTo>
                  <a:pt x="0" y="1016943"/>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79" name="TextBox 13"/>
          <p:cNvSpPr txBox="1"/>
          <p:nvPr/>
        </p:nvSpPr>
        <p:spPr>
          <a:xfrm>
            <a:off x="3394392" y="4318549"/>
            <a:ext cx="6294385" cy="1107996"/>
          </a:xfrm>
          <a:prstGeom prst="rect">
            <a:avLst/>
          </a:prstGeom>
        </p:spPr>
        <p:txBody>
          <a:bodyPr wrap="square" lIns="0" tIns="0" rIns="0" bIns="0" rtlCol="0" anchor="t">
            <a:spAutoFit/>
          </a:bodyPr>
          <a:lstStyle/>
          <a:p>
            <a:pPr marL="342900" lvl="0" indent="-342900" algn="l">
              <a:spcBef>
                <a:spcPct val="0"/>
              </a:spcBef>
              <a:buFont typeface="Arial" panose="020B0604020202020204" pitchFamily="34" charset="0"/>
              <a:buChar char="•"/>
            </a:pPr>
            <a:r>
              <a:rPr lang="en-US" sz="2400" spc="-9" dirty="0">
                <a:solidFill>
                  <a:schemeClr val="bg1"/>
                </a:solidFill>
                <a:latin typeface="HK Grotesk"/>
                <a:ea typeface="HK Grotesk"/>
                <a:cs typeface="HK Grotesk"/>
                <a:sym typeface="HK Grotesk"/>
              </a:rPr>
              <a:t>Upload dataset or use sample</a:t>
            </a:r>
          </a:p>
          <a:p>
            <a:pPr marL="342900" lvl="0" indent="-342900" algn="l">
              <a:spcBef>
                <a:spcPct val="0"/>
              </a:spcBef>
              <a:buFont typeface="Arial" panose="020B0604020202020204" pitchFamily="34" charset="0"/>
              <a:buChar char="•"/>
            </a:pPr>
            <a:r>
              <a:rPr lang="en-US" sz="2400" spc="-9" dirty="0">
                <a:solidFill>
                  <a:schemeClr val="bg1"/>
                </a:solidFill>
                <a:latin typeface="HK Grotesk"/>
                <a:ea typeface="HK Grotesk"/>
                <a:cs typeface="HK Grotesk"/>
                <a:sym typeface="HK Grotesk"/>
              </a:rPr>
              <a:t>Pick user, adjust parameters</a:t>
            </a:r>
          </a:p>
          <a:p>
            <a:pPr marL="342900" lvl="0" indent="-342900" algn="l">
              <a:spcBef>
                <a:spcPct val="0"/>
              </a:spcBef>
              <a:buFont typeface="Arial" panose="020B0604020202020204" pitchFamily="34" charset="0"/>
              <a:buChar char="•"/>
            </a:pPr>
            <a:r>
              <a:rPr lang="en-US" sz="2400" spc="-9" dirty="0">
                <a:solidFill>
                  <a:schemeClr val="bg1"/>
                </a:solidFill>
                <a:latin typeface="HK Grotesk"/>
                <a:ea typeface="HK Grotesk"/>
                <a:cs typeface="HK Grotesk"/>
                <a:sym typeface="HK Grotesk"/>
              </a:rPr>
              <a:t>Exclude anomalous users</a:t>
            </a:r>
          </a:p>
        </p:txBody>
      </p:sp>
      <p:sp>
        <p:nvSpPr>
          <p:cNvPr id="80" name="TextBox 14"/>
          <p:cNvSpPr txBox="1"/>
          <p:nvPr/>
        </p:nvSpPr>
        <p:spPr>
          <a:xfrm>
            <a:off x="3394392" y="7253114"/>
            <a:ext cx="6294385" cy="1107996"/>
          </a:xfrm>
          <a:prstGeom prst="rect">
            <a:avLst/>
          </a:prstGeom>
        </p:spPr>
        <p:txBody>
          <a:bodyPr wrap="square" lIns="0" tIns="0" rIns="0" bIns="0" rtlCol="0" anchor="t">
            <a:spAutoFit/>
          </a:bodyPr>
          <a:lstStyle/>
          <a:p>
            <a:pPr marL="342900" lvl="0" indent="-342900" algn="l">
              <a:spcBef>
                <a:spcPct val="0"/>
              </a:spcBef>
              <a:buFont typeface="Arial" panose="020B0604020202020204" pitchFamily="34" charset="0"/>
              <a:buChar char="•"/>
            </a:pPr>
            <a:r>
              <a:rPr lang="en-US" sz="2400" spc="-9" dirty="0">
                <a:solidFill>
                  <a:schemeClr val="bg1"/>
                </a:solidFill>
                <a:latin typeface="HK Grotesk"/>
                <a:ea typeface="HK Grotesk"/>
                <a:cs typeface="HK Grotesk"/>
                <a:sym typeface="HK Grotesk"/>
              </a:rPr>
              <a:t>Load user features</a:t>
            </a:r>
          </a:p>
          <a:p>
            <a:pPr marL="342900" lvl="0" indent="-342900" algn="l">
              <a:spcBef>
                <a:spcPct val="0"/>
              </a:spcBef>
              <a:buFont typeface="Arial" panose="020B0604020202020204" pitchFamily="34" charset="0"/>
              <a:buChar char="•"/>
            </a:pPr>
            <a:r>
              <a:rPr lang="en-US" sz="2400" spc="-9" dirty="0">
                <a:solidFill>
                  <a:schemeClr val="bg1"/>
                </a:solidFill>
                <a:latin typeface="HK Grotesk"/>
                <a:ea typeface="HK Grotesk"/>
                <a:cs typeface="HK Grotesk"/>
                <a:sym typeface="HK Grotesk"/>
              </a:rPr>
              <a:t>Run Isolation Forest</a:t>
            </a:r>
          </a:p>
          <a:p>
            <a:pPr marL="342900" lvl="0" indent="-342900" algn="l">
              <a:spcBef>
                <a:spcPct val="0"/>
              </a:spcBef>
              <a:buFont typeface="Arial" panose="020B0604020202020204" pitchFamily="34" charset="0"/>
              <a:buChar char="•"/>
            </a:pPr>
            <a:r>
              <a:rPr lang="en-US" sz="2400" spc="-9" dirty="0">
                <a:solidFill>
                  <a:schemeClr val="bg1"/>
                </a:solidFill>
                <a:latin typeface="HK Grotesk"/>
                <a:ea typeface="HK Grotesk"/>
                <a:cs typeface="HK Grotesk"/>
                <a:sym typeface="HK Grotesk"/>
              </a:rPr>
              <a:t>Download flagged users</a:t>
            </a:r>
          </a:p>
        </p:txBody>
      </p:sp>
      <p:sp>
        <p:nvSpPr>
          <p:cNvPr id="81" name="TextBox 8">
            <a:extLst>
              <a:ext uri="{FF2B5EF4-FFF2-40B4-BE49-F238E27FC236}">
                <a16:creationId xmlns:a16="http://schemas.microsoft.com/office/drawing/2014/main" id="{D2E5383C-8402-4DE9-7CDE-E30D8693D1BB}"/>
              </a:ext>
            </a:extLst>
          </p:cNvPr>
          <p:cNvSpPr txBox="1"/>
          <p:nvPr/>
        </p:nvSpPr>
        <p:spPr>
          <a:xfrm>
            <a:off x="990600" y="1978104"/>
            <a:ext cx="10210800" cy="1015663"/>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6600" b="1" dirty="0" err="1">
                <a:solidFill>
                  <a:srgbClr val="FFFFFF"/>
                </a:solidFill>
                <a:ea typeface="Archivo Black"/>
                <a:cs typeface="Archivo Black"/>
                <a:sym typeface="Archivo Black"/>
              </a:rPr>
              <a:t>Streamlit</a:t>
            </a:r>
            <a:r>
              <a:rPr lang="en-US" sz="6600" b="1" dirty="0">
                <a:solidFill>
                  <a:srgbClr val="FFFFFF"/>
                </a:solidFill>
                <a:ea typeface="Archivo Black"/>
                <a:cs typeface="Archivo Black"/>
                <a:sym typeface="Archivo Black"/>
              </a:rPr>
              <a:t> App Deployment</a:t>
            </a:r>
          </a:p>
        </p:txBody>
      </p:sp>
      <p:sp>
        <p:nvSpPr>
          <p:cNvPr id="83" name="Freeform 24">
            <a:extLst>
              <a:ext uri="{FF2B5EF4-FFF2-40B4-BE49-F238E27FC236}">
                <a16:creationId xmlns:a16="http://schemas.microsoft.com/office/drawing/2014/main" id="{7ECD9AAA-90BE-1A5B-3DAF-EAB00D6C7F19}"/>
              </a:ext>
            </a:extLst>
          </p:cNvPr>
          <p:cNvSpPr/>
          <p:nvPr/>
        </p:nvSpPr>
        <p:spPr>
          <a:xfrm>
            <a:off x="216110" y="2095500"/>
            <a:ext cx="1827704" cy="799004"/>
          </a:xfrm>
          <a:custGeom>
            <a:avLst/>
            <a:gdLst/>
            <a:ahLst/>
            <a:cxnLst/>
            <a:rect l="l" t="t" r="r" b="b"/>
            <a:pathLst>
              <a:path w="481371" h="210437">
                <a:moveTo>
                  <a:pt x="0" y="0"/>
                </a:moveTo>
                <a:lnTo>
                  <a:pt x="481371" y="0"/>
                </a:lnTo>
                <a:lnTo>
                  <a:pt x="481371" y="210437"/>
                </a:lnTo>
                <a:lnTo>
                  <a:pt x="0" y="210437"/>
                </a:lnTo>
                <a:close/>
              </a:path>
            </a:pathLst>
          </a:custGeom>
          <a:gradFill rotWithShape="1">
            <a:gsLst>
              <a:gs pos="0">
                <a:srgbClr val="C6269E">
                  <a:alpha val="100000"/>
                </a:srgbClr>
              </a:gs>
              <a:gs pos="100000">
                <a:srgbClr val="DDBAFF">
                  <a:alpha val="12000"/>
                </a:srgbClr>
              </a:gs>
            </a:gsLst>
            <a:lin ang="0"/>
          </a:gradFill>
        </p:spPr>
      </p:sp>
    </p:spTree>
    <p:extLst>
      <p:ext uri="{BB962C8B-B14F-4D97-AF65-F5344CB8AC3E}">
        <p14:creationId xmlns:p14="http://schemas.microsoft.com/office/powerpoint/2010/main" val="15947394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6525283" y="-12620097"/>
            <a:ext cx="17956749" cy="18046984"/>
          </a:xfrm>
          <a:custGeom>
            <a:avLst/>
            <a:gdLst/>
            <a:ahLst/>
            <a:cxnLst/>
            <a:rect l="l" t="t" r="r" b="b"/>
            <a:pathLst>
              <a:path w="17956749" h="18046984">
                <a:moveTo>
                  <a:pt x="0" y="0"/>
                </a:moveTo>
                <a:lnTo>
                  <a:pt x="17956749" y="0"/>
                </a:lnTo>
                <a:lnTo>
                  <a:pt x="17956749" y="18046985"/>
                </a:lnTo>
                <a:lnTo>
                  <a:pt x="0" y="18046985"/>
                </a:lnTo>
                <a:lnTo>
                  <a:pt x="0" y="0"/>
                </a:lnTo>
                <a:close/>
              </a:path>
            </a:pathLst>
          </a:custGeom>
          <a:blipFill>
            <a:blip r:embed="rId2"/>
            <a:stretch>
              <a:fillRect/>
            </a:stretch>
          </a:blipFill>
        </p:spPr>
        <p:txBody>
          <a:bodyPr/>
          <a:lstStyle/>
          <a:p>
            <a:endParaRPr lang="en-US"/>
          </a:p>
        </p:txBody>
      </p:sp>
      <p:sp>
        <p:nvSpPr>
          <p:cNvPr id="3" name="Freeform 3"/>
          <p:cNvSpPr/>
          <p:nvPr/>
        </p:nvSpPr>
        <p:spPr>
          <a:xfrm>
            <a:off x="-8140649" y="7241479"/>
            <a:ext cx="17956749" cy="16232393"/>
          </a:xfrm>
          <a:custGeom>
            <a:avLst/>
            <a:gdLst/>
            <a:ahLst/>
            <a:cxnLst/>
            <a:rect l="l" t="t" r="r" b="b"/>
            <a:pathLst>
              <a:path w="17956749" h="16232393">
                <a:moveTo>
                  <a:pt x="0" y="0"/>
                </a:moveTo>
                <a:lnTo>
                  <a:pt x="17956749" y="0"/>
                </a:lnTo>
                <a:lnTo>
                  <a:pt x="17956749" y="16232393"/>
                </a:lnTo>
                <a:lnTo>
                  <a:pt x="0" y="16232393"/>
                </a:lnTo>
                <a:lnTo>
                  <a:pt x="0" y="0"/>
                </a:lnTo>
                <a:close/>
              </a:path>
            </a:pathLst>
          </a:custGeom>
          <a:blipFill>
            <a:blip r:embed="rId2"/>
            <a:stretch>
              <a:fillRect t="-11178"/>
            </a:stretch>
          </a:blipFill>
        </p:spPr>
      </p:sp>
      <p:sp>
        <p:nvSpPr>
          <p:cNvPr id="8" name="TextBox 8"/>
          <p:cNvSpPr txBox="1"/>
          <p:nvPr/>
        </p:nvSpPr>
        <p:spPr>
          <a:xfrm>
            <a:off x="15309115" y="9063294"/>
            <a:ext cx="1716617" cy="277925"/>
          </a:xfrm>
          <a:prstGeom prst="rect">
            <a:avLst/>
          </a:prstGeom>
        </p:spPr>
        <p:txBody>
          <a:bodyPr lIns="0" tIns="0" rIns="0" bIns="0" rtlCol="0" anchor="t">
            <a:spAutoFit/>
          </a:bodyPr>
          <a:lstStyle/>
          <a:p>
            <a:pPr algn="l">
              <a:lnSpc>
                <a:spcPts val="2037"/>
              </a:lnSpc>
              <a:spcBef>
                <a:spcPct val="0"/>
              </a:spcBef>
            </a:pPr>
            <a:r>
              <a:rPr lang="en-US" sz="1958">
                <a:solidFill>
                  <a:srgbClr val="FFFFFF"/>
                </a:solidFill>
                <a:latin typeface="Raleway"/>
                <a:ea typeface="Raleway"/>
                <a:cs typeface="Raleway"/>
                <a:sym typeface="Raleway"/>
              </a:rPr>
              <a:t>Next Slide</a:t>
            </a:r>
          </a:p>
        </p:txBody>
      </p:sp>
      <p:sp>
        <p:nvSpPr>
          <p:cNvPr id="9" name="Freeform 9"/>
          <p:cNvSpPr/>
          <p:nvPr/>
        </p:nvSpPr>
        <p:spPr>
          <a:xfrm flipH="1">
            <a:off x="16998830" y="8999755"/>
            <a:ext cx="416017" cy="418299"/>
          </a:xfrm>
          <a:custGeom>
            <a:avLst/>
            <a:gdLst/>
            <a:ahLst/>
            <a:cxnLst/>
            <a:rect l="l" t="t" r="r" b="b"/>
            <a:pathLst>
              <a:path w="416017" h="418299">
                <a:moveTo>
                  <a:pt x="416017" y="0"/>
                </a:moveTo>
                <a:lnTo>
                  <a:pt x="0" y="0"/>
                </a:lnTo>
                <a:lnTo>
                  <a:pt x="0" y="418299"/>
                </a:lnTo>
                <a:lnTo>
                  <a:pt x="416017" y="418299"/>
                </a:lnTo>
                <a:lnTo>
                  <a:pt x="416017"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0" name="Group 10"/>
          <p:cNvGrpSpPr>
            <a:grpSpLocks noChangeAspect="1"/>
          </p:cNvGrpSpPr>
          <p:nvPr/>
        </p:nvGrpSpPr>
        <p:grpSpPr>
          <a:xfrm>
            <a:off x="2029125" y="3473861"/>
            <a:ext cx="6809860" cy="3906053"/>
            <a:chOff x="0" y="0"/>
            <a:chExt cx="7981950" cy="4578350"/>
          </a:xfrm>
        </p:grpSpPr>
        <p:sp>
          <p:nvSpPr>
            <p:cNvPr id="11" name="Freeform 11"/>
            <p:cNvSpPr/>
            <p:nvPr/>
          </p:nvSpPr>
          <p:spPr>
            <a:xfrm>
              <a:off x="765810" y="21590"/>
              <a:ext cx="6451600" cy="4326890"/>
            </a:xfrm>
            <a:custGeom>
              <a:avLst/>
              <a:gdLst/>
              <a:ahLst/>
              <a:cxnLst/>
              <a:rect l="l" t="t" r="r" b="b"/>
              <a:pathLst>
                <a:path w="6451600" h="432689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000000"/>
            </a:solidFill>
          </p:spPr>
        </p:sp>
        <p:sp>
          <p:nvSpPr>
            <p:cNvPr id="12" name="Freeform 12"/>
            <p:cNvSpPr/>
            <p:nvPr/>
          </p:nvSpPr>
          <p:spPr>
            <a:xfrm>
              <a:off x="0" y="0"/>
              <a:ext cx="7981950" cy="4542790"/>
            </a:xfrm>
            <a:custGeom>
              <a:avLst/>
              <a:gdLst/>
              <a:ahLst/>
              <a:cxnLst/>
              <a:rect l="l" t="t" r="r" b="b"/>
              <a:pathLst>
                <a:path w="7981950" h="454279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969696"/>
            </a:solidFill>
          </p:spPr>
        </p:sp>
        <p:sp>
          <p:nvSpPr>
            <p:cNvPr id="13" name="Freeform 13"/>
            <p:cNvSpPr/>
            <p:nvPr/>
          </p:nvSpPr>
          <p:spPr>
            <a:xfrm>
              <a:off x="3460750" y="4349750"/>
              <a:ext cx="1059180" cy="96520"/>
            </a:xfrm>
            <a:custGeom>
              <a:avLst/>
              <a:gdLst/>
              <a:ahLst/>
              <a:cxnLst/>
              <a:rect l="l" t="t" r="r" b="b"/>
              <a:pathLst>
                <a:path w="1059180" h="9652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727171"/>
            </a:solidFill>
          </p:spPr>
        </p:sp>
        <p:sp>
          <p:nvSpPr>
            <p:cNvPr id="14" name="Freeform 14"/>
            <p:cNvSpPr/>
            <p:nvPr/>
          </p:nvSpPr>
          <p:spPr>
            <a:xfrm>
              <a:off x="163830" y="4542790"/>
              <a:ext cx="7654290" cy="35560"/>
            </a:xfrm>
            <a:custGeom>
              <a:avLst/>
              <a:gdLst/>
              <a:ahLst/>
              <a:cxnLst/>
              <a:rect l="l" t="t" r="r" b="b"/>
              <a:pathLst>
                <a:path w="7654290" h="3556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727171"/>
            </a:solidFill>
          </p:spPr>
        </p:sp>
        <p:sp>
          <p:nvSpPr>
            <p:cNvPr id="15" name="Freeform 15"/>
            <p:cNvSpPr/>
            <p:nvPr/>
          </p:nvSpPr>
          <p:spPr>
            <a:xfrm>
              <a:off x="962660" y="276860"/>
              <a:ext cx="6055360" cy="3789680"/>
            </a:xfrm>
            <a:custGeom>
              <a:avLst/>
              <a:gdLst/>
              <a:ahLst/>
              <a:cxnLst/>
              <a:rect l="l" t="t" r="r" b="b"/>
              <a:pathLst>
                <a:path w="6055360" h="3789680">
                  <a:moveTo>
                    <a:pt x="0" y="0"/>
                  </a:moveTo>
                  <a:lnTo>
                    <a:pt x="6055360" y="0"/>
                  </a:lnTo>
                  <a:lnTo>
                    <a:pt x="6055360" y="3789680"/>
                  </a:lnTo>
                  <a:lnTo>
                    <a:pt x="0" y="3789680"/>
                  </a:lnTo>
                  <a:close/>
                </a:path>
              </a:pathLst>
            </a:custGeom>
            <a:blipFill>
              <a:blip r:embed="rId5"/>
              <a:stretch>
                <a:fillRect l="-1193" r="-1193"/>
              </a:stretch>
            </a:blipFill>
          </p:spPr>
        </p:sp>
      </p:grpSp>
      <p:sp>
        <p:nvSpPr>
          <p:cNvPr id="16" name="TextBox 16"/>
          <p:cNvSpPr txBox="1"/>
          <p:nvPr/>
        </p:nvSpPr>
        <p:spPr>
          <a:xfrm rot="-5400000">
            <a:off x="129306" y="8890751"/>
            <a:ext cx="1078468" cy="218008"/>
          </a:xfrm>
          <a:prstGeom prst="rect">
            <a:avLst/>
          </a:prstGeom>
        </p:spPr>
        <p:txBody>
          <a:bodyPr lIns="0" tIns="0" rIns="0" bIns="0" rtlCol="0" anchor="t">
            <a:spAutoFit/>
          </a:bodyPr>
          <a:lstStyle/>
          <a:p>
            <a:pPr algn="ctr">
              <a:lnSpc>
                <a:spcPts val="1725"/>
              </a:lnSpc>
              <a:spcBef>
                <a:spcPct val="0"/>
              </a:spcBef>
            </a:pPr>
            <a:r>
              <a:rPr lang="en-US" sz="1658" dirty="0">
                <a:solidFill>
                  <a:srgbClr val="FFFFFF"/>
                </a:solidFill>
                <a:latin typeface="Raleway"/>
                <a:ea typeface="Raleway"/>
                <a:cs typeface="Raleway"/>
                <a:sym typeface="Raleway"/>
              </a:rPr>
              <a:t>Page  12</a:t>
            </a:r>
          </a:p>
        </p:txBody>
      </p:sp>
      <p:sp>
        <p:nvSpPr>
          <p:cNvPr id="20" name="TextBox 20"/>
          <p:cNvSpPr txBox="1"/>
          <p:nvPr/>
        </p:nvSpPr>
        <p:spPr>
          <a:xfrm>
            <a:off x="9246842" y="3390900"/>
            <a:ext cx="8050558" cy="5084149"/>
          </a:xfrm>
          <a:prstGeom prst="rect">
            <a:avLst/>
          </a:prstGeom>
        </p:spPr>
        <p:txBody>
          <a:bodyPr wrap="square" lIns="0" tIns="0" rIns="0" bIns="0" rtlCol="0" anchor="t">
            <a:spAutoFit/>
          </a:bodyPr>
          <a:lstStyle/>
          <a:p>
            <a:pPr marL="342900" indent="-342900" algn="l">
              <a:lnSpc>
                <a:spcPct val="150000"/>
              </a:lnSpc>
              <a:buFont typeface="Arial" panose="020B0604020202020204" pitchFamily="34" charset="0"/>
              <a:buChar char="•"/>
            </a:pPr>
            <a:r>
              <a:rPr lang="en-US" sz="3200" dirty="0">
                <a:solidFill>
                  <a:srgbClr val="FFFFFA"/>
                </a:solidFill>
                <a:latin typeface="Raleway"/>
                <a:ea typeface="Raleway"/>
                <a:cs typeface="Raleway"/>
                <a:sym typeface="Raleway"/>
              </a:rPr>
              <a:t>Early detection of bots/bulk accounts → protects GMV analytics and inventory signals</a:t>
            </a:r>
          </a:p>
          <a:p>
            <a:pPr marL="342900" indent="-342900" algn="l">
              <a:lnSpc>
                <a:spcPct val="150000"/>
              </a:lnSpc>
              <a:buFont typeface="Arial" panose="020B0604020202020204" pitchFamily="34" charset="0"/>
              <a:buChar char="•"/>
            </a:pPr>
            <a:r>
              <a:rPr lang="en-US" sz="3200" dirty="0">
                <a:solidFill>
                  <a:srgbClr val="FFFFFA"/>
                </a:solidFill>
                <a:latin typeface="Raleway"/>
                <a:ea typeface="Raleway"/>
                <a:cs typeface="Raleway"/>
                <a:sym typeface="Raleway"/>
              </a:rPr>
              <a:t>Category recommendations across homepage, product page, and email</a:t>
            </a:r>
          </a:p>
          <a:p>
            <a:pPr marL="342900" indent="-342900" algn="l">
              <a:lnSpc>
                <a:spcPct val="150000"/>
              </a:lnSpc>
              <a:buFont typeface="Arial" panose="020B0604020202020204" pitchFamily="34" charset="0"/>
              <a:buChar char="•"/>
            </a:pPr>
            <a:r>
              <a:rPr lang="en-US" sz="3200" dirty="0">
                <a:solidFill>
                  <a:srgbClr val="FFFFFA"/>
                </a:solidFill>
                <a:latin typeface="Raleway"/>
                <a:ea typeface="Raleway"/>
                <a:cs typeface="Raleway"/>
                <a:sym typeface="Raleway"/>
              </a:rPr>
              <a:t>Fraud/abuse mitigation and traffic quality monitoring</a:t>
            </a:r>
          </a:p>
        </p:txBody>
      </p:sp>
      <p:sp>
        <p:nvSpPr>
          <p:cNvPr id="21" name="TextBox 21"/>
          <p:cNvSpPr txBox="1"/>
          <p:nvPr/>
        </p:nvSpPr>
        <p:spPr>
          <a:xfrm>
            <a:off x="9122229" y="952500"/>
            <a:ext cx="4966620" cy="1000274"/>
          </a:xfrm>
          <a:prstGeom prst="rect">
            <a:avLst/>
          </a:prstGeom>
        </p:spPr>
        <p:txBody>
          <a:bodyPr wrap="square" lIns="0" tIns="0" rIns="0" bIns="0" rtlCol="0" anchor="t">
            <a:spAutoFit/>
          </a:bodyPr>
          <a:lstStyle/>
          <a:p>
            <a:pPr algn="l">
              <a:lnSpc>
                <a:spcPts val="7774"/>
              </a:lnSpc>
              <a:spcBef>
                <a:spcPct val="0"/>
              </a:spcBef>
            </a:pPr>
            <a:r>
              <a:rPr lang="en-US" sz="8000" b="1" dirty="0">
                <a:solidFill>
                  <a:srgbClr val="FFFFFF"/>
                </a:solidFill>
                <a:latin typeface="Raleway Heavy"/>
                <a:ea typeface="Raleway Heavy"/>
                <a:cs typeface="Raleway Heavy"/>
                <a:sym typeface="Raleway Heavy"/>
              </a:rPr>
              <a:t>Business</a:t>
            </a:r>
          </a:p>
        </p:txBody>
      </p:sp>
      <p:sp>
        <p:nvSpPr>
          <p:cNvPr id="22" name="TextBox 22"/>
          <p:cNvSpPr txBox="1"/>
          <p:nvPr/>
        </p:nvSpPr>
        <p:spPr>
          <a:xfrm>
            <a:off x="9144000" y="2243549"/>
            <a:ext cx="6934200" cy="1000274"/>
          </a:xfrm>
          <a:prstGeom prst="rect">
            <a:avLst/>
          </a:prstGeom>
        </p:spPr>
        <p:txBody>
          <a:bodyPr wrap="square" lIns="0" tIns="0" rIns="0" bIns="0" rtlCol="0" anchor="t">
            <a:spAutoFit/>
          </a:bodyPr>
          <a:lstStyle/>
          <a:p>
            <a:pPr algn="l">
              <a:lnSpc>
                <a:spcPts val="7774"/>
              </a:lnSpc>
              <a:spcBef>
                <a:spcPct val="0"/>
              </a:spcBef>
            </a:pPr>
            <a:r>
              <a:rPr lang="en-US" sz="8000" b="1" dirty="0">
                <a:solidFill>
                  <a:srgbClr val="C6269E"/>
                </a:solidFill>
                <a:latin typeface="Raleway Bold"/>
                <a:ea typeface="Raleway Bold"/>
                <a:cs typeface="Raleway Bold"/>
                <a:sym typeface="Raleway Bold"/>
              </a:rPr>
              <a:t>Implications</a:t>
            </a:r>
          </a:p>
        </p:txBody>
      </p:sp>
      <p:grpSp>
        <p:nvGrpSpPr>
          <p:cNvPr id="23" name="Group 23"/>
          <p:cNvGrpSpPr/>
          <p:nvPr/>
        </p:nvGrpSpPr>
        <p:grpSpPr>
          <a:xfrm rot="2087854">
            <a:off x="1858663" y="2986396"/>
            <a:ext cx="1574338" cy="1574338"/>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23850" cap="sq">
              <a:gradFill>
                <a:gsLst>
                  <a:gs pos="0">
                    <a:srgbClr val="F5DFF0">
                      <a:alpha val="29500"/>
                    </a:srgbClr>
                  </a:gs>
                  <a:gs pos="100000">
                    <a:srgbClr val="C6269E">
                      <a:alpha val="100000"/>
                    </a:srgbClr>
                  </a:gs>
                </a:gsLst>
                <a:lin ang="0"/>
              </a:gradFill>
              <a:prstDash val="solid"/>
              <a:miter/>
            </a:ln>
          </p:spPr>
        </p:sp>
        <p:sp>
          <p:nvSpPr>
            <p:cNvPr id="25" name="TextBox 25"/>
            <p:cNvSpPr txBox="1"/>
            <p:nvPr/>
          </p:nvSpPr>
          <p:spPr>
            <a:xfrm>
              <a:off x="76200" y="104775"/>
              <a:ext cx="660400" cy="631825"/>
            </a:xfrm>
            <a:prstGeom prst="rect">
              <a:avLst/>
            </a:prstGeom>
          </p:spPr>
          <p:txBody>
            <a:bodyPr lIns="50800" tIns="50800" rIns="50800" bIns="50800" rtlCol="0" anchor="ctr"/>
            <a:lstStyle/>
            <a:p>
              <a:pPr algn="ctr">
                <a:lnSpc>
                  <a:spcPts val="2557"/>
                </a:lnSpc>
              </a:pP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7189048" y="-12623724"/>
            <a:ext cx="17956749" cy="18046984"/>
          </a:xfrm>
          <a:custGeom>
            <a:avLst/>
            <a:gdLst/>
            <a:ahLst/>
            <a:cxnLst/>
            <a:rect l="l" t="t" r="r" b="b"/>
            <a:pathLst>
              <a:path w="17956749" h="18046984">
                <a:moveTo>
                  <a:pt x="0" y="0"/>
                </a:moveTo>
                <a:lnTo>
                  <a:pt x="17956750" y="0"/>
                </a:lnTo>
                <a:lnTo>
                  <a:pt x="17956750" y="18046985"/>
                </a:lnTo>
                <a:lnTo>
                  <a:pt x="0" y="18046985"/>
                </a:lnTo>
                <a:lnTo>
                  <a:pt x="0" y="0"/>
                </a:lnTo>
                <a:close/>
              </a:path>
            </a:pathLst>
          </a:custGeom>
          <a:blipFill>
            <a:blip r:embed="rId2"/>
            <a:stretch>
              <a:fillRect/>
            </a:stretch>
          </a:blipFill>
        </p:spPr>
      </p:sp>
      <p:sp>
        <p:nvSpPr>
          <p:cNvPr id="3" name="Freeform 3"/>
          <p:cNvSpPr/>
          <p:nvPr/>
        </p:nvSpPr>
        <p:spPr>
          <a:xfrm>
            <a:off x="-7590681" y="5739968"/>
            <a:ext cx="17956749" cy="18046984"/>
          </a:xfrm>
          <a:custGeom>
            <a:avLst/>
            <a:gdLst/>
            <a:ahLst/>
            <a:cxnLst/>
            <a:rect l="l" t="t" r="r" b="b"/>
            <a:pathLst>
              <a:path w="17956749" h="18046984">
                <a:moveTo>
                  <a:pt x="0" y="0"/>
                </a:moveTo>
                <a:lnTo>
                  <a:pt x="17956749" y="0"/>
                </a:lnTo>
                <a:lnTo>
                  <a:pt x="17956749" y="18046984"/>
                </a:lnTo>
                <a:lnTo>
                  <a:pt x="0" y="18046984"/>
                </a:lnTo>
                <a:lnTo>
                  <a:pt x="0" y="0"/>
                </a:lnTo>
                <a:close/>
              </a:path>
            </a:pathLst>
          </a:custGeom>
          <a:blipFill>
            <a:blip r:embed="rId2"/>
            <a:stretch>
              <a:fillRect/>
            </a:stretch>
          </a:blipFill>
        </p:spPr>
      </p:sp>
      <p:sp>
        <p:nvSpPr>
          <p:cNvPr id="4" name="TextBox 4"/>
          <p:cNvSpPr txBox="1"/>
          <p:nvPr/>
        </p:nvSpPr>
        <p:spPr>
          <a:xfrm rot="-5400000">
            <a:off x="129306" y="8890751"/>
            <a:ext cx="1078468" cy="218008"/>
          </a:xfrm>
          <a:prstGeom prst="rect">
            <a:avLst/>
          </a:prstGeom>
        </p:spPr>
        <p:txBody>
          <a:bodyPr lIns="0" tIns="0" rIns="0" bIns="0" rtlCol="0" anchor="t">
            <a:spAutoFit/>
          </a:bodyPr>
          <a:lstStyle/>
          <a:p>
            <a:pPr algn="ctr">
              <a:lnSpc>
                <a:spcPts val="1725"/>
              </a:lnSpc>
              <a:spcBef>
                <a:spcPct val="0"/>
              </a:spcBef>
            </a:pPr>
            <a:r>
              <a:rPr lang="en-US" sz="1658" dirty="0">
                <a:solidFill>
                  <a:srgbClr val="FFFFFF"/>
                </a:solidFill>
                <a:latin typeface="Raleway"/>
                <a:ea typeface="Raleway"/>
                <a:cs typeface="Raleway"/>
                <a:sym typeface="Raleway"/>
              </a:rPr>
              <a:t>Page 13</a:t>
            </a:r>
          </a:p>
        </p:txBody>
      </p:sp>
      <p:sp>
        <p:nvSpPr>
          <p:cNvPr id="11" name="TextBox 11"/>
          <p:cNvSpPr txBox="1"/>
          <p:nvPr/>
        </p:nvSpPr>
        <p:spPr>
          <a:xfrm>
            <a:off x="15309115" y="9063294"/>
            <a:ext cx="1716617" cy="277925"/>
          </a:xfrm>
          <a:prstGeom prst="rect">
            <a:avLst/>
          </a:prstGeom>
        </p:spPr>
        <p:txBody>
          <a:bodyPr lIns="0" tIns="0" rIns="0" bIns="0" rtlCol="0" anchor="t">
            <a:spAutoFit/>
          </a:bodyPr>
          <a:lstStyle/>
          <a:p>
            <a:pPr algn="l">
              <a:lnSpc>
                <a:spcPts val="2037"/>
              </a:lnSpc>
              <a:spcBef>
                <a:spcPct val="0"/>
              </a:spcBef>
            </a:pPr>
            <a:r>
              <a:rPr lang="en-US" sz="1958">
                <a:solidFill>
                  <a:srgbClr val="FFFFFF"/>
                </a:solidFill>
                <a:latin typeface="Raleway"/>
                <a:ea typeface="Raleway"/>
                <a:cs typeface="Raleway"/>
                <a:sym typeface="Raleway"/>
              </a:rPr>
              <a:t>Next Slide</a:t>
            </a:r>
          </a:p>
        </p:txBody>
      </p:sp>
      <p:sp>
        <p:nvSpPr>
          <p:cNvPr id="12" name="Freeform 12"/>
          <p:cNvSpPr/>
          <p:nvPr/>
        </p:nvSpPr>
        <p:spPr>
          <a:xfrm flipH="1">
            <a:off x="16998830" y="8999755"/>
            <a:ext cx="416017" cy="418299"/>
          </a:xfrm>
          <a:custGeom>
            <a:avLst/>
            <a:gdLst/>
            <a:ahLst/>
            <a:cxnLst/>
            <a:rect l="l" t="t" r="r" b="b"/>
            <a:pathLst>
              <a:path w="416017" h="418299">
                <a:moveTo>
                  <a:pt x="416017" y="0"/>
                </a:moveTo>
                <a:lnTo>
                  <a:pt x="0" y="0"/>
                </a:lnTo>
                <a:lnTo>
                  <a:pt x="0" y="418299"/>
                </a:lnTo>
                <a:lnTo>
                  <a:pt x="416017" y="418299"/>
                </a:lnTo>
                <a:lnTo>
                  <a:pt x="416017"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5" name="TextBox 15"/>
          <p:cNvSpPr txBox="1"/>
          <p:nvPr/>
        </p:nvSpPr>
        <p:spPr>
          <a:xfrm>
            <a:off x="3126654" y="2710988"/>
            <a:ext cx="7180948" cy="5741252"/>
          </a:xfrm>
          <a:prstGeom prst="rect">
            <a:avLst/>
          </a:prstGeom>
        </p:spPr>
        <p:txBody>
          <a:bodyPr lIns="0" tIns="0" rIns="0" bIns="0" rtlCol="0" anchor="t">
            <a:spAutoFit/>
          </a:bodyPr>
          <a:lstStyle/>
          <a:p>
            <a:pPr marL="342900" indent="-342900" algn="l">
              <a:lnSpc>
                <a:spcPct val="150000"/>
              </a:lnSpc>
              <a:buFont typeface="Arial" panose="020B0604020202020204" pitchFamily="34" charset="0"/>
              <a:buChar char="•"/>
            </a:pPr>
            <a:r>
              <a:rPr lang="en-US" sz="2800" dirty="0">
                <a:solidFill>
                  <a:srgbClr val="FFFFFA"/>
                </a:solidFill>
                <a:latin typeface="Raleway"/>
                <a:ea typeface="Raleway"/>
                <a:cs typeface="Raleway"/>
                <a:sym typeface="Raleway"/>
              </a:rPr>
              <a:t>Candidate-label coupling: ensure strict temporal splits &amp; leakage checks.</a:t>
            </a:r>
          </a:p>
          <a:p>
            <a:pPr marL="342900" indent="-342900" algn="l">
              <a:lnSpc>
                <a:spcPct val="150000"/>
              </a:lnSpc>
              <a:buFont typeface="Arial" panose="020B0604020202020204" pitchFamily="34" charset="0"/>
              <a:buChar char="•"/>
            </a:pPr>
            <a:r>
              <a:rPr lang="en-US" sz="2800" dirty="0">
                <a:solidFill>
                  <a:srgbClr val="FFFFFA"/>
                </a:solidFill>
                <a:latin typeface="Raleway"/>
                <a:ea typeface="Raleway"/>
                <a:cs typeface="Raleway"/>
                <a:sym typeface="Raleway"/>
              </a:rPr>
              <a:t>Calibrate anomaly threshold to business tolerance; review flagged cohorts regularly.</a:t>
            </a:r>
          </a:p>
          <a:p>
            <a:pPr marL="342900" indent="-342900" algn="l">
              <a:lnSpc>
                <a:spcPct val="150000"/>
              </a:lnSpc>
              <a:buFont typeface="Arial" panose="020B0604020202020204" pitchFamily="34" charset="0"/>
              <a:buChar char="•"/>
            </a:pPr>
            <a:r>
              <a:rPr lang="en-US" sz="2800" dirty="0">
                <a:solidFill>
                  <a:srgbClr val="FFFFFA"/>
                </a:solidFill>
                <a:latin typeface="Raleway"/>
                <a:ea typeface="Raleway"/>
                <a:cs typeface="Raleway"/>
                <a:sym typeface="Raleway"/>
              </a:rPr>
              <a:t>Cold-start: add content-based features and back-off rules.</a:t>
            </a:r>
          </a:p>
          <a:p>
            <a:pPr marL="342900" indent="-342900" algn="l">
              <a:lnSpc>
                <a:spcPct val="150000"/>
              </a:lnSpc>
              <a:buFont typeface="Arial" panose="020B0604020202020204" pitchFamily="34" charset="0"/>
              <a:buChar char="•"/>
            </a:pPr>
            <a:r>
              <a:rPr lang="en-US" sz="2800" dirty="0">
                <a:solidFill>
                  <a:srgbClr val="FFFFFA"/>
                </a:solidFill>
                <a:latin typeface="Raleway"/>
                <a:ea typeface="Raleway"/>
                <a:cs typeface="Raleway"/>
                <a:sym typeface="Raleway"/>
              </a:rPr>
              <a:t>Monitor drift; schedule retraining (e.g., weekly).</a:t>
            </a:r>
          </a:p>
        </p:txBody>
      </p:sp>
      <p:sp>
        <p:nvSpPr>
          <p:cNvPr id="18" name="TextBox 18"/>
          <p:cNvSpPr txBox="1"/>
          <p:nvPr/>
        </p:nvSpPr>
        <p:spPr>
          <a:xfrm>
            <a:off x="10970563" y="2171700"/>
            <a:ext cx="5816677" cy="1032467"/>
          </a:xfrm>
          <a:prstGeom prst="rect">
            <a:avLst/>
          </a:prstGeom>
        </p:spPr>
        <p:txBody>
          <a:bodyPr lIns="0" tIns="0" rIns="0" bIns="0" rtlCol="0" anchor="t">
            <a:spAutoFit/>
          </a:bodyPr>
          <a:lstStyle/>
          <a:p>
            <a:pPr algn="l">
              <a:lnSpc>
                <a:spcPts val="7774"/>
              </a:lnSpc>
              <a:spcBef>
                <a:spcPct val="0"/>
              </a:spcBef>
            </a:pPr>
            <a:r>
              <a:rPr lang="en-US" sz="7475" b="1" dirty="0">
                <a:solidFill>
                  <a:srgbClr val="FFFFFF"/>
                </a:solidFill>
                <a:latin typeface="Raleway Heavy"/>
                <a:ea typeface="Raleway Heavy"/>
                <a:cs typeface="Raleway Heavy"/>
                <a:sym typeface="Raleway Heavy"/>
              </a:rPr>
              <a:t>Risks &amp;</a:t>
            </a:r>
          </a:p>
        </p:txBody>
      </p:sp>
      <p:sp>
        <p:nvSpPr>
          <p:cNvPr id="19" name="TextBox 19"/>
          <p:cNvSpPr txBox="1"/>
          <p:nvPr/>
        </p:nvSpPr>
        <p:spPr>
          <a:xfrm>
            <a:off x="10970563" y="3075174"/>
            <a:ext cx="7088837" cy="1000274"/>
          </a:xfrm>
          <a:prstGeom prst="rect">
            <a:avLst/>
          </a:prstGeom>
        </p:spPr>
        <p:txBody>
          <a:bodyPr wrap="square" lIns="0" tIns="0" rIns="0" bIns="0" rtlCol="0" anchor="t">
            <a:spAutoFit/>
          </a:bodyPr>
          <a:lstStyle/>
          <a:p>
            <a:pPr algn="l">
              <a:lnSpc>
                <a:spcPts val="7774"/>
              </a:lnSpc>
              <a:spcBef>
                <a:spcPct val="0"/>
              </a:spcBef>
            </a:pPr>
            <a:r>
              <a:rPr lang="en-US" sz="7475" b="1" dirty="0">
                <a:solidFill>
                  <a:srgbClr val="C6269E"/>
                </a:solidFill>
                <a:latin typeface="Raleway Bold"/>
                <a:ea typeface="Raleway Bold"/>
                <a:cs typeface="Raleway Bold"/>
                <a:sym typeface="Raleway Bold"/>
              </a:rPr>
              <a:t>Considerations</a:t>
            </a:r>
          </a:p>
        </p:txBody>
      </p:sp>
      <p:grpSp>
        <p:nvGrpSpPr>
          <p:cNvPr id="20" name="Group 20"/>
          <p:cNvGrpSpPr/>
          <p:nvPr/>
        </p:nvGrpSpPr>
        <p:grpSpPr>
          <a:xfrm rot="2087854">
            <a:off x="2145657" y="2565235"/>
            <a:ext cx="636070" cy="636070"/>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23825" cap="sq">
              <a:gradFill>
                <a:gsLst>
                  <a:gs pos="0">
                    <a:srgbClr val="F5DFF0">
                      <a:alpha val="29500"/>
                    </a:srgbClr>
                  </a:gs>
                  <a:gs pos="100000">
                    <a:srgbClr val="C6269E">
                      <a:alpha val="100000"/>
                    </a:srgbClr>
                  </a:gs>
                </a:gsLst>
                <a:lin ang="0"/>
              </a:gradFill>
              <a:prstDash val="solid"/>
              <a:miter/>
            </a:ln>
          </p:spPr>
        </p:sp>
        <p:sp>
          <p:nvSpPr>
            <p:cNvPr id="22" name="TextBox 22"/>
            <p:cNvSpPr txBox="1"/>
            <p:nvPr/>
          </p:nvSpPr>
          <p:spPr>
            <a:xfrm>
              <a:off x="76200" y="104775"/>
              <a:ext cx="660400" cy="631825"/>
            </a:xfrm>
            <a:prstGeom prst="rect">
              <a:avLst/>
            </a:prstGeom>
          </p:spPr>
          <p:txBody>
            <a:bodyPr lIns="50800" tIns="50800" rIns="50800" bIns="50800" rtlCol="0" anchor="ctr"/>
            <a:lstStyle/>
            <a:p>
              <a:pPr algn="ctr">
                <a:lnSpc>
                  <a:spcPts val="2557"/>
                </a:lnSpc>
              </a:pPr>
              <a:endParaRPr/>
            </a:p>
          </p:txBody>
        </p:sp>
      </p:grpSp>
      <p:sp>
        <p:nvSpPr>
          <p:cNvPr id="23" name="Freeform 25">
            <a:extLst>
              <a:ext uri="{FF2B5EF4-FFF2-40B4-BE49-F238E27FC236}">
                <a16:creationId xmlns:a16="http://schemas.microsoft.com/office/drawing/2014/main" id="{BC711DD2-CEC3-62E0-B021-D9B14FC9E463}"/>
              </a:ext>
            </a:extLst>
          </p:cNvPr>
          <p:cNvSpPr/>
          <p:nvPr/>
        </p:nvSpPr>
        <p:spPr>
          <a:xfrm>
            <a:off x="12801600" y="4294374"/>
            <a:ext cx="3502746" cy="3516126"/>
          </a:xfrm>
          <a:custGeom>
            <a:avLst/>
            <a:gdLst/>
            <a:ahLst/>
            <a:cxnLst/>
            <a:rect l="l" t="t" r="r" b="b"/>
            <a:pathLst>
              <a:path w="3063151" h="3074330">
                <a:moveTo>
                  <a:pt x="0" y="0"/>
                </a:moveTo>
                <a:lnTo>
                  <a:pt x="3063151" y="0"/>
                </a:lnTo>
                <a:lnTo>
                  <a:pt x="3063151" y="3074330"/>
                </a:lnTo>
                <a:lnTo>
                  <a:pt x="0" y="307433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B1B15-B612-96D7-52FF-6BAD03104A4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C1494E8-7A31-2FF4-C21C-F9B446926A0C}"/>
              </a:ext>
            </a:extLst>
          </p:cNvPr>
          <p:cNvGrpSpPr/>
          <p:nvPr/>
        </p:nvGrpSpPr>
        <p:grpSpPr>
          <a:xfrm>
            <a:off x="1" y="-38783"/>
            <a:ext cx="18288000" cy="10287000"/>
            <a:chOff x="0" y="0"/>
            <a:chExt cx="2669893" cy="2709333"/>
          </a:xfrm>
          <a:gradFill>
            <a:gsLst>
              <a:gs pos="0">
                <a:srgbClr val="000000">
                  <a:alpha val="100000"/>
                </a:srgbClr>
              </a:gs>
              <a:gs pos="65000">
                <a:srgbClr val="32032F">
                  <a:alpha val="100000"/>
                </a:srgbClr>
              </a:gs>
              <a:gs pos="100000">
                <a:srgbClr val="002060"/>
              </a:gs>
            </a:gsLst>
            <a:lin ang="0" scaled="0"/>
          </a:gradFill>
        </p:grpSpPr>
        <p:sp>
          <p:nvSpPr>
            <p:cNvPr id="3" name="Freeform 3">
              <a:extLst>
                <a:ext uri="{FF2B5EF4-FFF2-40B4-BE49-F238E27FC236}">
                  <a16:creationId xmlns:a16="http://schemas.microsoft.com/office/drawing/2014/main" id="{1DFB9501-7B2E-0E54-3A87-C35D0B8F37E5}"/>
                </a:ext>
              </a:extLst>
            </p:cNvPr>
            <p:cNvSpPr/>
            <p:nvPr/>
          </p:nvSpPr>
          <p:spPr>
            <a:xfrm>
              <a:off x="0" y="0"/>
              <a:ext cx="2669893" cy="2709333"/>
            </a:xfrm>
            <a:custGeom>
              <a:avLst/>
              <a:gdLst/>
              <a:ahLst/>
              <a:cxnLst/>
              <a:rect l="l" t="t" r="r" b="b"/>
              <a:pathLst>
                <a:path w="2669893" h="2709333">
                  <a:moveTo>
                    <a:pt x="43531" y="0"/>
                  </a:moveTo>
                  <a:lnTo>
                    <a:pt x="2626361" y="0"/>
                  </a:lnTo>
                  <a:cubicBezTo>
                    <a:pt x="2650403" y="0"/>
                    <a:pt x="2669893" y="19490"/>
                    <a:pt x="2669893" y="43531"/>
                  </a:cubicBezTo>
                  <a:lnTo>
                    <a:pt x="2669893" y="2665802"/>
                  </a:lnTo>
                  <a:cubicBezTo>
                    <a:pt x="2669893" y="2689844"/>
                    <a:pt x="2650403" y="2709333"/>
                    <a:pt x="2626361" y="2709333"/>
                  </a:cubicBezTo>
                  <a:lnTo>
                    <a:pt x="43531" y="2709333"/>
                  </a:lnTo>
                  <a:cubicBezTo>
                    <a:pt x="19490" y="2709333"/>
                    <a:pt x="0" y="2689844"/>
                    <a:pt x="0" y="2665802"/>
                  </a:cubicBezTo>
                  <a:lnTo>
                    <a:pt x="0" y="43531"/>
                  </a:lnTo>
                  <a:cubicBezTo>
                    <a:pt x="0" y="19490"/>
                    <a:pt x="19490" y="0"/>
                    <a:pt x="43531" y="0"/>
                  </a:cubicBezTo>
                  <a:close/>
                </a:path>
              </a:pathLst>
            </a:custGeom>
            <a:grpFill/>
            <a:ln cap="rnd">
              <a:noFill/>
              <a:prstDash val="solid"/>
              <a:round/>
            </a:ln>
          </p:spPr>
          <p:txBody>
            <a:bodyPr/>
            <a:lstStyle/>
            <a:p>
              <a:endParaRPr lang="en-US" dirty="0"/>
            </a:p>
          </p:txBody>
        </p:sp>
        <p:sp>
          <p:nvSpPr>
            <p:cNvPr id="4" name="TextBox 4">
              <a:extLst>
                <a:ext uri="{FF2B5EF4-FFF2-40B4-BE49-F238E27FC236}">
                  <a16:creationId xmlns:a16="http://schemas.microsoft.com/office/drawing/2014/main" id="{948B6F7C-4291-A590-7CAA-16BA2A1DFA93}"/>
                </a:ext>
              </a:extLst>
            </p:cNvPr>
            <p:cNvSpPr txBox="1"/>
            <p:nvPr/>
          </p:nvSpPr>
          <p:spPr>
            <a:xfrm>
              <a:off x="0" y="-57150"/>
              <a:ext cx="2669893" cy="2766483"/>
            </a:xfrm>
            <a:prstGeom prst="rect">
              <a:avLst/>
            </a:prstGeom>
            <a:grpFill/>
          </p:spPr>
          <p:txBody>
            <a:bodyPr lIns="50800" tIns="50800" rIns="50800" bIns="50800" rtlCol="0" anchor="ctr"/>
            <a:lstStyle/>
            <a:p>
              <a:pPr marL="0" lvl="0" indent="0" algn="ctr">
                <a:lnSpc>
                  <a:spcPts val="3447"/>
                </a:lnSpc>
                <a:spcBef>
                  <a:spcPct val="0"/>
                </a:spcBef>
              </a:pPr>
              <a:endParaRPr/>
            </a:p>
          </p:txBody>
        </p:sp>
      </p:grpSp>
      <p:grpSp>
        <p:nvGrpSpPr>
          <p:cNvPr id="5" name="Group 4">
            <a:extLst>
              <a:ext uri="{FF2B5EF4-FFF2-40B4-BE49-F238E27FC236}">
                <a16:creationId xmlns:a16="http://schemas.microsoft.com/office/drawing/2014/main" id="{DAFD25CB-4421-6F32-1E91-ED8D7478C2FB}"/>
              </a:ext>
            </a:extLst>
          </p:cNvPr>
          <p:cNvGrpSpPr/>
          <p:nvPr/>
        </p:nvGrpSpPr>
        <p:grpSpPr>
          <a:xfrm>
            <a:off x="1578684" y="2265409"/>
            <a:ext cx="15628154" cy="6019800"/>
            <a:chOff x="1397578" y="1943100"/>
            <a:chExt cx="13911537" cy="3430833"/>
          </a:xfrm>
        </p:grpSpPr>
        <p:grpSp>
          <p:nvGrpSpPr>
            <p:cNvPr id="12" name="Group 5">
              <a:extLst>
                <a:ext uri="{FF2B5EF4-FFF2-40B4-BE49-F238E27FC236}">
                  <a16:creationId xmlns:a16="http://schemas.microsoft.com/office/drawing/2014/main" id="{7B1768E7-B949-EB9D-74E5-581BA9CD74F0}"/>
                </a:ext>
              </a:extLst>
            </p:cNvPr>
            <p:cNvGrpSpPr/>
            <p:nvPr/>
          </p:nvGrpSpPr>
          <p:grpSpPr>
            <a:xfrm>
              <a:off x="1397578" y="1943100"/>
              <a:ext cx="13911537" cy="3430833"/>
              <a:chOff x="0" y="0"/>
              <a:chExt cx="1414679" cy="740906"/>
            </a:xfrm>
          </p:grpSpPr>
          <p:sp>
            <p:nvSpPr>
              <p:cNvPr id="44" name="Freeform 6">
                <a:extLst>
                  <a:ext uri="{FF2B5EF4-FFF2-40B4-BE49-F238E27FC236}">
                    <a16:creationId xmlns:a16="http://schemas.microsoft.com/office/drawing/2014/main" id="{248B8AB5-82FF-4A10-6756-7D202176E779}"/>
                  </a:ext>
                </a:extLst>
              </p:cNvPr>
              <p:cNvSpPr/>
              <p:nvPr/>
            </p:nvSpPr>
            <p:spPr>
              <a:xfrm>
                <a:off x="0" y="0"/>
                <a:ext cx="1414679" cy="740906"/>
              </a:xfrm>
              <a:custGeom>
                <a:avLst/>
                <a:gdLst/>
                <a:ahLst/>
                <a:cxnLst/>
                <a:rect l="l" t="t" r="r" b="b"/>
                <a:pathLst>
                  <a:path w="1414679" h="740906">
                    <a:moveTo>
                      <a:pt x="22784" y="0"/>
                    </a:moveTo>
                    <a:lnTo>
                      <a:pt x="1391895" y="0"/>
                    </a:lnTo>
                    <a:cubicBezTo>
                      <a:pt x="1404479" y="0"/>
                      <a:pt x="1414679" y="10201"/>
                      <a:pt x="1414679" y="22784"/>
                    </a:cubicBezTo>
                    <a:lnTo>
                      <a:pt x="1414679" y="718122"/>
                    </a:lnTo>
                    <a:cubicBezTo>
                      <a:pt x="1414679" y="730705"/>
                      <a:pt x="1404479" y="740906"/>
                      <a:pt x="1391895" y="740906"/>
                    </a:cubicBezTo>
                    <a:lnTo>
                      <a:pt x="22784" y="740906"/>
                    </a:lnTo>
                    <a:cubicBezTo>
                      <a:pt x="10201" y="740906"/>
                      <a:pt x="0" y="730705"/>
                      <a:pt x="0" y="718122"/>
                    </a:cubicBezTo>
                    <a:lnTo>
                      <a:pt x="0" y="22784"/>
                    </a:lnTo>
                    <a:cubicBezTo>
                      <a:pt x="0" y="10201"/>
                      <a:pt x="10201" y="0"/>
                      <a:pt x="22784" y="0"/>
                    </a:cubicBezTo>
                    <a:close/>
                  </a:path>
                </a:pathLst>
              </a:custGeom>
              <a:solidFill>
                <a:srgbClr val="04001E">
                  <a:alpha val="16000"/>
                </a:srgbClr>
              </a:solidFill>
              <a:ln w="38100" cap="sq">
                <a:solidFill>
                  <a:srgbClr val="E5E1DA"/>
                </a:solidFill>
                <a:prstDash val="solid"/>
                <a:miter/>
              </a:ln>
            </p:spPr>
          </p:sp>
          <p:sp>
            <p:nvSpPr>
              <p:cNvPr id="45" name="TextBox 7">
                <a:extLst>
                  <a:ext uri="{FF2B5EF4-FFF2-40B4-BE49-F238E27FC236}">
                    <a16:creationId xmlns:a16="http://schemas.microsoft.com/office/drawing/2014/main" id="{563EA773-09EE-4D63-2D57-ED0F552F54EA}"/>
                  </a:ext>
                </a:extLst>
              </p:cNvPr>
              <p:cNvSpPr txBox="1"/>
              <p:nvPr/>
            </p:nvSpPr>
            <p:spPr>
              <a:xfrm>
                <a:off x="0" y="-38100"/>
                <a:ext cx="1414679" cy="77900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7" name="Group 17">
              <a:extLst>
                <a:ext uri="{FF2B5EF4-FFF2-40B4-BE49-F238E27FC236}">
                  <a16:creationId xmlns:a16="http://schemas.microsoft.com/office/drawing/2014/main" id="{07A141FA-C9A5-3A6E-70D7-AC77A62B856C}"/>
                </a:ext>
              </a:extLst>
            </p:cNvPr>
            <p:cNvGrpSpPr/>
            <p:nvPr/>
          </p:nvGrpSpPr>
          <p:grpSpPr>
            <a:xfrm>
              <a:off x="1397578" y="1943100"/>
              <a:ext cx="7162215" cy="644605"/>
              <a:chOff x="0" y="0"/>
              <a:chExt cx="1414679" cy="139206"/>
            </a:xfrm>
          </p:grpSpPr>
          <p:sp>
            <p:nvSpPr>
              <p:cNvPr id="36" name="Freeform 18">
                <a:extLst>
                  <a:ext uri="{FF2B5EF4-FFF2-40B4-BE49-F238E27FC236}">
                    <a16:creationId xmlns:a16="http://schemas.microsoft.com/office/drawing/2014/main" id="{0276AB36-0826-981D-4764-4DF15286FDF4}"/>
                  </a:ext>
                </a:extLst>
              </p:cNvPr>
              <p:cNvSpPr/>
              <p:nvPr/>
            </p:nvSpPr>
            <p:spPr>
              <a:xfrm>
                <a:off x="0" y="0"/>
                <a:ext cx="1414679" cy="139206"/>
              </a:xfrm>
              <a:custGeom>
                <a:avLst/>
                <a:gdLst/>
                <a:ahLst/>
                <a:cxnLst/>
                <a:rect l="l" t="t" r="r" b="b"/>
                <a:pathLst>
                  <a:path w="1414679" h="139206">
                    <a:moveTo>
                      <a:pt x="19366" y="0"/>
                    </a:moveTo>
                    <a:lnTo>
                      <a:pt x="1395313" y="0"/>
                    </a:lnTo>
                    <a:cubicBezTo>
                      <a:pt x="1400449" y="0"/>
                      <a:pt x="1405375" y="2040"/>
                      <a:pt x="1409007" y="5672"/>
                    </a:cubicBezTo>
                    <a:cubicBezTo>
                      <a:pt x="1412639" y="9304"/>
                      <a:pt x="1414679" y="14230"/>
                      <a:pt x="1414679" y="19366"/>
                    </a:cubicBezTo>
                    <a:lnTo>
                      <a:pt x="1414679" y="119840"/>
                    </a:lnTo>
                    <a:cubicBezTo>
                      <a:pt x="1414679" y="130535"/>
                      <a:pt x="1406009" y="139206"/>
                      <a:pt x="1395313" y="139206"/>
                    </a:cubicBezTo>
                    <a:lnTo>
                      <a:pt x="19366" y="139206"/>
                    </a:lnTo>
                    <a:cubicBezTo>
                      <a:pt x="14230" y="139206"/>
                      <a:pt x="9304" y="137165"/>
                      <a:pt x="5672" y="133534"/>
                    </a:cubicBezTo>
                    <a:cubicBezTo>
                      <a:pt x="2040" y="129902"/>
                      <a:pt x="0" y="124976"/>
                      <a:pt x="0" y="119840"/>
                    </a:cubicBezTo>
                    <a:lnTo>
                      <a:pt x="0" y="19366"/>
                    </a:lnTo>
                    <a:cubicBezTo>
                      <a:pt x="0" y="14230"/>
                      <a:pt x="2040" y="9304"/>
                      <a:pt x="5672" y="5672"/>
                    </a:cubicBezTo>
                    <a:cubicBezTo>
                      <a:pt x="9304" y="2040"/>
                      <a:pt x="14230" y="0"/>
                      <a:pt x="19366" y="0"/>
                    </a:cubicBezTo>
                    <a:close/>
                  </a:path>
                </a:pathLst>
              </a:custGeom>
              <a:solidFill>
                <a:srgbClr val="FFFFFF"/>
              </a:solidFill>
              <a:ln w="19050" cap="sq">
                <a:solidFill>
                  <a:srgbClr val="FFFFFF"/>
                </a:solidFill>
                <a:prstDash val="solid"/>
                <a:miter/>
              </a:ln>
            </p:spPr>
          </p:sp>
          <p:sp>
            <p:nvSpPr>
              <p:cNvPr id="37" name="TextBox 19">
                <a:extLst>
                  <a:ext uri="{FF2B5EF4-FFF2-40B4-BE49-F238E27FC236}">
                    <a16:creationId xmlns:a16="http://schemas.microsoft.com/office/drawing/2014/main" id="{63899623-0B12-E8BD-981F-F223C9B28949}"/>
                  </a:ext>
                </a:extLst>
              </p:cNvPr>
              <p:cNvSpPr txBox="1"/>
              <p:nvPr/>
            </p:nvSpPr>
            <p:spPr>
              <a:xfrm>
                <a:off x="0" y="-38100"/>
                <a:ext cx="1414679" cy="177306"/>
              </a:xfrm>
              <a:prstGeom prst="rect">
                <a:avLst/>
              </a:prstGeom>
            </p:spPr>
            <p:txBody>
              <a:bodyPr lIns="50800" tIns="50800" rIns="50800" bIns="50800" rtlCol="0" anchor="ctr"/>
              <a:lstStyle/>
              <a:p>
                <a:pPr algn="ctr">
                  <a:lnSpc>
                    <a:spcPts val="2659"/>
                  </a:lnSpc>
                </a:pPr>
                <a:endParaRPr/>
              </a:p>
            </p:txBody>
          </p:sp>
        </p:grpSp>
        <p:sp>
          <p:nvSpPr>
            <p:cNvPr id="21" name="TextBox 29">
              <a:extLst>
                <a:ext uri="{FF2B5EF4-FFF2-40B4-BE49-F238E27FC236}">
                  <a16:creationId xmlns:a16="http://schemas.microsoft.com/office/drawing/2014/main" id="{1D75FEC1-D0CA-DBB0-265F-0901069A04BD}"/>
                </a:ext>
              </a:extLst>
            </p:cNvPr>
            <p:cNvSpPr txBox="1"/>
            <p:nvPr/>
          </p:nvSpPr>
          <p:spPr>
            <a:xfrm>
              <a:off x="1848249" y="2208030"/>
              <a:ext cx="5882588" cy="246231"/>
            </a:xfrm>
            <a:prstGeom prst="rect">
              <a:avLst/>
            </a:prstGeom>
          </p:spPr>
          <p:txBody>
            <a:bodyPr wrap="square" lIns="0" tIns="0" rIns="0" bIns="0" rtlCol="0" anchor="t">
              <a:spAutoFit/>
            </a:bodyPr>
            <a:lstStyle/>
            <a:p>
              <a:pPr algn="l">
                <a:lnSpc>
                  <a:spcPts val="2495"/>
                </a:lnSpc>
              </a:pPr>
              <a:r>
                <a:rPr lang="en-US" sz="5400" b="1" dirty="0">
                  <a:solidFill>
                    <a:srgbClr val="04001E"/>
                  </a:solidFill>
                  <a:latin typeface="Red Hat Display Bold"/>
                  <a:ea typeface="Red Hat Display Bold"/>
                  <a:cs typeface="Red Hat Display Bold"/>
                  <a:sym typeface="Red Hat Display Bold"/>
                </a:rPr>
                <a:t>Links</a:t>
              </a:r>
            </a:p>
          </p:txBody>
        </p:sp>
        <p:sp>
          <p:nvSpPr>
            <p:cNvPr id="25" name="TextBox 33">
              <a:extLst>
                <a:ext uri="{FF2B5EF4-FFF2-40B4-BE49-F238E27FC236}">
                  <a16:creationId xmlns:a16="http://schemas.microsoft.com/office/drawing/2014/main" id="{383182A4-3077-E893-7EB6-8EA319B1C215}"/>
                </a:ext>
              </a:extLst>
            </p:cNvPr>
            <p:cNvSpPr txBox="1"/>
            <p:nvPr/>
          </p:nvSpPr>
          <p:spPr>
            <a:xfrm>
              <a:off x="1815949" y="2852635"/>
              <a:ext cx="12320539" cy="1375210"/>
            </a:xfrm>
            <a:prstGeom prst="rect">
              <a:avLst/>
            </a:prstGeom>
          </p:spPr>
          <p:txBody>
            <a:bodyPr wrap="square" lIns="0" tIns="0" rIns="0" bIns="0" rtlCol="0" anchor="t">
              <a:spAutoFit/>
            </a:bodyPr>
            <a:lstStyle/>
            <a:p>
              <a:pPr lvl="0">
                <a:lnSpc>
                  <a:spcPct val="150000"/>
                </a:lnSpc>
                <a:spcBef>
                  <a:spcPct val="0"/>
                </a:spcBef>
              </a:pPr>
              <a:r>
                <a:rPr lang="en-US" sz="3600" spc="96" dirty="0">
                  <a:solidFill>
                    <a:schemeClr val="bg1"/>
                  </a:solidFill>
                  <a:latin typeface="Red Hat Display"/>
                  <a:ea typeface="Red Hat Display"/>
                  <a:cs typeface="Red Hat Display"/>
                  <a:sym typeface="Red Hat Display"/>
                </a:rPr>
                <a:t>• Recommender live Demo Link : </a:t>
              </a:r>
              <a:r>
                <a:rPr lang="en-US" sz="3600" spc="96" dirty="0">
                  <a:solidFill>
                    <a:schemeClr val="bg1"/>
                  </a:solidFill>
                  <a:latin typeface="Red Hat Display"/>
                  <a:ea typeface="Red Hat Display"/>
                  <a:cs typeface="Red Hat Display"/>
                  <a:sym typeface="Red Hat Display"/>
                  <a:hlinkClick r:id="rId2">
                    <a:extLst>
                      <a:ext uri="{A12FA001-AC4F-418D-AE19-62706E023703}">
                        <ahyp:hlinkClr xmlns:ahyp="http://schemas.microsoft.com/office/drawing/2018/hyperlinkcolor" val="tx"/>
                      </a:ext>
                    </a:extLst>
                  </a:hlinkClick>
                </a:rPr>
                <a:t>https://recommendation-system-project-c8cgulvvsynvm77sfiyfwb.streamlit.app/</a:t>
              </a:r>
              <a:endParaRPr lang="en-US" sz="3600" spc="96" dirty="0">
                <a:solidFill>
                  <a:schemeClr val="bg1"/>
                </a:solidFill>
                <a:latin typeface="Red Hat Display"/>
                <a:ea typeface="Red Hat Display"/>
                <a:cs typeface="Red Hat Display"/>
                <a:sym typeface="Red Hat Display"/>
              </a:endParaRPr>
            </a:p>
            <a:p>
              <a:pPr lvl="0">
                <a:lnSpc>
                  <a:spcPct val="150000"/>
                </a:lnSpc>
                <a:spcBef>
                  <a:spcPct val="0"/>
                </a:spcBef>
              </a:pPr>
              <a:endParaRPr lang="en-US" sz="3600" u="none" spc="96" dirty="0">
                <a:solidFill>
                  <a:schemeClr val="bg1"/>
                </a:solidFill>
                <a:latin typeface="Red Hat Display"/>
                <a:ea typeface="Red Hat Display"/>
                <a:cs typeface="Red Hat Display"/>
                <a:sym typeface="Red Hat Display"/>
              </a:endParaRPr>
            </a:p>
          </p:txBody>
        </p:sp>
        <p:sp>
          <p:nvSpPr>
            <p:cNvPr id="6" name="TextBox 33">
              <a:extLst>
                <a:ext uri="{FF2B5EF4-FFF2-40B4-BE49-F238E27FC236}">
                  <a16:creationId xmlns:a16="http://schemas.microsoft.com/office/drawing/2014/main" id="{CE8636EF-A4FF-6082-B67E-2FC143C0D36A}"/>
                </a:ext>
              </a:extLst>
            </p:cNvPr>
            <p:cNvSpPr txBox="1"/>
            <p:nvPr/>
          </p:nvSpPr>
          <p:spPr>
            <a:xfrm>
              <a:off x="1951609" y="4028067"/>
              <a:ext cx="12914632" cy="901605"/>
            </a:xfrm>
            <a:prstGeom prst="rect">
              <a:avLst/>
            </a:prstGeom>
          </p:spPr>
          <p:txBody>
            <a:bodyPr wrap="square" lIns="0" tIns="0" rIns="0" bIns="0" rtlCol="0" anchor="t">
              <a:spAutoFit/>
            </a:bodyPr>
            <a:lstStyle/>
            <a:p>
              <a:pPr lvl="0">
                <a:lnSpc>
                  <a:spcPct val="150000"/>
                </a:lnSpc>
                <a:spcBef>
                  <a:spcPct val="0"/>
                </a:spcBef>
              </a:pPr>
              <a:r>
                <a:rPr lang="en-US" sz="3600" spc="96" dirty="0">
                  <a:solidFill>
                    <a:schemeClr val="bg1"/>
                  </a:solidFill>
                  <a:latin typeface="Red Hat Display"/>
                  <a:ea typeface="Red Hat Display"/>
                  <a:cs typeface="Red Hat Display"/>
                  <a:sym typeface="Red Hat Display"/>
                </a:rPr>
                <a:t>• </a:t>
              </a:r>
              <a:r>
                <a:rPr lang="en-US" sz="3600" spc="96" dirty="0" err="1">
                  <a:solidFill>
                    <a:schemeClr val="bg1"/>
                  </a:solidFill>
                  <a:latin typeface="Red Hat Display"/>
                  <a:ea typeface="Red Hat Display"/>
                  <a:cs typeface="Red Hat Display"/>
                  <a:sym typeface="Red Hat Display"/>
                </a:rPr>
                <a:t>Github</a:t>
              </a:r>
              <a:r>
                <a:rPr lang="en-US" sz="3600" spc="96" dirty="0">
                  <a:solidFill>
                    <a:schemeClr val="bg1"/>
                  </a:solidFill>
                  <a:latin typeface="Red Hat Display"/>
                  <a:ea typeface="Red Hat Display"/>
                  <a:cs typeface="Red Hat Display"/>
                  <a:sym typeface="Red Hat Display"/>
                </a:rPr>
                <a:t> Link : </a:t>
              </a:r>
              <a:r>
                <a:rPr lang="en-US" sz="3600" spc="96" dirty="0">
                  <a:solidFill>
                    <a:schemeClr val="bg1"/>
                  </a:solidFill>
                  <a:latin typeface="Red Hat Display"/>
                  <a:ea typeface="Red Hat Display"/>
                  <a:cs typeface="Red Hat Display"/>
                  <a:sym typeface="Red Hat Display"/>
                  <a:hlinkClick r:id="rId3">
                    <a:extLst>
                      <a:ext uri="{A12FA001-AC4F-418D-AE19-62706E023703}">
                        <ahyp:hlinkClr xmlns:ahyp="http://schemas.microsoft.com/office/drawing/2018/hyperlinkcolor" val="tx"/>
                      </a:ext>
                    </a:extLst>
                  </a:hlinkClick>
                </a:rPr>
                <a:t>https://github.com/julietkukuia/Recommendation-System-Project/tree/main</a:t>
              </a:r>
              <a:endParaRPr lang="en-US" sz="3600" u="none" spc="96" dirty="0">
                <a:solidFill>
                  <a:schemeClr val="bg1"/>
                </a:solidFill>
                <a:latin typeface="Red Hat Display"/>
                <a:ea typeface="Red Hat Display"/>
                <a:cs typeface="Red Hat Display"/>
                <a:sym typeface="Red Hat Display"/>
              </a:endParaRPr>
            </a:p>
          </p:txBody>
        </p:sp>
      </p:grpSp>
      <p:sp>
        <p:nvSpPr>
          <p:cNvPr id="47" name="TextBox 46">
            <a:extLst>
              <a:ext uri="{FF2B5EF4-FFF2-40B4-BE49-F238E27FC236}">
                <a16:creationId xmlns:a16="http://schemas.microsoft.com/office/drawing/2014/main" id="{1F574A4C-0598-DE32-ABFC-138920F6E9A3}"/>
              </a:ext>
            </a:extLst>
          </p:cNvPr>
          <p:cNvSpPr txBox="1"/>
          <p:nvPr/>
        </p:nvSpPr>
        <p:spPr>
          <a:xfrm>
            <a:off x="1189119" y="454104"/>
            <a:ext cx="15697200" cy="1107996"/>
          </a:xfrm>
          <a:prstGeom prst="rect">
            <a:avLst/>
          </a:prstGeom>
        </p:spPr>
        <p:txBody>
          <a:bodyPr lIns="0" tIns="0" rIns="0" bIns="0" rtlCol="0" anchor="t">
            <a:spAutoFit/>
          </a:bodyPr>
          <a:lstStyle/>
          <a:p>
            <a:pPr marL="0" lvl="1" indent="0" algn="ctr">
              <a:spcBef>
                <a:spcPct val="0"/>
              </a:spcBef>
            </a:pPr>
            <a:r>
              <a:rPr lang="en-US" sz="7200" dirty="0">
                <a:solidFill>
                  <a:srgbClr val="FFFFFF"/>
                </a:solidFill>
                <a:latin typeface="Archivo Black"/>
                <a:ea typeface="Archivo Black"/>
                <a:cs typeface="Archivo Black"/>
                <a:sym typeface="Archivo Black"/>
              </a:rPr>
              <a:t>Appendix</a:t>
            </a:r>
          </a:p>
        </p:txBody>
      </p:sp>
      <p:grpSp>
        <p:nvGrpSpPr>
          <p:cNvPr id="48" name="Group 23">
            <a:extLst>
              <a:ext uri="{FF2B5EF4-FFF2-40B4-BE49-F238E27FC236}">
                <a16:creationId xmlns:a16="http://schemas.microsoft.com/office/drawing/2014/main" id="{E642AF76-9585-EBE0-CB1F-6C3B9CF904E4}"/>
              </a:ext>
            </a:extLst>
          </p:cNvPr>
          <p:cNvGrpSpPr/>
          <p:nvPr/>
        </p:nvGrpSpPr>
        <p:grpSpPr>
          <a:xfrm>
            <a:off x="299295" y="626426"/>
            <a:ext cx="1827704" cy="799004"/>
            <a:chOff x="0" y="0"/>
            <a:chExt cx="481371" cy="210437"/>
          </a:xfrm>
        </p:grpSpPr>
        <p:sp>
          <p:nvSpPr>
            <p:cNvPr id="49" name="Freeform 24">
              <a:extLst>
                <a:ext uri="{FF2B5EF4-FFF2-40B4-BE49-F238E27FC236}">
                  <a16:creationId xmlns:a16="http://schemas.microsoft.com/office/drawing/2014/main" id="{67ED8BDC-FE8B-9075-96F9-B53A17C88EEE}"/>
                </a:ext>
              </a:extLst>
            </p:cNvPr>
            <p:cNvSpPr/>
            <p:nvPr/>
          </p:nvSpPr>
          <p:spPr>
            <a:xfrm>
              <a:off x="0" y="0"/>
              <a:ext cx="481371" cy="210437"/>
            </a:xfrm>
            <a:custGeom>
              <a:avLst/>
              <a:gdLst/>
              <a:ahLst/>
              <a:cxnLst/>
              <a:rect l="l" t="t" r="r" b="b"/>
              <a:pathLst>
                <a:path w="481371" h="210437">
                  <a:moveTo>
                    <a:pt x="0" y="0"/>
                  </a:moveTo>
                  <a:lnTo>
                    <a:pt x="481371" y="0"/>
                  </a:lnTo>
                  <a:lnTo>
                    <a:pt x="481371" y="210437"/>
                  </a:lnTo>
                  <a:lnTo>
                    <a:pt x="0" y="210437"/>
                  </a:lnTo>
                  <a:close/>
                </a:path>
              </a:pathLst>
            </a:custGeom>
            <a:gradFill rotWithShape="1">
              <a:gsLst>
                <a:gs pos="0">
                  <a:srgbClr val="C6269E">
                    <a:alpha val="100000"/>
                  </a:srgbClr>
                </a:gs>
                <a:gs pos="100000">
                  <a:srgbClr val="DDBAFF">
                    <a:alpha val="12000"/>
                  </a:srgbClr>
                </a:gs>
              </a:gsLst>
              <a:lin ang="0"/>
            </a:gradFill>
          </p:spPr>
        </p:sp>
        <p:sp>
          <p:nvSpPr>
            <p:cNvPr id="50" name="TextBox 25">
              <a:extLst>
                <a:ext uri="{FF2B5EF4-FFF2-40B4-BE49-F238E27FC236}">
                  <a16:creationId xmlns:a16="http://schemas.microsoft.com/office/drawing/2014/main" id="{DF3C347F-F703-D3FC-70DE-1F9200A1F59F}"/>
                </a:ext>
              </a:extLst>
            </p:cNvPr>
            <p:cNvSpPr txBox="1"/>
            <p:nvPr/>
          </p:nvSpPr>
          <p:spPr>
            <a:xfrm>
              <a:off x="0" y="28575"/>
              <a:ext cx="481371" cy="181862"/>
            </a:xfrm>
            <a:prstGeom prst="rect">
              <a:avLst/>
            </a:prstGeom>
          </p:spPr>
          <p:txBody>
            <a:bodyPr lIns="50800" tIns="50800" rIns="50800" bIns="50800" rtlCol="0" anchor="ctr"/>
            <a:lstStyle/>
            <a:p>
              <a:pPr algn="ctr">
                <a:lnSpc>
                  <a:spcPts val="2661"/>
                </a:lnSpc>
              </a:pPr>
              <a:endParaRPr/>
            </a:p>
          </p:txBody>
        </p:sp>
      </p:grpSp>
      <p:sp>
        <p:nvSpPr>
          <p:cNvPr id="57" name="TextBox 4">
            <a:extLst>
              <a:ext uri="{FF2B5EF4-FFF2-40B4-BE49-F238E27FC236}">
                <a16:creationId xmlns:a16="http://schemas.microsoft.com/office/drawing/2014/main" id="{BD7A5DA8-853D-1AB1-DF2A-29CB1A564EAE}"/>
              </a:ext>
            </a:extLst>
          </p:cNvPr>
          <p:cNvSpPr txBox="1"/>
          <p:nvPr/>
        </p:nvSpPr>
        <p:spPr>
          <a:xfrm rot="16200000">
            <a:off x="129306" y="8890751"/>
            <a:ext cx="1078468" cy="218008"/>
          </a:xfrm>
          <a:prstGeom prst="rect">
            <a:avLst/>
          </a:prstGeom>
        </p:spPr>
        <p:txBody>
          <a:bodyPr lIns="0" tIns="0" rIns="0" bIns="0" rtlCol="0" anchor="t">
            <a:spAutoFit/>
          </a:bodyPr>
          <a:lstStyle/>
          <a:p>
            <a:pPr algn="ctr">
              <a:lnSpc>
                <a:spcPts val="1725"/>
              </a:lnSpc>
              <a:spcBef>
                <a:spcPct val="0"/>
              </a:spcBef>
            </a:pPr>
            <a:r>
              <a:rPr lang="en-US" sz="1658" dirty="0">
                <a:solidFill>
                  <a:srgbClr val="FFFFFF"/>
                </a:solidFill>
                <a:latin typeface="Raleway"/>
                <a:ea typeface="Raleway"/>
                <a:cs typeface="Raleway"/>
                <a:sym typeface="Raleway"/>
              </a:rPr>
              <a:t>Page  14</a:t>
            </a:r>
          </a:p>
        </p:txBody>
      </p:sp>
      <p:sp>
        <p:nvSpPr>
          <p:cNvPr id="59" name="TextBox 8">
            <a:extLst>
              <a:ext uri="{FF2B5EF4-FFF2-40B4-BE49-F238E27FC236}">
                <a16:creationId xmlns:a16="http://schemas.microsoft.com/office/drawing/2014/main" id="{792A6047-3A04-FBA8-2336-3ABCBC942ACF}"/>
              </a:ext>
            </a:extLst>
          </p:cNvPr>
          <p:cNvSpPr txBox="1"/>
          <p:nvPr/>
        </p:nvSpPr>
        <p:spPr>
          <a:xfrm>
            <a:off x="15309115" y="9589340"/>
            <a:ext cx="1716617" cy="277925"/>
          </a:xfrm>
          <a:prstGeom prst="rect">
            <a:avLst/>
          </a:prstGeom>
        </p:spPr>
        <p:txBody>
          <a:bodyPr lIns="0" tIns="0" rIns="0" bIns="0" rtlCol="0" anchor="t">
            <a:spAutoFit/>
          </a:bodyPr>
          <a:lstStyle/>
          <a:p>
            <a:pPr algn="l">
              <a:lnSpc>
                <a:spcPts val="2037"/>
              </a:lnSpc>
              <a:spcBef>
                <a:spcPct val="0"/>
              </a:spcBef>
            </a:pPr>
            <a:r>
              <a:rPr lang="en-US" sz="1958">
                <a:solidFill>
                  <a:srgbClr val="FFFFFF"/>
                </a:solidFill>
                <a:latin typeface="Raleway"/>
                <a:ea typeface="Raleway"/>
                <a:cs typeface="Raleway"/>
                <a:sym typeface="Raleway"/>
              </a:rPr>
              <a:t>Next Slide</a:t>
            </a:r>
          </a:p>
        </p:txBody>
      </p:sp>
      <p:sp>
        <p:nvSpPr>
          <p:cNvPr id="60" name="Freeform 9">
            <a:extLst>
              <a:ext uri="{FF2B5EF4-FFF2-40B4-BE49-F238E27FC236}">
                <a16:creationId xmlns:a16="http://schemas.microsoft.com/office/drawing/2014/main" id="{0959DA9C-9362-8A89-3ACC-1DAA0E0BB618}"/>
              </a:ext>
            </a:extLst>
          </p:cNvPr>
          <p:cNvSpPr/>
          <p:nvPr/>
        </p:nvSpPr>
        <p:spPr>
          <a:xfrm flipH="1">
            <a:off x="16998830" y="9525801"/>
            <a:ext cx="416017" cy="418299"/>
          </a:xfrm>
          <a:custGeom>
            <a:avLst/>
            <a:gdLst/>
            <a:ahLst/>
            <a:cxnLst/>
            <a:rect l="l" t="t" r="r" b="b"/>
            <a:pathLst>
              <a:path w="416017" h="418299">
                <a:moveTo>
                  <a:pt x="416017" y="0"/>
                </a:moveTo>
                <a:lnTo>
                  <a:pt x="0" y="0"/>
                </a:lnTo>
                <a:lnTo>
                  <a:pt x="0" y="418299"/>
                </a:lnTo>
                <a:lnTo>
                  <a:pt x="416017" y="418299"/>
                </a:lnTo>
                <a:lnTo>
                  <a:pt x="416017" y="0"/>
                </a:lnTo>
                <a:close/>
              </a:path>
            </a:pathLst>
          </a:custGeom>
          <a:blipFill>
            <a:blip r:embed="rId4">
              <a:extLst>
                <a:ext uri="{96DAC541-7B7A-43D3-8B79-37D633B846F1}">
                  <asvg:svgBlip xmlns:asvg="http://schemas.microsoft.com/office/drawing/2016/SVG/main" r:embed="rId5"/>
                </a:ext>
              </a:extLst>
            </a:blip>
            <a:stretch>
              <a:fillRect/>
            </a:stretch>
          </a:blipFill>
        </p:spPr>
      </p:sp>
    </p:spTree>
    <p:extLst>
      <p:ext uri="{BB962C8B-B14F-4D97-AF65-F5344CB8AC3E}">
        <p14:creationId xmlns:p14="http://schemas.microsoft.com/office/powerpoint/2010/main" val="32620225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2939189" y="3434828"/>
            <a:ext cx="12422388" cy="2727960"/>
            <a:chOff x="0" y="0"/>
            <a:chExt cx="1850635" cy="406400"/>
          </a:xfrm>
        </p:grpSpPr>
        <p:sp>
          <p:nvSpPr>
            <p:cNvPr id="3" name="Freeform 3"/>
            <p:cNvSpPr/>
            <p:nvPr/>
          </p:nvSpPr>
          <p:spPr>
            <a:xfrm>
              <a:off x="0" y="0"/>
              <a:ext cx="1850635" cy="406400"/>
            </a:xfrm>
            <a:custGeom>
              <a:avLst/>
              <a:gdLst/>
              <a:ahLst/>
              <a:cxnLst/>
              <a:rect l="l" t="t" r="r" b="b"/>
              <a:pathLst>
                <a:path w="1850635" h="406400">
                  <a:moveTo>
                    <a:pt x="1647435" y="0"/>
                  </a:moveTo>
                  <a:cubicBezTo>
                    <a:pt x="1759659" y="0"/>
                    <a:pt x="1850635" y="90976"/>
                    <a:pt x="1850635" y="203200"/>
                  </a:cubicBezTo>
                  <a:cubicBezTo>
                    <a:pt x="1850635" y="315424"/>
                    <a:pt x="1759659" y="406400"/>
                    <a:pt x="1647435"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14300" cap="sq">
              <a:gradFill>
                <a:gsLst>
                  <a:gs pos="0">
                    <a:srgbClr val="C6269E">
                      <a:alpha val="100000"/>
                    </a:srgbClr>
                  </a:gs>
                  <a:gs pos="100000">
                    <a:srgbClr val="DDBAFF">
                      <a:alpha val="12000"/>
                    </a:srgbClr>
                  </a:gs>
                </a:gsLst>
                <a:lin ang="0"/>
              </a:gradFill>
              <a:prstDash val="solid"/>
              <a:miter/>
            </a:ln>
          </p:spPr>
        </p:sp>
        <p:sp>
          <p:nvSpPr>
            <p:cNvPr id="4" name="TextBox 4"/>
            <p:cNvSpPr txBox="1"/>
            <p:nvPr/>
          </p:nvSpPr>
          <p:spPr>
            <a:xfrm>
              <a:off x="0" y="28575"/>
              <a:ext cx="1850635" cy="377825"/>
            </a:xfrm>
            <a:prstGeom prst="rect">
              <a:avLst/>
            </a:prstGeom>
          </p:spPr>
          <p:txBody>
            <a:bodyPr lIns="50800" tIns="50800" rIns="50800" bIns="50800" rtlCol="0" anchor="ctr"/>
            <a:lstStyle/>
            <a:p>
              <a:pPr algn="ctr">
                <a:lnSpc>
                  <a:spcPts val="2661"/>
                </a:lnSpc>
              </a:pPr>
              <a:endParaRPr/>
            </a:p>
          </p:txBody>
        </p:sp>
      </p:grpSp>
      <p:sp>
        <p:nvSpPr>
          <p:cNvPr id="5" name="Freeform 5"/>
          <p:cNvSpPr/>
          <p:nvPr/>
        </p:nvSpPr>
        <p:spPr>
          <a:xfrm>
            <a:off x="6525283" y="-12620097"/>
            <a:ext cx="17956749" cy="18046984"/>
          </a:xfrm>
          <a:custGeom>
            <a:avLst/>
            <a:gdLst/>
            <a:ahLst/>
            <a:cxnLst/>
            <a:rect l="l" t="t" r="r" b="b"/>
            <a:pathLst>
              <a:path w="17956749" h="18046984">
                <a:moveTo>
                  <a:pt x="0" y="0"/>
                </a:moveTo>
                <a:lnTo>
                  <a:pt x="17956749" y="0"/>
                </a:lnTo>
                <a:lnTo>
                  <a:pt x="17956749" y="18046985"/>
                </a:lnTo>
                <a:lnTo>
                  <a:pt x="0" y="18046985"/>
                </a:lnTo>
                <a:lnTo>
                  <a:pt x="0" y="0"/>
                </a:lnTo>
                <a:close/>
              </a:path>
            </a:pathLst>
          </a:custGeom>
          <a:blipFill>
            <a:blip r:embed="rId2"/>
            <a:stretch>
              <a:fillRect/>
            </a:stretch>
          </a:blipFill>
        </p:spPr>
      </p:sp>
      <p:sp>
        <p:nvSpPr>
          <p:cNvPr id="6" name="Freeform 6"/>
          <p:cNvSpPr/>
          <p:nvPr/>
        </p:nvSpPr>
        <p:spPr>
          <a:xfrm>
            <a:off x="-8140649" y="5426888"/>
            <a:ext cx="17956749" cy="18046984"/>
          </a:xfrm>
          <a:custGeom>
            <a:avLst/>
            <a:gdLst/>
            <a:ahLst/>
            <a:cxnLst/>
            <a:rect l="l" t="t" r="r" b="b"/>
            <a:pathLst>
              <a:path w="17956749" h="18046984">
                <a:moveTo>
                  <a:pt x="0" y="0"/>
                </a:moveTo>
                <a:lnTo>
                  <a:pt x="17956749" y="0"/>
                </a:lnTo>
                <a:lnTo>
                  <a:pt x="17956749" y="18046984"/>
                </a:lnTo>
                <a:lnTo>
                  <a:pt x="0" y="18046984"/>
                </a:lnTo>
                <a:lnTo>
                  <a:pt x="0" y="0"/>
                </a:lnTo>
                <a:close/>
              </a:path>
            </a:pathLst>
          </a:custGeom>
          <a:blipFill>
            <a:blip r:embed="rId2"/>
            <a:stretch>
              <a:fillRect/>
            </a:stretch>
          </a:blipFill>
        </p:spPr>
      </p:sp>
      <p:sp>
        <p:nvSpPr>
          <p:cNvPr id="13" name="TextBox 13"/>
          <p:cNvSpPr txBox="1"/>
          <p:nvPr/>
        </p:nvSpPr>
        <p:spPr>
          <a:xfrm>
            <a:off x="4065597" y="3891885"/>
            <a:ext cx="5848350" cy="2023396"/>
          </a:xfrm>
          <a:prstGeom prst="rect">
            <a:avLst/>
          </a:prstGeom>
        </p:spPr>
        <p:txBody>
          <a:bodyPr lIns="0" tIns="0" rIns="0" bIns="0" rtlCol="0" anchor="t">
            <a:spAutoFit/>
          </a:bodyPr>
          <a:lstStyle/>
          <a:p>
            <a:pPr algn="l">
              <a:lnSpc>
                <a:spcPts val="15265"/>
              </a:lnSpc>
              <a:spcBef>
                <a:spcPct val="0"/>
              </a:spcBef>
            </a:pPr>
            <a:r>
              <a:rPr lang="en-US" sz="14678" b="1">
                <a:solidFill>
                  <a:srgbClr val="FFFFFF"/>
                </a:solidFill>
                <a:latin typeface="Raleway Heavy"/>
                <a:ea typeface="Raleway Heavy"/>
                <a:cs typeface="Raleway Heavy"/>
                <a:sym typeface="Raleway Heavy"/>
              </a:rPr>
              <a:t>Thank</a:t>
            </a:r>
          </a:p>
        </p:txBody>
      </p:sp>
      <p:sp>
        <p:nvSpPr>
          <p:cNvPr id="14" name="TextBox 14"/>
          <p:cNvSpPr txBox="1"/>
          <p:nvPr/>
        </p:nvSpPr>
        <p:spPr>
          <a:xfrm rot="-5400000">
            <a:off x="129306" y="8878128"/>
            <a:ext cx="1078468" cy="243254"/>
          </a:xfrm>
          <a:prstGeom prst="rect">
            <a:avLst/>
          </a:prstGeom>
        </p:spPr>
        <p:txBody>
          <a:bodyPr lIns="0" tIns="0" rIns="0" bIns="0" rtlCol="0" anchor="t">
            <a:spAutoFit/>
          </a:bodyPr>
          <a:lstStyle/>
          <a:p>
            <a:pPr algn="ctr">
              <a:lnSpc>
                <a:spcPts val="1725"/>
              </a:lnSpc>
              <a:spcBef>
                <a:spcPct val="0"/>
              </a:spcBef>
            </a:pPr>
            <a:r>
              <a:rPr lang="en-US" sz="1658">
                <a:solidFill>
                  <a:srgbClr val="FFFFFF"/>
                </a:solidFill>
                <a:latin typeface="Raleway"/>
                <a:ea typeface="Raleway"/>
                <a:cs typeface="Raleway"/>
                <a:sym typeface="Raleway"/>
              </a:rPr>
              <a:t>Page 15</a:t>
            </a:r>
          </a:p>
        </p:txBody>
      </p:sp>
      <p:sp>
        <p:nvSpPr>
          <p:cNvPr id="18" name="TextBox 18"/>
          <p:cNvSpPr txBox="1"/>
          <p:nvPr/>
        </p:nvSpPr>
        <p:spPr>
          <a:xfrm>
            <a:off x="9913947" y="3891885"/>
            <a:ext cx="4972189" cy="2023396"/>
          </a:xfrm>
          <a:prstGeom prst="rect">
            <a:avLst/>
          </a:prstGeom>
        </p:spPr>
        <p:txBody>
          <a:bodyPr lIns="0" tIns="0" rIns="0" bIns="0" rtlCol="0" anchor="t">
            <a:spAutoFit/>
          </a:bodyPr>
          <a:lstStyle/>
          <a:p>
            <a:pPr algn="l">
              <a:lnSpc>
                <a:spcPts val="15265"/>
              </a:lnSpc>
              <a:spcBef>
                <a:spcPct val="0"/>
              </a:spcBef>
            </a:pPr>
            <a:r>
              <a:rPr lang="en-US" sz="14678" b="1">
                <a:solidFill>
                  <a:srgbClr val="C6269E"/>
                </a:solidFill>
                <a:latin typeface="Raleway Bold"/>
                <a:ea typeface="Raleway Bold"/>
                <a:cs typeface="Raleway Bold"/>
                <a:sym typeface="Raleway Bold"/>
              </a:rPr>
              <a:t>You!</a:t>
            </a:r>
          </a:p>
        </p:txBody>
      </p:sp>
      <p:sp>
        <p:nvSpPr>
          <p:cNvPr id="19" name="TextBox 19"/>
          <p:cNvSpPr txBox="1"/>
          <p:nvPr/>
        </p:nvSpPr>
        <p:spPr>
          <a:xfrm>
            <a:off x="4257234" y="6592704"/>
            <a:ext cx="9642141" cy="1384995"/>
          </a:xfrm>
          <a:prstGeom prst="rect">
            <a:avLst/>
          </a:prstGeom>
        </p:spPr>
        <p:txBody>
          <a:bodyPr lIns="0" tIns="0" rIns="0" bIns="0" rtlCol="0" anchor="t">
            <a:spAutoFit/>
          </a:bodyPr>
          <a:lstStyle/>
          <a:p>
            <a:pPr algn="ctr">
              <a:lnSpc>
                <a:spcPts val="2661"/>
              </a:lnSpc>
              <a:spcBef>
                <a:spcPct val="0"/>
              </a:spcBef>
            </a:pPr>
            <a:r>
              <a:rPr lang="en-US" sz="2558" dirty="0">
                <a:solidFill>
                  <a:srgbClr val="FFFFFF"/>
                </a:solidFill>
                <a:latin typeface="Raleway"/>
                <a:ea typeface="Raleway"/>
                <a:cs typeface="Raleway"/>
                <a:sym typeface="Raleway"/>
              </a:rPr>
              <a:t>A recommendation system is only as good as the trust it builds. By combining predictive accuracy with anomaly detection, we not only improve user experience but also safeguard the integrity of the platform.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1097</TotalTime>
  <Words>956</Words>
  <Application>Microsoft Office PowerPoint</Application>
  <PresentationFormat>Custom</PresentationFormat>
  <Paragraphs>173</Paragraphs>
  <Slides>15</Slides>
  <Notes>4</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15</vt:i4>
      </vt:variant>
    </vt:vector>
  </HeadingPairs>
  <TitlesOfParts>
    <vt:vector size="28" baseType="lpstr">
      <vt:lpstr>Red Hat Display</vt:lpstr>
      <vt:lpstr>Red Hat Display Bold</vt:lpstr>
      <vt:lpstr>Raleway Heavy</vt:lpstr>
      <vt:lpstr>Raleway Bold</vt:lpstr>
      <vt:lpstr>Arial</vt:lpstr>
      <vt:lpstr>Poppins</vt:lpstr>
      <vt:lpstr>Anton</vt:lpstr>
      <vt:lpstr>HK Grotesk</vt:lpstr>
      <vt:lpstr>Archivo Black</vt:lpstr>
      <vt:lpstr>Raleway</vt:lpstr>
      <vt:lpstr>Calibri</vt:lpstr>
      <vt:lpstr>Poppins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Juliet Fafali Kukuia</dc:creator>
  <cp:lastModifiedBy>Juliet Fafali Kukuia</cp:lastModifiedBy>
  <cp:revision>4</cp:revision>
  <dcterms:created xsi:type="dcterms:W3CDTF">2006-08-16T00:00:00Z</dcterms:created>
  <dcterms:modified xsi:type="dcterms:W3CDTF">2025-08-25T10:07:27Z</dcterms:modified>
  <dc:identifier>DAGw7zMy-s8</dc:identifier>
</cp:coreProperties>
</file>